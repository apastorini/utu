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 id="298" r:id="rId52"/>
    <p:sldId id="299" r:id="rId53"/>
  </p:sldIdLst>
  <p:sldSz cy="6858000" cx="12192000"/>
  <p:notesSz cx="6858000" cy="12192000"/>
  <p:embeddedFontLst>
    <p:embeddedFont>
      <p:font typeface="Lato"/>
      <p:regular r:id="rId9"/>
      <p:bold r:id="rId10"/>
      <p:italic r:id="rId11"/>
      <p:boldItalic r:id="rId1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3" roundtripDataSignature="AMtx7mhF+HbnaMg0VhR1Dmmezqh6geLC1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font" Target="fonts/Lato-regular.fntdata"/><Relationship Id="rId10" Type="http://schemas.openxmlformats.org/officeDocument/2006/relationships/font" Target="fonts/Lato-bold.fntdata"/><Relationship Id="rId11" Type="http://schemas.openxmlformats.org/officeDocument/2006/relationships/font" Target="fonts/Lato-italic.fntdata"/><Relationship Id="rId12" Type="http://schemas.openxmlformats.org/officeDocument/2006/relationships/font" Target="fonts/Lato-boldItalic.fntdata"/><Relationship Id="rId13" Type="http://customschemas.google.com/relationships/presentationmetadata" Target="metadata"/><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3.xml"/><Relationship Id="rId33" Type="http://schemas.openxmlformats.org/officeDocument/2006/relationships/slide" Target="slides/slide24.xml"/><Relationship Id="rId34" Type="http://schemas.openxmlformats.org/officeDocument/2006/relationships/slide" Target="slides/slide25.xml"/><Relationship Id="rId35" Type="http://schemas.openxmlformats.org/officeDocument/2006/relationships/slide" Target="slides/slide26.xml"/><Relationship Id="rId36" Type="http://schemas.openxmlformats.org/officeDocument/2006/relationships/slide" Target="slides/slide27.xml"/><Relationship Id="rId37" Type="http://schemas.openxmlformats.org/officeDocument/2006/relationships/slide" Target="slides/slide28.xml"/><Relationship Id="rId38" Type="http://schemas.openxmlformats.org/officeDocument/2006/relationships/slide" Target="slides/slide29.xml"/><Relationship Id="rId39" Type="http://schemas.openxmlformats.org/officeDocument/2006/relationships/slide" Target="slides/slide30.xml"/><Relationship Id="rId40" Type="http://schemas.openxmlformats.org/officeDocument/2006/relationships/slide" Target="slides/slide31.xml"/><Relationship Id="rId41" Type="http://schemas.openxmlformats.org/officeDocument/2006/relationships/slide" Target="slides/slide32.xml"/><Relationship Id="rId42" Type="http://schemas.openxmlformats.org/officeDocument/2006/relationships/slide" Target="slides/slide33.xml"/><Relationship Id="rId43" Type="http://schemas.openxmlformats.org/officeDocument/2006/relationships/slide" Target="slides/slide34.xml"/><Relationship Id="rId44" Type="http://schemas.openxmlformats.org/officeDocument/2006/relationships/slide" Target="slides/slide35.xml"/><Relationship Id="rId45" Type="http://schemas.openxmlformats.org/officeDocument/2006/relationships/slide" Target="slides/slide36.xml"/><Relationship Id="rId46" Type="http://schemas.openxmlformats.org/officeDocument/2006/relationships/slide" Target="slides/slide37.xml"/><Relationship Id="rId47" Type="http://schemas.openxmlformats.org/officeDocument/2006/relationships/slide" Target="slides/slide38.xml"/><Relationship Id="rId48" Type="http://schemas.openxmlformats.org/officeDocument/2006/relationships/slide" Target="slides/slide39.xml"/><Relationship Id="rId49" Type="http://schemas.openxmlformats.org/officeDocument/2006/relationships/slide" Target="slides/slide40.xml"/><Relationship Id="rId50" Type="http://schemas.openxmlformats.org/officeDocument/2006/relationships/slide" Target="slides/slide41.xml"/><Relationship Id="rId51" Type="http://schemas.openxmlformats.org/officeDocument/2006/relationships/slide" Target="slides/slide42.xml"/><Relationship Id="rId52" Type="http://schemas.openxmlformats.org/officeDocument/2006/relationships/slide" Target="slides/slide43.xml"/><Relationship Id="rId53"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Buenas tardes. 25 minutos, tres actos. El título juega con «al infinito y más allá»: el token bearer es el billete que nunca muere y el «más allá» es lo que viene después. Sin rodeos: por qué un Authorization: Bearer en el header ya no alcanza y qué hacemos al respecto.</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Planteo del conflicto. El token bearer es un billete al portador: quien lo tiene, lo usa. Si se filtra por XSS, logs o almacenamiento inseguro, el atacante entra sin importar desde dónde llame. El RFC 6749 sección 10.3 lo admite: el servidor de recursos no puede confirmar que el token se emitió a quien lo presenta.</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El robo del token no es teórico. Facebook 2018: la función «Ver como» generó 50 millones de access tokens robables. Starbucks 2019: claves API expuestas en GitHub. En ambos casos el token se usó sin restricciones porque no estaba atado a nada.</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Qué no cubre el bearer. No cifra el payload (JWT es base64). No autoriza por sí solo: la autorización es otro capítulo. No previene replay. No protege contra XSS. No verifica el dispositivo. No es MFA. El token solo responde una pregunta: ¿es válido? Nada más.</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La línea de tiempo. Pasado: Basic Auth y cookies con estado en el servidor. Presente: OAuth 2.0, JWT sin estado, bearer como estándar. Más allá: mTLS y DPoP, donde el token queda atado al cliente que lo solicitó.</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La familia de tokens. Authorization code, access token, refresh token e ID token. Cada uno tiene su destinatario y su vida. El código es de un solo uso. El access token vive minutos. El refresh token vive semanas pero solo contra el endpoint de token. El ID token identifica, no autoriza.</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Anatomía de un JWT. Tres partes: header, payload, signature. Todo en base64url. El payload no está cifrado: está firmado. Cualquiera lee el contenido. El header lleva el algoritmo, y ahí nacen los ataques: alg:none, confusión RS256/HS256, inyección de kid.</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Dónde viaja el token. Cabecera, cuerpo o query. RFC 6750 aceptaba los tres. RFC 9700 (2025) prohíbe tokens en URIs. La cabecera es el lugar correcto: no la manda el navegador sola, es inmune a CSRF.</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Acto II: seguridad dinámica. La autenticación no es un interruptor de encendido/apagado. Es un flujo continuo: el usuario entra con contraseña, pero para operaciones sensibles la API debe exigir más. Ahí entra MFA Step-Up.</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MFA Step-Up: el mecanismo. RFC 9470. La API evalúa la transacción: es sensible, el token dice autenticación simple. Responde 401 con WWW-Authenticate y acr_values. El frontend redirige al IdP. El usuario pasa segundo factor. Nuevo token con acr actualizado. Reintento exitoso.</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Qué pide el Step-Up en el token. acr (Authentication Context Class Reference) y amr (Authentication Methods References) son los claims the dicen cómo se autenticó el usuario. Si acr dice contraseña simple y la operación exige MFA, el token no sirve. No es el token: es el contexto de autenticación dentro del token.</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Máquina a máquina: sin humano para factorizar. Cuando la invocador es un microservicio o un job de CI, no hay segundo factor que mostrar. El equivalente es mTLS con certificados X.509 o firmado de peticiones con claves asimétricas (Private Key JWT).</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La MFA protege un instante. El flujo real: contraseña, MFA en el servidor de autenticación, emisión de tokens, y al final un access token. La API no sabe si hubo MFA; solo lo sabe si el emisor puso amr y acr en el token y el validador los revisa.</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Persona y sistema: dos preguntas distintas. Para la persona probamos que un humano se autenticó. Para el sistema probamos que un workload concreto pidió el token. Aplicar el marco de uno al otro es el error más caro de la disciplina.</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Acto III: el ecosistema mobile. Las apps móviles están en manos del atacante. Pueden modificar el APK, desactivar SSL pinning, extraer secretos. El cliente «Frankenstein» simula ser la app legítima y llama a la API directamente.</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PKCE: el candado del código. RFC 7636. El cliente genera un code_verifier, envía su hash como code_challenge, y prueba el verifier al canjear el código. Si un atacante intercepta el código, no lo puede canjear sin el verifier. Hoy es obligatorio en clientes públicos.</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App Attestation: la prueba de integridad. Play Integrity API en Android, DeviceCheck en iOS. El servidor de attestation verifica que el binario no fue modificado y emite un token de attestation. La API lo verifica antes de procesar solicitudes sensibles.</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Acto III: el clímax mobile. App Attestation verifica la integridad del binario. PKCE protege el código de autorización. DPoP ata el token a una clave privada del dispositivo. Las tres capas juntas: el cliente Frankenstein se queda fuera.</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DPoP contra mTLS. mTLS opera en capa 4: certificado X.509 en el handshake TLS, token atado al certificado vía claim cnf. Robo de token inútil sin el certificado. Gestión de PKI compleja.</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DPoP: la prueba en capa 7. El cliente genera un par de claves dinámicamente. El token se ata a la clave pública. Cada request incluye un JWT firmado con la clave privada en un header DPoP. Sin PKI, sin certificados de red, funciona a través de proxies y WAFs.</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DPoP contra mtls: la comparación. mTLS: capa 4, certificados, PKI, ideal M2M y microservicios. DPoP: capa 7, headers HTTP, ideal SPAs y móviles, sin PKI pero con sobrecarga computacional.</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Arquitectura: el token vive en el ecosistema. TLS protege en tránsito pero no contra XSS ni logs. Gateway valida firma, expiración y aud. Zero Trust: cada microservicio autoriza según su lógica de negocio.</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Canal seguro y gateway: sus límites. TLS no protege contra robo en el cliente. El gateway es la primera línea: throttling, WAF, validación de firma. El error común: el gateway valida y los microservicios confían ciegamente. Zero Trust: propagar claims y autorizar en cada capa.</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El caso uruguayo. ID Uruguay usa OIDC con bearer tokens. Cualquier integración con tokens de larga vida sin rotación es un riesgo. Cualquier SPA con token en localStorage es un riesgo. Las mitigaciones de esta charla aplican igual: DPoP, PKCE, Step-Up.</a:t>
            </a:r>
          </a:p>
        </p:txBody>
      </p:sp>
      <p:sp>
        <p:nvSpPr>
          <p:cNvPr id="4" name="Slide Number Placeholder 3"/>
          <p:cNvSpPr>
            <a:spLocks noGrp="1"/>
          </p:cNvSpPr>
          <p:nvPr>
            <p:ph type="sldNum" idx="12"/>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Tres acciones para mañana. Primero: auditar la vida de los tokens de acceso y refresh. Segundo: revisar dónde se almacenan los tokens en clientes públicos. Tercero: identificar operaciones sensibles y planificar Step-Up. El token bearer es el presente. El sender-constrained es el siguiente paso.</a:t>
            </a:r>
          </a:p>
        </p:txBody>
      </p:sp>
      <p:sp>
        <p:nvSpPr>
          <p:cNvPr id="4" name="Slide Number Placeholder 3"/>
          <p:cNvSpPr>
            <a:spLocks noGrp="1"/>
          </p:cNvSpPr>
          <p:nvPr>
            <p:ph type="sldNum" idx="12"/>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El token se acaba. El riesgo no. Autenticar es la puerta. Autorizar es la cerradura. La seguridad no está en el string: está en el sistema. Gracias.</a:t>
            </a:r>
          </a:p>
        </p:txBody>
      </p:sp>
      <p:sp>
        <p:nvSpPr>
          <p:cNvPr id="4" name="Slide Number Placeholder 3"/>
          <p:cNvSpPr>
            <a:spLocks noGrp="1"/>
          </p:cNvSpPr>
          <p:nvPr>
            <p:ph type="sldNum" idx="12"/>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Del bearer al sender-constrained. Token Binding (2018) ataba el token al canal TLS pero no tuvo adopción. mTLS (2020) ata el token al certificado. DPoP (2023) ata el token a una clave privada por request. La evolución es clara: atar el token a su portador.</a:t>
            </a:r>
          </a:p>
        </p:txBody>
      </p:sp>
      <p:sp>
        <p:nvSpPr>
          <p:cNvPr id="4" name="Slide Number Placeholder 3"/>
          <p:cNvSpPr>
            <a:spLocks noGrp="1"/>
          </p:cNvSpPr>
          <p:nvPr>
            <p:ph type="sldNum" idx="12"/>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Los flujos de OAuth. Authorization Code, Implicit, Client Credentials, Device Code. Cada uno para un escenario. Authorization Code con PKCE es el recomendado para clientes públicos. Client Credentials es para M2M.</a:t>
            </a:r>
          </a:p>
        </p:txBody>
      </p:sp>
      <p:sp>
        <p:nvSpPr>
          <p:cNvPr id="4" name="Slide Number Placeholder 3"/>
          <p:cNvSpPr>
            <a:spLocks noGrp="1"/>
          </p:cNvSpPr>
          <p:nvPr>
            <p:ph type="sldNum" idx="12"/>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La pila de protocolos. HTTP en la base, TLS encima, OAuth/OIDC sobre HTTP, JWT como formato de token, JOSE para firma y cifrado. Cada capa resuelve un problema. Ninguna resuelve todos.</a:t>
            </a:r>
          </a:p>
        </p:txBody>
      </p:sp>
      <p:sp>
        <p:nvSpPr>
          <p:cNvPr id="4" name="Slide Number Placeholder 3"/>
          <p:cNvSpPr>
            <a:spLocks noGrp="1"/>
          </p:cNvSpPr>
          <p:nvPr>
            <p:ph type="sldNum" idx="12"/>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El ciclo de vida del token. Emisión, transporte, almacenamiento, uso, renovación, revocación, expiración. Defender una API es cubrir todas las etapas, no solo la emisión. La mayoría de los incidentes ocurren durante el uso, no durante la emisión.</a:t>
            </a:r>
          </a:p>
        </p:txBody>
      </p:sp>
      <p:sp>
        <p:nvSpPr>
          <p:cNvPr id="4" name="Slide Number Placeholder 3"/>
          <p:cNvSpPr>
            <a:spLocks noGrp="1"/>
          </p:cNvSpPr>
          <p:nvPr>
            <p:ph type="sldNum" idx="12"/>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OWASP API Security Top 10. BOLA, Broken Authentication, BOPLA, Unrestricted Resource Consumption, BFLA, Sensitive Business Flows, SSRF, Misconfiguration, Improper Inventory, Unsafe Consumption. Ninguno de estos es «el token»: son el sistema alrededor del token.</a:t>
            </a:r>
          </a:p>
        </p:txBody>
      </p:sp>
      <p:sp>
        <p:nvSpPr>
          <p:cNvPr id="4" name="Slide Number Placeholder 3"/>
          <p:cNvSpPr>
            <a:spLocks noGrp="1"/>
          </p:cNvSpPr>
          <p:nvPr>
            <p:ph type="sldNum" idx="12"/>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Arquitectura de referencia. Cliente, Gateway, IAM, Microservicios, Datos. El gateway valida y enruta. El IAM administra identidades. Los microservicios autorizan. Los datos se protegen. Cada capa tiene su responsabilidad.</a:t>
            </a:r>
          </a:p>
        </p:txBody>
      </p:sp>
      <p:sp>
        <p:nvSpPr>
          <p:cNvPr id="4" name="Slide Number Placeholder 3"/>
          <p:cNvSpPr>
            <a:spLocks noGrp="1"/>
          </p:cNvSpPr>
          <p:nvPr>
            <p:ph type="sldNum" idx="12"/>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El ecosistema completo. Cada círculo es un componente que puede fallar. La seguridad de la API es la suma de todas las piezas, no del token solo.</a:t>
            </a:r>
          </a:p>
        </p:txBody>
      </p:sp>
      <p:sp>
        <p:nvSpPr>
          <p:cNvPr id="4" name="Slide Number Placeholder 3"/>
          <p:cNvSpPr>
            <a:spLocks noGrp="1"/>
          </p:cNvSpPr>
          <p:nvPr>
            <p:ph type="sldNum" idx="12"/>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La familia de tokens en detalle. Los cuatro artefactos con sus roles, vidas y destinos. Confundir estos roles es el origen de la mayoría de las fallas.</a:t>
            </a:r>
          </a:p>
        </p:txBody>
      </p:sp>
      <p:sp>
        <p:nvSpPr>
          <p:cNvPr id="4" name="Slide Number Placeholder 3"/>
          <p:cNvSpPr>
            <a:spLocks noGrp="1"/>
          </p:cNvSpPr>
          <p:nvPr>
            <p:ph type="sldNum" idx="12"/>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JWT en detalle. Header con alg y kid. Payload con iss, sub, aud, exp, scope, amr, acr. Signature con la firma. Validar todo, no solo la firma.</a:t>
            </a:r>
          </a:p>
        </p:txBody>
      </p:sp>
      <p:sp>
        <p:nvSpPr>
          <p:cNvPr id="4" name="Slide Number Placeholder 3"/>
          <p:cNvSpPr>
            <a:spLocks noGrp="1"/>
          </p:cNvSpPr>
          <p:nvPr>
            <p:ph type="sldNum" idx="12"/>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MFA en detalle. El segundo factor protege el momento de la emisión. Después, el token vive solo. Step-Up, DPoP y App Attestation son las respuestas para el uso.</a:t>
            </a:r>
          </a:p>
        </p:txBody>
      </p:sp>
      <p:sp>
        <p:nvSpPr>
          <p:cNvPr id="4" name="Slide Number Placeholder 3"/>
          <p:cNvSpPr>
            <a:spLocks noGrp="1"/>
          </p:cNvSpPr>
          <p:nvPr>
            <p:ph type="sldNum" idx="12"/>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OWASP Top 10 en detalle. Cada riesgo con su forma de probarlo y su defensa. BOLA es el más común: token válido, objeto ajeno.</a:t>
            </a:r>
          </a:p>
        </p:txBody>
      </p:sp>
      <p:sp>
        <p:nvSpPr>
          <p:cNvPr id="4" name="Slide Number Placeholder 3"/>
          <p:cNvSpPr>
            <a:spLocks noGrp="1"/>
          </p:cNvSpPr>
          <p:nvPr>
            <p:ph type="sldNum" idx="12"/>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DPoP en detalle. El cliente firma cada request con su clave privada. El servidor valida la prueba y no acepta el token sin ella. Robar el access token no sirve.</a:t>
            </a:r>
          </a:p>
        </p:txBody>
      </p:sp>
      <p:sp>
        <p:nvSpPr>
          <p:cNvPr id="4" name="Slide Number Placeholder 3"/>
          <p:cNvSpPr>
            <a:spLocks noGrp="1"/>
          </p:cNvSpPr>
          <p:nvPr>
            <p:ph type="sldNum" idx="12"/>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Refresh token en detalle. Rotación: cada uso emite uno nuevo y el viejo se invalida. Si un atacante lo usa, el legítimo lo delata. RFC 9700 lo vuelve obligatorio para clientes públicos.</a:t>
            </a:r>
          </a:p>
        </p:txBody>
      </p:sp>
      <p:sp>
        <p:nvSpPr>
          <p:cNvPr id="4" name="Slide Number Placeholder 3"/>
          <p:cNvSpPr>
            <a:spLocks noGrp="1"/>
          </p:cNvSpPr>
          <p:nvPr>
            <p:ph type="sldNum" idx="12"/>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Transporte del token en detalle. Cabecera es el lugar correcto. Query está prohibido por RFC 9700. Cookie exige HttpOnly, Secure, SameSite.</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pty without logo on corner">
  <p:cSld name="DEFAULT">
    <p:bg>
      <p:bgPr>
        <a:blipFill>
          <a:blip r:embed="rId2">
            <a:alphaModFix/>
          </a:blip>
          <a:stretch>
            <a:fillRect/>
          </a:stretch>
        </a:blipFill>
      </p:bgPr>
    </p:bg>
    <p:spTree>
      <p:nvGrpSpPr>
        <p:cNvPr id="13" name="Shape 13"/>
        <p:cNvGrpSpPr/>
        <p:nvPr/>
      </p:nvGrpSpPr>
      <p:grpSpPr>
        <a:xfrm>
          <a:off x="0" y="0"/>
          <a:ext cx="0" cy="0"/>
          <a:chOff x="0" y="0"/>
          <a:chExt cx="0" cy="0"/>
        </a:xfrm>
      </p:grpSpPr>
      <p:pic>
        <p:nvPicPr>
          <p:cNvPr id="14" name="Google Shape;14;g3fba80d6a72_0_45"/>
          <p:cNvPicPr preferRelativeResize="0"/>
          <p:nvPr/>
        </p:nvPicPr>
        <p:blipFill>
          <a:blip r:embed="rId3">
            <a:alphaModFix/>
          </a:blip>
          <a:stretch>
            <a:fillRect/>
          </a:stretch>
        </p:blipFill>
        <p:spPr>
          <a:xfrm>
            <a:off x="9677400" y="5086350"/>
            <a:ext cx="2514600" cy="17716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pty with logo on corner">
  <p:cSld name="CUSTOM_1">
    <p:bg>
      <p:bgPr>
        <a:blipFill>
          <a:blip r:embed="rId2">
            <a:alphaModFix/>
          </a:blip>
          <a:stretch>
            <a:fillRect/>
          </a:stretch>
        </a:blipFill>
      </p:bgPr>
    </p:bg>
    <p:spTree>
      <p:nvGrpSpPr>
        <p:cNvPr id="15" name="Shape 15"/>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Title">
  <p:cSld name="CUSTOM_1_1">
    <p:bg>
      <p:bgPr>
        <a:blipFill>
          <a:blip r:embed="rId2">
            <a:alphaModFix/>
          </a:blip>
          <a:stretch>
            <a:fillRect/>
          </a:stretch>
        </a:blipFill>
      </p:bgPr>
    </p:bg>
    <p:spTree>
      <p:nvGrpSpPr>
        <p:cNvPr id="16" name="Shape 16"/>
        <p:cNvGrpSpPr/>
        <p:nvPr/>
      </p:nvGrpSpPr>
      <p:grpSpPr>
        <a:xfrm>
          <a:off x="0" y="0"/>
          <a:ext cx="0" cy="0"/>
          <a:chOff x="0" y="0"/>
          <a:chExt cx="0" cy="0"/>
        </a:xfrm>
      </p:grpSpPr>
      <p:sp>
        <p:nvSpPr>
          <p:cNvPr id="17" name="Google Shape;17;g3fba80d6a72_0_48"/>
          <p:cNvSpPr txBox="1"/>
          <p:nvPr>
            <p:ph type="title"/>
          </p:nvPr>
        </p:nvSpPr>
        <p:spPr>
          <a:xfrm>
            <a:off x="773900" y="1571625"/>
            <a:ext cx="7143900" cy="1809600"/>
          </a:xfrm>
          <a:prstGeom prst="rect">
            <a:avLst/>
          </a:prstGeom>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1B2738"/>
              </a:buClr>
              <a:buSzPts val="6400"/>
              <a:buFont typeface="Lato"/>
              <a:buNone/>
              <a:defRPr b="1" sz="6400">
                <a:solidFill>
                  <a:srgbClr val="1B2738"/>
                </a:solidFill>
                <a:latin typeface="Lato"/>
                <a:ea typeface="Lato"/>
                <a:cs typeface="Lato"/>
                <a:sym typeface="La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g3fba80d6a72_0_48"/>
          <p:cNvSpPr txBox="1"/>
          <p:nvPr>
            <p:ph idx="2" type="title"/>
          </p:nvPr>
        </p:nvSpPr>
        <p:spPr>
          <a:xfrm>
            <a:off x="773900" y="3381225"/>
            <a:ext cx="9786900" cy="1193100"/>
          </a:xfrm>
          <a:prstGeom prst="rect">
            <a:avLst/>
          </a:prstGeom>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C39A00"/>
              </a:buClr>
              <a:buSzPts val="5600"/>
              <a:buFont typeface="Lato"/>
              <a:buNone/>
              <a:defRPr b="1" i="1" sz="5600">
                <a:solidFill>
                  <a:srgbClr val="FFCC01"/>
                </a:solidFill>
                <a:latin typeface="Lato"/>
                <a:ea typeface="Lato"/>
                <a:cs typeface="Lato"/>
                <a:sym typeface="La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g3fba80d6a72_0_48"/>
          <p:cNvSpPr txBox="1"/>
          <p:nvPr>
            <p:ph idx="1" type="body"/>
          </p:nvPr>
        </p:nvSpPr>
        <p:spPr>
          <a:xfrm>
            <a:off x="773900" y="5572150"/>
            <a:ext cx="8250900" cy="4881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Font typeface="Lato"/>
              <a:buChar char="●"/>
              <a:defRPr>
                <a:latin typeface="Lato"/>
                <a:ea typeface="Lato"/>
                <a:cs typeface="Lato"/>
                <a:sym typeface="Lato"/>
              </a:defRPr>
            </a:lvl1pPr>
            <a:lvl2pPr indent="-228600" lvl="1" marL="914400" marR="0" rtl="0" algn="l">
              <a:lnSpc>
                <a:spcPct val="100000"/>
              </a:lnSpc>
              <a:spcBef>
                <a:spcPts val="0"/>
              </a:spcBef>
              <a:spcAft>
                <a:spcPts val="0"/>
              </a:spcAft>
              <a:buClr>
                <a:schemeClr val="dk1"/>
              </a:buClr>
              <a:buSzPts val="1100"/>
              <a:buFont typeface="Arial"/>
              <a:buNone/>
              <a:defRPr sz="1600">
                <a:solidFill>
                  <a:srgbClr val="1B2738"/>
                </a:solidFill>
                <a:latin typeface="Lato"/>
                <a:ea typeface="Lato"/>
                <a:cs typeface="Lato"/>
                <a:sym typeface="Lato"/>
              </a:defRPr>
            </a:lvl2pPr>
            <a:lvl3pPr indent="-317500" lvl="2" marL="1371600">
              <a:spcBef>
                <a:spcPts val="0"/>
              </a:spcBef>
              <a:spcAft>
                <a:spcPts val="0"/>
              </a:spcAft>
              <a:buSzPts val="1400"/>
              <a:buFont typeface="Lato"/>
              <a:buChar char="■"/>
              <a:defRPr>
                <a:latin typeface="Lato"/>
                <a:ea typeface="Lato"/>
                <a:cs typeface="Lato"/>
                <a:sym typeface="Lato"/>
              </a:defRPr>
            </a:lvl3pPr>
            <a:lvl4pPr indent="-317500" lvl="3" marL="1828800">
              <a:spcBef>
                <a:spcPts val="0"/>
              </a:spcBef>
              <a:spcAft>
                <a:spcPts val="0"/>
              </a:spcAft>
              <a:buSzPts val="1400"/>
              <a:buFont typeface="Lato"/>
              <a:buChar char="●"/>
              <a:defRPr>
                <a:latin typeface="Lato"/>
                <a:ea typeface="Lato"/>
                <a:cs typeface="Lato"/>
                <a:sym typeface="Lato"/>
              </a:defRPr>
            </a:lvl4pPr>
            <a:lvl5pPr indent="-317500" lvl="4" marL="2286000">
              <a:spcBef>
                <a:spcPts val="0"/>
              </a:spcBef>
              <a:spcAft>
                <a:spcPts val="0"/>
              </a:spcAft>
              <a:buSzPts val="1400"/>
              <a:buFont typeface="Lato"/>
              <a:buChar char="○"/>
              <a:defRPr>
                <a:latin typeface="Lato"/>
                <a:ea typeface="Lato"/>
                <a:cs typeface="Lato"/>
                <a:sym typeface="Lato"/>
              </a:defRPr>
            </a:lvl5pPr>
            <a:lvl6pPr indent="-317500" lvl="5" marL="2743200">
              <a:spcBef>
                <a:spcPts val="0"/>
              </a:spcBef>
              <a:spcAft>
                <a:spcPts val="0"/>
              </a:spcAft>
              <a:buSzPts val="1400"/>
              <a:buFont typeface="Lato"/>
              <a:buChar char="■"/>
              <a:defRPr>
                <a:latin typeface="Lato"/>
                <a:ea typeface="Lato"/>
                <a:cs typeface="Lato"/>
                <a:sym typeface="Lato"/>
              </a:defRPr>
            </a:lvl6pPr>
            <a:lvl7pPr indent="-317500" lvl="6" marL="3200400">
              <a:spcBef>
                <a:spcPts val="0"/>
              </a:spcBef>
              <a:spcAft>
                <a:spcPts val="0"/>
              </a:spcAft>
              <a:buSzPts val="1400"/>
              <a:buFont typeface="Lato"/>
              <a:buChar char="●"/>
              <a:defRPr>
                <a:latin typeface="Lato"/>
                <a:ea typeface="Lato"/>
                <a:cs typeface="Lato"/>
                <a:sym typeface="Lato"/>
              </a:defRPr>
            </a:lvl7pPr>
            <a:lvl8pPr indent="-317500" lvl="7" marL="3657600">
              <a:spcBef>
                <a:spcPts val="0"/>
              </a:spcBef>
              <a:spcAft>
                <a:spcPts val="0"/>
              </a:spcAft>
              <a:buSzPts val="1400"/>
              <a:buFont typeface="Lato"/>
              <a:buChar char="○"/>
              <a:defRPr>
                <a:latin typeface="Lato"/>
                <a:ea typeface="Lato"/>
                <a:cs typeface="Lato"/>
                <a:sym typeface="Lato"/>
              </a:defRPr>
            </a:lvl8pPr>
            <a:lvl9pPr indent="-317500" lvl="8" marL="4114800">
              <a:spcBef>
                <a:spcPts val="0"/>
              </a:spcBef>
              <a:spcAft>
                <a:spcPts val="0"/>
              </a:spcAft>
              <a:buSzPts val="1400"/>
              <a:buFont typeface="Lato"/>
              <a:buChar char="■"/>
              <a:defRPr>
                <a:latin typeface="Lato"/>
                <a:ea typeface="Lato"/>
                <a:cs typeface="Lato"/>
                <a:sym typeface="Lato"/>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CUSTOM_1_2">
    <p:bg>
      <p:bgPr>
        <a:blipFill>
          <a:blip r:embed="rId2">
            <a:alphaModFix/>
          </a:blip>
          <a:stretch>
            <a:fillRect/>
          </a:stretch>
        </a:blipFill>
      </p:bgPr>
    </p:bg>
    <p:spTree>
      <p:nvGrpSpPr>
        <p:cNvPr id="20" name="Shape 20"/>
        <p:cNvGrpSpPr/>
        <p:nvPr/>
      </p:nvGrpSpPr>
      <p:grpSpPr>
        <a:xfrm>
          <a:off x="0" y="0"/>
          <a:ext cx="0" cy="0"/>
          <a:chOff x="0" y="0"/>
          <a:chExt cx="0" cy="0"/>
        </a:xfrm>
      </p:grpSpPr>
      <p:sp>
        <p:nvSpPr>
          <p:cNvPr id="21" name="Google Shape;21;g3fba80d6a72_0_52"/>
          <p:cNvSpPr/>
          <p:nvPr/>
        </p:nvSpPr>
        <p:spPr>
          <a:xfrm>
            <a:off x="548640" y="1078992"/>
            <a:ext cx="640200" cy="54900"/>
          </a:xfrm>
          <a:prstGeom prst="rect">
            <a:avLst/>
          </a:prstGeom>
          <a:solidFill>
            <a:srgbClr val="74AA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g3fba80d6a72_0_52"/>
          <p:cNvSpPr txBox="1"/>
          <p:nvPr>
            <p:ph idx="1" type="subTitle"/>
          </p:nvPr>
        </p:nvSpPr>
        <p:spPr>
          <a:xfrm>
            <a:off x="452438" y="488075"/>
            <a:ext cx="8489100" cy="5433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1B2738"/>
              </a:buClr>
              <a:buSzPts val="3200"/>
              <a:buFont typeface="Lato"/>
              <a:buNone/>
              <a:defRPr b="1" sz="3200">
                <a:solidFill>
                  <a:srgbClr val="1B2738"/>
                </a:solidFill>
                <a:latin typeface="Lato"/>
                <a:ea typeface="Lato"/>
                <a:cs typeface="Lato"/>
                <a:sym typeface="La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g3fba80d6a72_0_52"/>
          <p:cNvSpPr txBox="1"/>
          <p:nvPr>
            <p:ph idx="2" type="body"/>
          </p:nvPr>
        </p:nvSpPr>
        <p:spPr>
          <a:xfrm>
            <a:off x="571550" y="1524000"/>
            <a:ext cx="8250900" cy="4167300"/>
          </a:xfrm>
          <a:prstGeom prst="rect">
            <a:avLst/>
          </a:prstGeom>
          <a:noFill/>
          <a:ln>
            <a:noFill/>
          </a:ln>
        </p:spPr>
        <p:txBody>
          <a:bodyPr anchorCtr="0" anchor="ctr" bIns="91425" lIns="91425" spcFirstLastPara="1" rIns="91425" wrap="square" tIns="91425">
            <a:noAutofit/>
          </a:bodyPr>
          <a:lstStyle>
            <a:lvl1pPr indent="-393700" lvl="0" marL="457200">
              <a:spcBef>
                <a:spcPts val="0"/>
              </a:spcBef>
              <a:spcAft>
                <a:spcPts val="0"/>
              </a:spcAft>
              <a:buSzPts val="2600"/>
              <a:buChar char="●"/>
              <a:defRPr sz="2600"/>
            </a:lvl1pPr>
            <a:lvl2pPr indent="-228600" lvl="1" marL="914400" marR="0" algn="l">
              <a:lnSpc>
                <a:spcPct val="100000"/>
              </a:lnSpc>
              <a:spcBef>
                <a:spcPts val="0"/>
              </a:spcBef>
              <a:spcAft>
                <a:spcPts val="0"/>
              </a:spcAft>
              <a:buNone/>
              <a:defRPr sz="2800">
                <a:solidFill>
                  <a:srgbClr val="1B2738"/>
                </a:solidFill>
                <a:latin typeface="Lato"/>
                <a:ea typeface="Lato"/>
                <a:cs typeface="Lato"/>
                <a:sym typeface="Lato"/>
              </a:defRPr>
            </a:lvl2pPr>
            <a:lvl3pPr indent="-393700" lvl="2" marL="1371600">
              <a:spcBef>
                <a:spcPts val="0"/>
              </a:spcBef>
              <a:spcAft>
                <a:spcPts val="0"/>
              </a:spcAft>
              <a:buSzPts val="2600"/>
              <a:buChar char="■"/>
              <a:defRPr sz="2600"/>
            </a:lvl3pPr>
            <a:lvl4pPr indent="-393700" lvl="3" marL="1828800">
              <a:spcBef>
                <a:spcPts val="0"/>
              </a:spcBef>
              <a:spcAft>
                <a:spcPts val="0"/>
              </a:spcAft>
              <a:buSzPts val="2600"/>
              <a:buChar char="●"/>
              <a:defRPr sz="2600"/>
            </a:lvl4pPr>
            <a:lvl5pPr indent="-393700" lvl="4" marL="2286000">
              <a:spcBef>
                <a:spcPts val="0"/>
              </a:spcBef>
              <a:spcAft>
                <a:spcPts val="0"/>
              </a:spcAft>
              <a:buSzPts val="2600"/>
              <a:buChar char="○"/>
              <a:defRPr sz="2600"/>
            </a:lvl5pPr>
            <a:lvl6pPr indent="-393700" lvl="5" marL="2743200">
              <a:spcBef>
                <a:spcPts val="0"/>
              </a:spcBef>
              <a:spcAft>
                <a:spcPts val="0"/>
              </a:spcAft>
              <a:buSzPts val="2600"/>
              <a:buChar char="■"/>
              <a:defRPr sz="2600"/>
            </a:lvl6pPr>
            <a:lvl7pPr indent="-393700" lvl="6" marL="3200400">
              <a:spcBef>
                <a:spcPts val="0"/>
              </a:spcBef>
              <a:spcAft>
                <a:spcPts val="0"/>
              </a:spcAft>
              <a:buSzPts val="2600"/>
              <a:buChar char="●"/>
              <a:defRPr sz="2600"/>
            </a:lvl7pPr>
            <a:lvl8pPr indent="-393700" lvl="7" marL="3657600">
              <a:spcBef>
                <a:spcPts val="0"/>
              </a:spcBef>
              <a:spcAft>
                <a:spcPts val="0"/>
              </a:spcAft>
              <a:buSzPts val="2600"/>
              <a:buChar char="○"/>
              <a:defRPr sz="2600"/>
            </a:lvl8pPr>
            <a:lvl9pPr indent="-393700" lvl="8" marL="4114800">
              <a:spcBef>
                <a:spcPts val="0"/>
              </a:spcBef>
              <a:spcAft>
                <a:spcPts val="0"/>
              </a:spcAft>
              <a:buSzPts val="2600"/>
              <a:buChar char="■"/>
              <a:defRPr sz="26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g3fba80d6a72_0_44"/>
          <p:cNvSpPr txBox="1"/>
          <p:nvPr>
            <p:ph type="title"/>
          </p:nvPr>
        </p:nvSpPr>
        <p:spPr>
          <a:xfrm>
            <a:off x="773900" y="1571625"/>
            <a:ext cx="7143900" cy="18096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1B2738"/>
              </a:buClr>
              <a:buSzPts val="6400"/>
              <a:buFont typeface="Lato"/>
              <a:buNone/>
              <a:defRPr b="1" sz="6400">
                <a:solidFill>
                  <a:srgbClr val="1B2738"/>
                </a:solidFill>
                <a:latin typeface="Lato"/>
                <a:ea typeface="Lato"/>
                <a:cs typeface="Lato"/>
                <a:sym typeface="La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 name="Google Shape;11;g3fba80d6a72_0_44"/>
          <p:cNvSpPr txBox="1"/>
          <p:nvPr>
            <p:ph idx="2" type="title"/>
          </p:nvPr>
        </p:nvSpPr>
        <p:spPr>
          <a:xfrm>
            <a:off x="773900" y="3381225"/>
            <a:ext cx="9786900" cy="11931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C39A00"/>
              </a:buClr>
              <a:buSzPts val="5600"/>
              <a:buFont typeface="Lato"/>
              <a:buNone/>
              <a:defRPr b="1" i="1" sz="5600">
                <a:solidFill>
                  <a:srgbClr val="FFCC01"/>
                </a:solidFill>
                <a:latin typeface="Lato"/>
                <a:ea typeface="Lato"/>
                <a:cs typeface="Lato"/>
                <a:sym typeface="La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 name="Google Shape;12;g3fba80d6a72_0_44"/>
          <p:cNvSpPr txBox="1"/>
          <p:nvPr>
            <p:ph idx="1" type="body"/>
          </p:nvPr>
        </p:nvSpPr>
        <p:spPr>
          <a:xfrm>
            <a:off x="773900" y="5572150"/>
            <a:ext cx="8250900" cy="4881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228600" lvl="1" marL="914400" marR="0" algn="l">
              <a:lnSpc>
                <a:spcPct val="100000"/>
              </a:lnSpc>
              <a:spcBef>
                <a:spcPts val="0"/>
              </a:spcBef>
              <a:spcAft>
                <a:spcPts val="0"/>
              </a:spcAft>
              <a:buClr>
                <a:schemeClr val="dk1"/>
              </a:buClr>
              <a:buSzPts val="1100"/>
              <a:buFont typeface="Arial"/>
              <a:buNone/>
              <a:defRPr sz="1600">
                <a:solidFill>
                  <a:srgbClr val="1B2738"/>
                </a:solidFill>
                <a:latin typeface="Lato"/>
                <a:ea typeface="Lato"/>
                <a:cs typeface="Lato"/>
                <a:sym typeface="Lato"/>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Lst>
  <mc:AlternateContent>
    <mc:Choice Requires="p14">
      <p:transition p14:dur="200">
        <p:fade thruBlk="1"/>
      </p:transition>
    </mc:Choice>
    <mc:Fallback>
      <p:transition>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4.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6.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7.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8.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9.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0.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1.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2.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3.png"/><Relationship Id="rId3" Type="http://schemas.openxmlformats.org/officeDocument/2006/relationships/notesSlide" Target="../notesSlides/notesSlide44.xml"/></Relationships>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73900" y="1200000"/>
            <a:ext cx="10900000" cy="2400000"/>
          </a:xfrm>
        </p:spPr>
        <p:txBody>
          <a:bodyPr wrap="square"/>
          <a:lstStyle/>
          <a:p>
            <a:r>
              <a:rPr sz="4800" b="1">
                <a:solidFill>
                  <a:srgbClr val="1B2738"/>
                </a:solidFill>
                <a:latin typeface="Lato"/>
              </a:rPr>
              <a:t>Bearer Token: del riesgo al sender-constrained</a:t>
            </a:r>
          </a:p>
        </p:txBody>
      </p:sp>
      <p:sp>
        <p:nvSpPr>
          <p:cNvPr id="3" name="Title 2"/>
          <p:cNvSpPr>
            <a:spLocks noGrp="1"/>
          </p:cNvSpPr>
          <p:nvPr>
            <p:ph type="title" idx="2"/>
          </p:nvPr>
        </p:nvSpPr>
        <p:spPr>
          <a:xfrm>
            <a:off x="773900" y="3720000"/>
            <a:ext cx="10900000" cy="1200000"/>
          </a:xfrm>
        </p:spPr>
        <p:txBody>
          <a:bodyPr wrap="square"/>
          <a:lstStyle/>
          <a:p>
            <a:r>
              <a:rPr sz="3000" b="1" i="0">
                <a:solidFill>
                  <a:srgbClr val="2E6DA4"/>
                </a:solidFill>
                <a:latin typeface="Lato"/>
              </a:rPr>
              <a:t>25 minutos, tres actos · v4 completa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El billete al portador</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400" b="1">
                <a:solidFill>
                  <a:srgbClr val="1B2738"/>
                </a:solidFill>
                <a:latin typeface="Lato"/>
              </a:rPr>
              <a:t>Posesión = autorización: </a:t>
            </a:r>
            <a:r>
              <a:rPr sz="2400" b="0">
                <a:solidFill>
                  <a:srgbClr val="1B2738"/>
                </a:solidFill>
                <a:latin typeface="Lato"/>
              </a:rPr>
              <a:t>el token se presenta y se acepta.</a:t>
            </a:r>
          </a:p>
          <a:p>
            <a:pPr>
              <a:lnSpc>
                <a:spcPct val="102000"/>
              </a:lnSpc>
              <a:spcAft>
                <a:spcPts val="400"/>
              </a:spcAft>
            </a:pPr>
            <a:r>
              <a:rPr sz="2400" b="1">
                <a:solidFill>
                  <a:srgbClr val="1B2738"/>
                </a:solidFill>
                <a:latin typeface="Lato"/>
              </a:rPr>
              <a:t>No se verifica el dispositivo </a:t>
            </a:r>
            <a:r>
              <a:rPr sz="2400" b="0">
                <a:solidFill>
                  <a:srgbClr val="1B2738"/>
                </a:solidFill>
                <a:latin typeface="Lato"/>
              </a:rPr>
              <a:t>ni el cliente que lo usa.</a:t>
            </a:r>
          </a:p>
          <a:p>
            <a:pPr>
              <a:lnSpc>
                <a:spcPct val="102000"/>
              </a:lnSpc>
              <a:spcAft>
                <a:spcPts val="400"/>
              </a:spcAft>
            </a:pPr>
            <a:r>
              <a:rPr sz="2400" b="1">
                <a:solidFill>
                  <a:srgbClr val="1B2738"/>
                </a:solidFill>
                <a:latin typeface="Lato"/>
              </a:rPr>
              <a:t>Si se filtra: </a:t>
            </a:r>
            <a:r>
              <a:rPr sz="2400" b="0">
                <a:solidFill>
                  <a:srgbClr val="1B2738"/>
                </a:solidFill>
                <a:latin typeface="Lato"/>
              </a:rPr>
              <a:t>quien lo tiene, lo usa.</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ACTO I</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6749, Bearer Token Usage (octubre 2012).</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 / 32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El robo del token</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400" b="1">
                <a:solidFill>
                  <a:srgbClr val="1B2738"/>
                </a:solidFill>
                <a:latin typeface="Lato"/>
              </a:rPr>
              <a:t>Facebook (2018): </a:t>
            </a:r>
            <a:r>
              <a:rPr sz="2400" b="0">
                <a:solidFill>
                  <a:srgbClr val="1B2738"/>
                </a:solidFill>
                <a:latin typeface="Lato"/>
              </a:rPr>
              <a:t>50 millones de tokens robados vía «Ver como».</a:t>
            </a:r>
          </a:p>
          <a:p>
            <a:pPr>
              <a:lnSpc>
                <a:spcPct val="102000"/>
              </a:lnSpc>
              <a:spcAft>
                <a:spcPts val="400"/>
              </a:spcAft>
            </a:pPr>
            <a:r>
              <a:rPr sz="2400" b="1">
                <a:solidFill>
                  <a:srgbClr val="1B2738"/>
                </a:solidFill>
                <a:latin typeface="Lato"/>
              </a:rPr>
              <a:t>Starbucks (2019): </a:t>
            </a:r>
            <a:r>
              <a:rPr sz="2400" b="0">
                <a:solidFill>
                  <a:srgbClr val="1B2738"/>
                </a:solidFill>
                <a:latin typeface="Lato"/>
              </a:rPr>
              <a:t>claves API expuestas en GitHub.</a:t>
            </a:r>
          </a:p>
          <a:p>
            <a:pPr>
              <a:lnSpc>
                <a:spcPct val="102000"/>
              </a:lnSpc>
              <a:spcAft>
                <a:spcPts val="400"/>
              </a:spcAft>
            </a:pPr>
            <a:r>
              <a:rPr sz="2400" b="1">
                <a:solidFill>
                  <a:srgbClr val="1B2738"/>
                </a:solidFill>
                <a:latin typeface="Lato"/>
              </a:rPr>
              <a:t>En ambos: </a:t>
            </a:r>
            <a:r>
              <a:rPr sz="2400" b="0">
                <a:solidFill>
                  <a:srgbClr val="1B2738"/>
                </a:solidFill>
                <a:latin typeface="Lato"/>
              </a:rPr>
              <a:t>el token se usó sin restricciones.</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ACTO I</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Meta Security Report (2018); HackerOne (2019).</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3 / 32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Qué no cubre el bearer</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000" b="1">
                <a:solidFill>
                  <a:srgbClr val="1B2738"/>
                </a:solidFill>
                <a:latin typeface="Lato"/>
              </a:rPr>
              <a:t>No cifra: </a:t>
            </a:r>
            <a:r>
              <a:rPr sz="2000" b="0">
                <a:solidFill>
                  <a:srgbClr val="1B2738"/>
                </a:solidFill>
                <a:latin typeface="Lato"/>
              </a:rPr>
              <a:t>JWT es base64, no cifrado.</a:t>
            </a:r>
          </a:p>
          <a:p>
            <a:pPr>
              <a:lnSpc>
                <a:spcPct val="102000"/>
              </a:lnSpc>
              <a:spcAft>
                <a:spcPts val="400"/>
              </a:spcAft>
            </a:pPr>
            <a:r>
              <a:rPr sz="2000" b="1">
                <a:solidFill>
                  <a:srgbClr val="1B2738"/>
                </a:solidFill>
                <a:latin typeface="Lato"/>
              </a:rPr>
              <a:t>No autoriza: </a:t>
            </a:r>
            <a:r>
              <a:rPr sz="2000" b="0">
                <a:solidFill>
                  <a:srgbClr val="1B2738"/>
                </a:solidFill>
                <a:latin typeface="Lato"/>
              </a:rPr>
              <a:t>es otro capítulo.</a:t>
            </a:r>
          </a:p>
          <a:p>
            <a:pPr>
              <a:lnSpc>
                <a:spcPct val="102000"/>
              </a:lnSpc>
              <a:spcAft>
                <a:spcPts val="400"/>
              </a:spcAft>
            </a:pPr>
            <a:r>
              <a:rPr sz="2000" b="1">
                <a:solidFill>
                  <a:srgbClr val="1B2738"/>
                </a:solidFill>
                <a:latin typeface="Lato"/>
              </a:rPr>
              <a:t>No previene replay: </a:t>
            </a:r>
            <a:r>
              <a:rPr sz="2000" b="0">
                <a:solidFill>
                  <a:srgbClr val="1B2738"/>
                </a:solidFill>
                <a:latin typeface="Lato"/>
              </a:rPr>
              <a:t>interceptado = reutilizado.</a:t>
            </a:r>
          </a:p>
          <a:p>
            <a:pPr>
              <a:lnSpc>
                <a:spcPct val="102000"/>
              </a:lnSpc>
              <a:spcAft>
                <a:spcPts val="400"/>
              </a:spcAft>
            </a:pPr>
            <a:r>
              <a:rPr sz="2000" b="1">
                <a:solidFill>
                  <a:srgbClr val="1B2738"/>
                </a:solidFill>
                <a:latin typeface="Lato"/>
              </a:rPr>
              <a:t>No verifica dispositivo </a:t>
            </a:r>
            <a:r>
              <a:rPr sz="2000" b="0">
                <a:solidFill>
                  <a:srgbClr val="1B2738"/>
                </a:solidFill>
                <a:latin typeface="Lato"/>
              </a:rPr>
              <a:t>ni cliente.</a:t>
            </a:r>
          </a:p>
          <a:p>
            <a:pPr>
              <a:lnSpc>
                <a:spcPct val="102000"/>
              </a:lnSpc>
              <a:spcAft>
                <a:spcPts val="400"/>
              </a:spcAft>
            </a:pPr>
            <a:r>
              <a:rPr sz="2000" b="1">
                <a:solidFill>
                  <a:srgbClr val="1B2738"/>
                </a:solidFill>
                <a:latin typeface="Lato"/>
              </a:rPr>
              <a:t>No es MFA: </a:t>
            </a:r>
            <a:r>
              <a:rPr sz="2000" b="0">
                <a:solidFill>
                  <a:srgbClr val="1B2738"/>
                </a:solidFill>
                <a:latin typeface="Lato"/>
              </a:rPr>
              <a:t>la autenticación ya pasó.</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ACTO I</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6749 §10.3 (2012).</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4 / 32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De Basic al sender-constrained</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LÍNEA DE TIEMPO</a:t>
            </a:r>
          </a:p>
        </p:txBody>
      </p:sp>
      <p:pic>
        <p:nvPicPr>
          <p:cNvPr id="5" name="Picture 4" descr="01_timeline.png"/>
          <p:cNvPicPr>
            <a:picLocks noChangeAspect="1"/>
          </p:cNvPicPr>
          <p:nvPr/>
        </p:nvPicPr>
        <p:blipFill>
          <a:blip r:embed="rId2"/>
          <a:stretch>
            <a:fillRect/>
          </a:stretch>
        </p:blipFill>
        <p:spPr>
          <a:xfrm>
            <a:off x="2911732" y="1524000"/>
            <a:ext cx="3570536" cy="4167300"/>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2617 (1999); RFC 6749 (2012); RFC 8705 (2020); RFC 9449 (2023).</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5 / 32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La familia de tokens</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LÍNEA DE TIEMPO</a:t>
            </a:r>
          </a:p>
        </p:txBody>
      </p:sp>
      <p:pic>
        <p:nvPicPr>
          <p:cNvPr id="5" name="Picture 4" descr="02_token_family.png"/>
          <p:cNvPicPr>
            <a:picLocks noChangeAspect="1"/>
          </p:cNvPicPr>
          <p:nvPr/>
        </p:nvPicPr>
        <p:blipFill>
          <a:blip r:embed="rId2"/>
          <a:stretch>
            <a:fillRect/>
          </a:stretch>
        </p:blipFill>
        <p:spPr>
          <a:xfrm>
            <a:off x="1477308" y="1524000"/>
            <a:ext cx="6439384" cy="4167300"/>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6749 §4.1 y §5 (2012); OIDC Core (2014).</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6 / 32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Anatomía de un JWT</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LÍNEA DE TIEMPO</a:t>
            </a:r>
          </a:p>
        </p:txBody>
      </p:sp>
      <p:pic>
        <p:nvPicPr>
          <p:cNvPr id="5" name="Picture 4" descr="03_jwt_anatomy.png"/>
          <p:cNvPicPr>
            <a:picLocks noChangeAspect="1"/>
          </p:cNvPicPr>
          <p:nvPr/>
        </p:nvPicPr>
        <p:blipFill>
          <a:blip r:embed="rId2"/>
          <a:stretch>
            <a:fillRect/>
          </a:stretch>
        </p:blipFill>
        <p:spPr>
          <a:xfrm>
            <a:off x="571550" y="1652879"/>
            <a:ext cx="8250900" cy="3909542"/>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7519 (2015); RFC 8725 (2020).</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7 / 32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Dónde viaja el token</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LÍNEA DE TIEMPO</a:t>
            </a:r>
          </a:p>
        </p:txBody>
      </p:sp>
      <p:pic>
        <p:nvPicPr>
          <p:cNvPr id="5" name="Picture 4" descr="04_transport.png"/>
          <p:cNvPicPr>
            <a:picLocks noChangeAspect="1"/>
          </p:cNvPicPr>
          <p:nvPr/>
        </p:nvPicPr>
        <p:blipFill>
          <a:blip r:embed="rId2"/>
          <a:stretch>
            <a:fillRect/>
          </a:stretch>
        </p:blipFill>
        <p:spPr>
          <a:xfrm>
            <a:off x="596617" y="1524000"/>
            <a:ext cx="8200766" cy="4167300"/>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6750 §2 (2012); RFC 9700 (enero 2025).</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8 / 32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Seguridad dinámica: Step-Up</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400" b="1">
                <a:solidFill>
                  <a:srgbClr val="1B2738"/>
                </a:solidFill>
                <a:latin typeface="Lato"/>
              </a:rPr>
              <a:t>La autenticación no es binaria: </a:t>
            </a:r>
            <a:r>
              <a:rPr sz="2400" b="0">
                <a:solidFill>
                  <a:srgbClr val="1B2738"/>
                </a:solidFill>
                <a:latin typeface="Lato"/>
              </a:rPr>
              <a:t>es un flujo continuo.</a:t>
            </a:r>
          </a:p>
          <a:p>
            <a:pPr>
              <a:lnSpc>
                <a:spcPct val="102000"/>
              </a:lnSpc>
              <a:spcAft>
                <a:spcPts val="400"/>
              </a:spcAft>
            </a:pPr>
            <a:r>
              <a:rPr sz="2400" b="1">
                <a:solidFill>
                  <a:srgbClr val="1B2738"/>
                </a:solidFill>
                <a:latin typeface="Lato"/>
              </a:rPr>
              <a:t>Operaciones sensibles: </a:t>
            </a:r>
            <a:r>
              <a:rPr sz="2400" b="0">
                <a:solidFill>
                  <a:srgbClr val="1B2738"/>
                </a:solidFill>
                <a:latin typeface="Lato"/>
              </a:rPr>
              <a:t>exigen re-autenticación.</a:t>
            </a:r>
          </a:p>
          <a:p>
            <a:pPr>
              <a:lnSpc>
                <a:spcPct val="102000"/>
              </a:lnSpc>
              <a:spcAft>
                <a:spcPts val="400"/>
              </a:spcAft>
            </a:pPr>
            <a:r>
              <a:rPr sz="2400" b="1">
                <a:solidFill>
                  <a:srgbClr val="1B2738"/>
                </a:solidFill>
                <a:latin typeface="Lato"/>
              </a:rPr>
              <a:t>Mecanismo: </a:t>
            </a:r>
            <a:r>
              <a:rPr sz="2400" b="0">
                <a:solidFill>
                  <a:srgbClr val="1B2738"/>
                </a:solidFill>
                <a:latin typeface="Lato"/>
              </a:rPr>
              <a:t>RFC 9470, Step-Up Authentication Challenge.</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ACTO II</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9470 (2023); NIST SP 800-63-4 (2025).</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9 / 32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Step-Up: flujo 401 y reintento</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1. La API evalúa: </a:t>
            </a:r>
            <a:r>
              <a:rPr sz="2200" b="0">
                <a:solidFill>
                  <a:srgbClr val="1B2738"/>
                </a:solidFill>
                <a:latin typeface="Lato"/>
              </a:rPr>
              <a:t>transacción sensible, acr insuficiente.</a:t>
            </a:r>
          </a:p>
          <a:p>
            <a:pPr>
              <a:lnSpc>
                <a:spcPct val="102000"/>
              </a:lnSpc>
              <a:spcAft>
                <a:spcPts val="400"/>
              </a:spcAft>
            </a:pPr>
            <a:r>
              <a:rPr sz="2200" b="1">
                <a:solidFill>
                  <a:srgbClr val="1B2738"/>
                </a:solidFill>
                <a:latin typeface="Lato"/>
              </a:rPr>
              <a:t>2. Responde 401: </a:t>
            </a:r>
            <a:r>
              <a:rPr sz="2200" b="0">
                <a:solidFill>
                  <a:srgbClr val="1B2738"/>
                </a:solidFill>
                <a:latin typeface="Lato"/>
              </a:rPr>
              <a:t>WWW-Authenticate con acr_values.</a:t>
            </a:r>
          </a:p>
          <a:p>
            <a:pPr>
              <a:lnSpc>
                <a:spcPct val="102000"/>
              </a:lnSpc>
              <a:spcAft>
                <a:spcPts val="400"/>
              </a:spcAft>
            </a:pPr>
            <a:r>
              <a:rPr sz="2200" b="1">
                <a:solidFill>
                  <a:srgbClr val="1B2738"/>
                </a:solidFill>
                <a:latin typeface="Lato"/>
              </a:rPr>
              <a:t>3. El frontend redirige al IdP </a:t>
            </a:r>
            <a:r>
              <a:rPr sz="2200" b="0">
                <a:solidFill>
                  <a:srgbClr val="1B2738"/>
                </a:solidFill>
                <a:latin typeface="Lato"/>
              </a:rPr>
              <a:t>para segundo factor.</a:t>
            </a:r>
          </a:p>
          <a:p>
            <a:pPr>
              <a:lnSpc>
                <a:spcPct val="102000"/>
              </a:lnSpc>
              <a:spcAft>
                <a:spcPts val="400"/>
              </a:spcAft>
            </a:pPr>
            <a:r>
              <a:rPr sz="2200" b="1">
                <a:solidFill>
                  <a:srgbClr val="1B2738"/>
                </a:solidFill>
                <a:latin typeface="Lato"/>
              </a:rPr>
              <a:t>4. Nuevo token con acr actualizado. </a:t>
            </a:r>
            <a:r>
              <a:rPr sz="2200" b="0">
                <a:solidFill>
                  <a:srgbClr val="1B2738"/>
                </a:solidFill>
                <a:latin typeface="Lato"/>
              </a:rPr>
              <a:t>Reintento exitoso.</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ACTO II</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9470 (2023).</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10 / 32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Claims acr and amr</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400" b="1">
                <a:solidFill>
                  <a:srgbClr val="1B2738"/>
                </a:solidFill>
                <a:latin typeface="Lato"/>
              </a:rPr>
              <a:t>acr: </a:t>
            </a:r>
            <a:r>
              <a:rPr sz="2400" b="0">
                <a:solidFill>
                  <a:srgbClr val="1B2738"/>
                </a:solidFill>
                <a:latin typeface="Lato"/>
              </a:rPr>
              <a:t>Authentication Context Class Reference.</a:t>
            </a:r>
          </a:p>
          <a:p>
            <a:pPr>
              <a:lnSpc>
                <a:spcPct val="102000"/>
              </a:lnSpc>
              <a:spcAft>
                <a:spcPts val="400"/>
              </a:spcAft>
            </a:pPr>
            <a:r>
              <a:rPr sz="2400" b="1">
                <a:solidFill>
                  <a:srgbClr val="1B2738"/>
                </a:solidFill>
                <a:latin typeface="Lato"/>
              </a:rPr>
              <a:t>amr: </a:t>
            </a:r>
            <a:r>
              <a:rPr sz="2400" b="0">
                <a:solidFill>
                  <a:srgbClr val="1B2738"/>
                </a:solidFill>
                <a:latin typeface="Lato"/>
              </a:rPr>
              <a:t>Authentication Methods References.</a:t>
            </a:r>
          </a:p>
          <a:p>
            <a:pPr>
              <a:lnSpc>
                <a:spcPct val="102000"/>
              </a:lnSpc>
              <a:spcAft>
                <a:spcPts val="400"/>
              </a:spcAft>
            </a:pPr>
            <a:r>
              <a:rPr sz="2400" b="1">
                <a:solidFill>
                  <a:srgbClr val="1B2738"/>
                </a:solidFill>
                <a:latin typeface="Lato"/>
              </a:rPr>
              <a:t>Dicen cómo se autenticó, </a:t>
            </a:r>
            <a:r>
              <a:rPr sz="2400" b="0">
                <a:solidFill>
                  <a:srgbClr val="1B2738"/>
                </a:solidFill>
                <a:latin typeface="Lato"/>
              </a:rPr>
              <a:t>no solo quién.</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ACTO II</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8176 (2017); OIDC Core (2014).</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11 / 32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M2M: sin factorizar</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400" b="1">
                <a:solidFill>
                  <a:srgbClr val="1B2738"/>
                </a:solidFill>
                <a:latin typeface="Lato"/>
              </a:rPr>
              <a:t>El invocador es un microservicio </a:t>
            </a:r>
            <a:r>
              <a:rPr sz="2400" b="0">
                <a:solidFill>
                  <a:srgbClr val="1B2738"/>
                </a:solidFill>
                <a:latin typeface="Lato"/>
              </a:rPr>
              <a:t>o job de CI.</a:t>
            </a:r>
          </a:p>
          <a:p>
            <a:pPr>
              <a:lnSpc>
                <a:spcPct val="102000"/>
              </a:lnSpc>
              <a:spcAft>
                <a:spcPts val="400"/>
              </a:spcAft>
            </a:pPr>
            <a:r>
              <a:rPr sz="2400" b="1">
                <a:solidFill>
                  <a:srgbClr val="1B2738"/>
                </a:solidFill>
                <a:latin typeface="Lato"/>
              </a:rPr>
              <a:t>No hay segundo factor: </a:t>
            </a:r>
            <a:r>
              <a:rPr sz="2400" b="0">
                <a:solidFill>
                  <a:srgbClr val="1B2738"/>
                </a:solidFill>
                <a:latin typeface="Lato"/>
              </a:rPr>
              <a:t>el equivalente es mTLS.</a:t>
            </a:r>
          </a:p>
          <a:p>
            <a:pPr>
              <a:lnSpc>
                <a:spcPct val="102000"/>
              </a:lnSpc>
              <a:spcAft>
                <a:spcPts val="400"/>
              </a:spcAft>
            </a:pPr>
            <a:r>
              <a:rPr sz="2400" b="1">
                <a:solidFill>
                  <a:srgbClr val="1B2738"/>
                </a:solidFill>
                <a:latin typeface="Lato"/>
              </a:rPr>
              <a:t>Certificados X.509 </a:t>
            </a:r>
            <a:r>
              <a:rPr sz="2400" b="0">
                <a:solidFill>
                  <a:srgbClr val="1B2738"/>
                </a:solidFill>
                <a:latin typeface="Lato"/>
              </a:rPr>
              <a:t>o Private Key JWT para firmado de peticiones.</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ACTO II</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8705 (2020); RFC 7523 (2015).</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12 / 32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La MFA protege un instante</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ACTO II</a:t>
            </a:r>
          </a:p>
        </p:txBody>
      </p:sp>
      <p:pic>
        <p:nvPicPr>
          <p:cNvPr id="5" name="Picture 4" descr="05_mfa_timeline.png"/>
          <p:cNvPicPr>
            <a:picLocks noChangeAspect="1"/>
          </p:cNvPicPr>
          <p:nvPr/>
        </p:nvPicPr>
        <p:blipFill>
          <a:blip r:embed="rId2"/>
          <a:stretch>
            <a:fillRect/>
          </a:stretch>
        </p:blipFill>
        <p:spPr>
          <a:xfrm>
            <a:off x="571550" y="1940755"/>
            <a:ext cx="8250900" cy="3333790"/>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NIST SP 800-63-4 (julio 2025); OIDC Core (2014).</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13 / 32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Persona y sistema</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ACTO II</a:t>
            </a:r>
          </a:p>
        </p:txBody>
      </p:sp>
      <p:pic>
        <p:nvPicPr>
          <p:cNvPr id="5" name="Picture 4" descr="06_person_vs_system.png"/>
          <p:cNvPicPr>
            <a:picLocks noChangeAspect="1"/>
          </p:cNvPicPr>
          <p:nvPr/>
        </p:nvPicPr>
        <p:blipFill>
          <a:blip r:embed="rId2"/>
          <a:stretch>
            <a:fillRect/>
          </a:stretch>
        </p:blipFill>
        <p:spPr>
          <a:xfrm>
            <a:off x="979484" y="1524000"/>
            <a:ext cx="7435032" cy="4167299"/>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NIST SP 800-63-4 (2025); GitGuardian (2026).</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14 / 32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Apps modificadas</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400" b="1">
                <a:solidFill>
                  <a:srgbClr val="1B2738"/>
                </a:solidFill>
                <a:latin typeface="Lato"/>
              </a:rPr>
              <a:t>Las apps están en manos del atacante: </a:t>
            </a:r>
            <a:r>
              <a:rPr sz="2400" b="0">
                <a:solidFill>
                  <a:srgbClr val="1B2738"/>
                </a:solidFill>
                <a:latin typeface="Lato"/>
              </a:rPr>
              <a:t>modificables, descompilables.</a:t>
            </a:r>
          </a:p>
          <a:p>
            <a:pPr>
              <a:lnSpc>
                <a:spcPct val="102000"/>
              </a:lnSpc>
              <a:spcAft>
                <a:spcPts val="400"/>
              </a:spcAft>
            </a:pPr>
            <a:r>
              <a:rPr sz="2400" b="1">
                <a:solidFill>
                  <a:srgbClr val="1B2738"/>
                </a:solidFill>
                <a:latin typeface="Lato"/>
              </a:rPr>
              <a:t>Riesgo: </a:t>
            </a:r>
            <a:r>
              <a:rPr sz="2400" b="0">
                <a:solidFill>
                  <a:srgbClr val="1B2738"/>
                </a:solidFill>
                <a:latin typeface="Lato"/>
              </a:rPr>
              <a:t>cliente Frankenstein que simula ser la app legítima.</a:t>
            </a:r>
          </a:p>
          <a:p>
            <a:pPr>
              <a:lnSpc>
                <a:spcPct val="102000"/>
              </a:lnSpc>
              <a:spcAft>
                <a:spcPts val="400"/>
              </a:spcAft>
            </a:pPr>
            <a:r>
              <a:rPr sz="2400" b="1">
                <a:solidFill>
                  <a:srgbClr val="1B2738"/>
                </a:solidFill>
                <a:latin typeface="Lato"/>
              </a:rPr>
              <a:t>Desactivan SSL pinning, </a:t>
            </a:r>
            <a:r>
              <a:rPr sz="2400" b="0">
                <a:solidFill>
                  <a:srgbClr val="1B2738"/>
                </a:solidFill>
                <a:latin typeface="Lato"/>
              </a:rPr>
              <a:t>extraen secretos, llaman a la API.</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ACTO III</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OWASP Mobile Top 10 (2024).</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15 / 32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PKCE: candado del código</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code_verifier: </a:t>
            </a:r>
            <a:r>
              <a:rPr sz="2200" b="0">
                <a:solidFill>
                  <a:srgbClr val="1B2738"/>
                </a:solidFill>
                <a:latin typeface="Lato"/>
              </a:rPr>
              <a:t>string aleatorio generado por el cliente.</a:t>
            </a:r>
          </a:p>
          <a:p>
            <a:pPr>
              <a:lnSpc>
                <a:spcPct val="102000"/>
              </a:lnSpc>
              <a:spcAft>
                <a:spcPts val="400"/>
              </a:spcAft>
            </a:pPr>
            <a:r>
              <a:rPr sz="2200" b="1">
                <a:solidFill>
                  <a:srgbClr val="1B2738"/>
                </a:solidFill>
                <a:latin typeface="Lato"/>
              </a:rPr>
              <a:t>code_challenge: </a:t>
            </a:r>
            <a:r>
              <a:rPr sz="2200" b="0">
                <a:solidFill>
                  <a:srgbClr val="1B2738"/>
                </a:solidFill>
                <a:latin typeface="Lato"/>
              </a:rPr>
              <a:t>hash del verifier, enviado al pedir el código.</a:t>
            </a:r>
          </a:p>
          <a:p>
            <a:pPr>
              <a:lnSpc>
                <a:spcPct val="102000"/>
              </a:lnSpc>
              <a:spcAft>
                <a:spcPts val="400"/>
              </a:spcAft>
            </a:pPr>
            <a:r>
              <a:rPr sz="2200" b="1">
                <a:solidFill>
                  <a:srgbClr val="1B2738"/>
                </a:solidFill>
                <a:latin typeface="Lato"/>
              </a:rPr>
              <a:t>Al canjear: </a:t>
            </a:r>
            <a:r>
              <a:rPr sz="2200" b="0">
                <a:solidFill>
                  <a:srgbClr val="1B2738"/>
                </a:solidFill>
                <a:latin typeface="Lato"/>
              </a:rPr>
              <a:t>el verifier prueba la posesión.</a:t>
            </a:r>
          </a:p>
          <a:p>
            <a:pPr>
              <a:lnSpc>
                <a:spcPct val="102000"/>
              </a:lnSpc>
              <a:spcAft>
                <a:spcPts val="400"/>
              </a:spcAft>
            </a:pPr>
            <a:r>
              <a:rPr sz="2200" b="1">
                <a:solidFill>
                  <a:srgbClr val="1B2738"/>
                </a:solidFill>
                <a:latin typeface="Lato"/>
              </a:rPr>
              <a:t>Obligatorio hoy </a:t>
            </a:r>
            <a:r>
              <a:rPr sz="2200" b="0">
                <a:solidFill>
                  <a:srgbClr val="1B2738"/>
                </a:solidFill>
                <a:latin typeface="Lato"/>
              </a:rPr>
              <a:t>en clientes públicos (RFC 9700).</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ACTO III</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7636 (2015); RFC 9700 (2025).</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16 / 32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App Attestation</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Android: </a:t>
            </a:r>
            <a:r>
              <a:rPr sz="2200" b="0">
                <a:solidFill>
                  <a:srgbClr val="1B2738"/>
                </a:solidFill>
                <a:latin typeface="Lato"/>
              </a:rPr>
              <a:t>Play Integrity API.</a:t>
            </a:r>
          </a:p>
          <a:p>
            <a:pPr>
              <a:lnSpc>
                <a:spcPct val="102000"/>
              </a:lnSpc>
              <a:spcAft>
                <a:spcPts val="400"/>
              </a:spcAft>
            </a:pPr>
            <a:r>
              <a:rPr sz="2200" b="1">
                <a:solidFill>
                  <a:srgbClr val="1B2738"/>
                </a:solidFill>
                <a:latin typeface="Lato"/>
              </a:rPr>
              <a:t>iOS: </a:t>
            </a:r>
            <a:r>
              <a:rPr sz="2200" b="0">
                <a:solidFill>
                  <a:srgbClr val="1B2738"/>
                </a:solidFill>
                <a:latin typeface="Lato"/>
              </a:rPr>
              <a:t>DeviceCheck / App Attest.</a:t>
            </a:r>
          </a:p>
          <a:p>
            <a:pPr>
              <a:lnSpc>
                <a:spcPct val="102000"/>
              </a:lnSpc>
              <a:spcAft>
                <a:spcPts val="400"/>
              </a:spcAft>
            </a:pPr>
            <a:r>
              <a:rPr sz="2200" b="1">
                <a:solidFill>
                  <a:srgbClr val="1B2738"/>
                </a:solidFill>
                <a:latin typeface="Lato"/>
              </a:rPr>
              <a:t>Verifica el binario no fue modificado </a:t>
            </a:r>
            <a:r>
              <a:rPr sz="2200" b="0">
                <a:solidFill>
                  <a:srgbClr val="1B2738"/>
                </a:solidFill>
                <a:latin typeface="Lato"/>
              </a:rPr>
              <a:t>y emite token de attestation.</a:t>
            </a:r>
          </a:p>
          <a:p>
            <a:pPr>
              <a:lnSpc>
                <a:spcPct val="102000"/>
              </a:lnSpc>
              <a:spcAft>
                <a:spcPts val="400"/>
              </a:spcAft>
            </a:pPr>
            <a:r>
              <a:rPr sz="2200" b="1">
                <a:solidFill>
                  <a:srgbClr val="1B2738"/>
                </a:solidFill>
                <a:latin typeface="Lato"/>
              </a:rPr>
              <a:t>La API lo verifica </a:t>
            </a:r>
            <a:r>
              <a:rPr sz="2200" b="0">
                <a:solidFill>
                  <a:srgbClr val="1B2738"/>
                </a:solidFill>
                <a:latin typeface="Lato"/>
              </a:rPr>
              <a:t>antes de operaciones sensibles.</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ACTO III</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Google Play Integrity; Apple DeviceCheck.</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17 / 32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Mobile: tres capas</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App Attestation: </a:t>
            </a:r>
            <a:r>
              <a:rPr sz="2200" b="0">
                <a:solidFill>
                  <a:srgbClr val="1B2738"/>
                </a:solidFill>
                <a:latin typeface="Lato"/>
              </a:rPr>
              <a:t>el binario es legítimo.</a:t>
            </a:r>
          </a:p>
          <a:p>
            <a:pPr>
              <a:lnSpc>
                <a:spcPct val="102000"/>
              </a:lnSpc>
              <a:spcAft>
                <a:spcPts val="400"/>
              </a:spcAft>
            </a:pPr>
            <a:r>
              <a:rPr sz="2200" b="1">
                <a:solidFill>
                  <a:srgbClr val="1B2738"/>
                </a:solidFill>
                <a:latin typeface="Lato"/>
              </a:rPr>
              <a:t>PKCE: </a:t>
            </a:r>
            <a:r>
              <a:rPr sz="2200" b="0">
                <a:solidFill>
                  <a:srgbClr val="1B2738"/>
                </a:solidFill>
                <a:latin typeface="Lato"/>
              </a:rPr>
              <a:t>el código no se puede reutilizar.</a:t>
            </a:r>
          </a:p>
          <a:p>
            <a:pPr>
              <a:lnSpc>
                <a:spcPct val="102000"/>
              </a:lnSpc>
              <a:spcAft>
                <a:spcPts val="400"/>
              </a:spcAft>
            </a:pPr>
            <a:r>
              <a:rPr sz="2200" b="1">
                <a:solidFill>
                  <a:srgbClr val="1B2738"/>
                </a:solidFill>
                <a:latin typeface="Lato"/>
              </a:rPr>
              <a:t>DPoP: </a:t>
            </a:r>
            <a:r>
              <a:rPr sz="2200" b="0">
                <a:solidFill>
                  <a:srgbClr val="1B2738"/>
                </a:solidFill>
                <a:latin typeface="Lato"/>
              </a:rPr>
              <a:t>el token no sirve en otro dispositivo.</a:t>
            </a:r>
          </a:p>
          <a:p>
            <a:pPr>
              <a:lnSpc>
                <a:spcPct val="102000"/>
              </a:lnSpc>
              <a:spcAft>
                <a:spcPts val="400"/>
              </a:spcAft>
            </a:pPr>
            <a:r>
              <a:rPr sz="2200" b="1">
                <a:solidFill>
                  <a:srgbClr val="1B2738"/>
                </a:solidFill>
                <a:latin typeface="Lato"/>
              </a:rPr>
              <a:t>Cliente Frankenstein: </a:t>
            </a:r>
            <a:r>
              <a:rPr sz="2200" b="0">
                <a:solidFill>
                  <a:srgbClr val="1B2738"/>
                </a:solidFill>
                <a:latin typeface="Lato"/>
              </a:rPr>
              <a:t>sin binario legítimo, sin PKCE, sin DPoP.</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ACTO III</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Google; Apple; RFC 7636; RFC 9449.</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18 / 32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DPoP vs mTLS</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COMPARATIVA</a:t>
            </a:r>
          </a:p>
        </p:txBody>
      </p:sp>
      <p:graphicFrame>
        <p:nvGraphicFramePr>
          <p:cNvPr id="5" name="Table 4"/>
          <p:cNvGraphicFramePr>
            <a:graphicFrameLocks noGrp="1"/>
          </p:cNvGraphicFramePr>
          <p:nvPr/>
        </p:nvGraphicFramePr>
        <p:xfrm>
          <a:off x="571550" y="1724000"/>
          <a:ext cx="8250899" cy="3767300"/>
        </p:xfrm>
        <a:graphic>
          <a:graphicData uri="http://schemas.openxmlformats.org/drawingml/2006/table">
            <a:tbl>
              <a:tblPr firstRow="1">
                <a:tableStyleId>{5C22544A-7EE6-4342-B048-85BDC9FD1C3A}</a:tableStyleId>
              </a:tblPr>
              <a:tblGrid>
                <a:gridCol w="2605547"/>
                <a:gridCol w="2822676"/>
                <a:gridCol w="2822676"/>
              </a:tblGrid>
              <a:tr h="753460">
                <a:tc>
                  <a:txBody>
                    <a:bodyPr wrap="square"/>
                    <a:lstStyle/>
                    <a:p>
                      <a:r>
                        <a:rPr sz="1300" b="1">
                          <a:solidFill>
                            <a:srgbClr val="FFFFFF"/>
                          </a:solidFill>
                          <a:latin typeface="Lato"/>
                        </a:rPr>
                        <a:t>Característica</a:t>
                      </a:r>
                    </a:p>
                  </a:txBody>
                  <a:tcPr anchor="ctr" marL="80000" marR="60000" marT="20000" marB="20000">
                    <a:solidFill>
                      <a:srgbClr val="1B2738"/>
                    </a:solidFill>
                  </a:tcPr>
                </a:tc>
                <a:tc>
                  <a:txBody>
                    <a:bodyPr wrap="square"/>
                    <a:lstStyle/>
                    <a:p>
                      <a:r>
                        <a:rPr sz="1300" b="1">
                          <a:solidFill>
                            <a:srgbClr val="FFFFFF"/>
                          </a:solidFill>
                          <a:latin typeface="Lato"/>
                        </a:rPr>
                        <a:t>mTLS</a:t>
                      </a:r>
                    </a:p>
                  </a:txBody>
                  <a:tcPr anchor="ctr" marL="80000" marR="60000" marT="20000" marB="20000">
                    <a:solidFill>
                      <a:srgbClr val="1B2738"/>
                    </a:solidFill>
                  </a:tcPr>
                </a:tc>
                <a:tc>
                  <a:txBody>
                    <a:bodyPr wrap="square"/>
                    <a:lstStyle/>
                    <a:p>
                      <a:r>
                        <a:rPr sz="1300" b="1">
                          <a:solidFill>
                            <a:srgbClr val="FFFFFF"/>
                          </a:solidFill>
                          <a:latin typeface="Lato"/>
                        </a:rPr>
                        <a:t>DPoP</a:t>
                      </a:r>
                    </a:p>
                  </a:txBody>
                  <a:tcPr anchor="ctr" marL="80000" marR="60000" marT="20000" marB="20000">
                    <a:solidFill>
                      <a:srgbClr val="1B2738"/>
                    </a:solidFill>
                  </a:tcPr>
                </a:tc>
              </a:tr>
              <a:tr h="753460">
                <a:tc>
                  <a:txBody>
                    <a:bodyPr wrap="square"/>
                    <a:lstStyle/>
                    <a:p>
                      <a:r>
                        <a:rPr sz="1300" b="1">
                          <a:solidFill>
                            <a:srgbClr val="1B2738"/>
                          </a:solidFill>
                          <a:latin typeface="Lato"/>
                        </a:rPr>
                        <a:t>Capa OSI</a:t>
                      </a:r>
                    </a:p>
                  </a:txBody>
                  <a:tcPr anchor="ctr" marL="80000" marR="60000" marT="20000" marB="20000">
                    <a:solidFill>
                      <a:srgbClr val="FFFFFF"/>
                    </a:solidFill>
                  </a:tcPr>
                </a:tc>
                <a:tc>
                  <a:txBody>
                    <a:bodyPr wrap="square"/>
                    <a:lstStyle/>
                    <a:p>
                      <a:r>
                        <a:rPr sz="1300" b="0">
                          <a:solidFill>
                            <a:srgbClr val="1B2738"/>
                          </a:solidFill>
                          <a:latin typeface="Lato"/>
                        </a:rPr>
                        <a:t>Capa 4 (Transporte)</a:t>
                      </a:r>
                    </a:p>
                  </a:txBody>
                  <a:tcPr anchor="ctr" marL="80000" marR="60000" marT="20000" marB="20000">
                    <a:solidFill>
                      <a:srgbClr val="FFFFFF"/>
                    </a:solidFill>
                  </a:tcPr>
                </a:tc>
                <a:tc>
                  <a:txBody>
                    <a:bodyPr wrap="square"/>
                    <a:lstStyle/>
                    <a:p>
                      <a:r>
                        <a:rPr sz="1300" b="0">
                          <a:solidFill>
                            <a:srgbClr val="1B2738"/>
                          </a:solidFill>
                          <a:latin typeface="Lato"/>
                        </a:rPr>
                        <a:t>Capa 7 (Aplicación)</a:t>
                      </a:r>
                    </a:p>
                  </a:txBody>
                  <a:tcPr anchor="ctr" marL="80000" marR="60000" marT="20000" marB="20000">
                    <a:solidFill>
                      <a:srgbClr val="FFFFFF"/>
                    </a:solidFill>
                  </a:tcPr>
                </a:tc>
              </a:tr>
              <a:tr h="753460">
                <a:tc>
                  <a:txBody>
                    <a:bodyPr wrap="square"/>
                    <a:lstStyle/>
                    <a:p>
                      <a:r>
                        <a:rPr sz="1300" b="1">
                          <a:solidFill>
                            <a:srgbClr val="1B2738"/>
                          </a:solidFill>
                          <a:latin typeface="Lato"/>
                        </a:rPr>
                        <a:t>Mecanismo</a:t>
                      </a:r>
                    </a:p>
                  </a:txBody>
                  <a:tcPr anchor="ctr" marL="80000" marR="60000" marT="20000" marB="20000">
                    <a:solidFill>
                      <a:srgbClr val="EAF2FB"/>
                    </a:solidFill>
                  </a:tcPr>
                </a:tc>
                <a:tc>
                  <a:txBody>
                    <a:bodyPr wrap="square"/>
                    <a:lstStyle/>
                    <a:p>
                      <a:r>
                        <a:rPr sz="1300" b="0">
                          <a:solidFill>
                            <a:srgbClr val="1B2738"/>
                          </a:solidFill>
                          <a:latin typeface="Lato"/>
                        </a:rPr>
                        <a:t>Certificado X.509 en TLS</a:t>
                      </a:r>
                    </a:p>
                  </a:txBody>
                  <a:tcPr anchor="ctr" marL="80000" marR="60000" marT="20000" marB="20000">
                    <a:solidFill>
                      <a:srgbClr val="EAF2FB"/>
                    </a:solidFill>
                  </a:tcPr>
                </a:tc>
                <a:tc>
                  <a:txBody>
                    <a:bodyPr wrap="square"/>
                    <a:lstStyle/>
                    <a:p>
                      <a:r>
                        <a:rPr sz="1300" b="0">
                          <a:solidFill>
                            <a:srgbClr val="1B2738"/>
                          </a:solidFill>
                          <a:latin typeface="Lato"/>
                        </a:rPr>
                        <a:t>JWT firmado en header HTTP</a:t>
                      </a:r>
                    </a:p>
                  </a:txBody>
                  <a:tcPr anchor="ctr" marL="80000" marR="60000" marT="20000" marB="20000">
                    <a:solidFill>
                      <a:srgbClr val="EAF2FB"/>
                    </a:solidFill>
                  </a:tcPr>
                </a:tc>
              </a:tr>
              <a:tr h="753460">
                <a:tc>
                  <a:txBody>
                    <a:bodyPr wrap="square"/>
                    <a:lstStyle/>
                    <a:p>
                      <a:r>
                        <a:rPr sz="1300" b="1">
                          <a:solidFill>
                            <a:srgbClr val="1B2738"/>
                          </a:solidFill>
                          <a:latin typeface="Lato"/>
                        </a:rPr>
                        <a:t>Gestión de claves</a:t>
                      </a:r>
                    </a:p>
                  </a:txBody>
                  <a:tcPr anchor="ctr" marL="80000" marR="60000" marT="20000" marB="20000">
                    <a:solidFill>
                      <a:srgbClr val="FFFFFF"/>
                    </a:solidFill>
                  </a:tcPr>
                </a:tc>
                <a:tc>
                  <a:txBody>
                    <a:bodyPr wrap="square"/>
                    <a:lstStyle/>
                    <a:p>
                      <a:r>
                        <a:rPr sz="1300" b="0">
                          <a:solidFill>
                            <a:srgbClr val="1B2738"/>
                          </a:solidFill>
                          <a:latin typeface="Lato"/>
                        </a:rPr>
                        <a:t>Compleja (PKI)</a:t>
                      </a:r>
                    </a:p>
                  </a:txBody>
                  <a:tcPr anchor="ctr" marL="80000" marR="60000" marT="20000" marB="20000">
                    <a:solidFill>
                      <a:srgbClr val="FFFFFF"/>
                    </a:solidFill>
                  </a:tcPr>
                </a:tc>
                <a:tc>
                  <a:txBody>
                    <a:bodyPr wrap="square"/>
                    <a:lstStyle/>
                    <a:p>
                      <a:r>
                        <a:rPr sz="1300" b="0">
                          <a:solidFill>
                            <a:srgbClr val="1B2738"/>
                          </a:solidFill>
                          <a:latin typeface="Lato"/>
                        </a:rPr>
                        <a:t>Sin PKI, par dinámico</a:t>
                      </a:r>
                    </a:p>
                  </a:txBody>
                  <a:tcPr anchor="ctr" marL="80000" marR="60000" marT="20000" marB="20000">
                    <a:solidFill>
                      <a:srgbClr val="FFFFFF"/>
                    </a:solidFill>
                  </a:tcPr>
                </a:tc>
              </a:tr>
              <a:tr h="753460">
                <a:tc>
                  <a:txBody>
                    <a:bodyPr wrap="square"/>
                    <a:lstStyle/>
                    <a:p>
                      <a:r>
                        <a:rPr sz="1300" b="1">
                          <a:solidFill>
                            <a:srgbClr val="1B2738"/>
                          </a:solidFill>
                          <a:latin typeface="Lato"/>
                        </a:rPr>
                        <a:t>Ideal para</a:t>
                      </a:r>
                    </a:p>
                  </a:txBody>
                  <a:tcPr anchor="ctr" marL="80000" marR="60000" marT="20000" marB="20000">
                    <a:solidFill>
                      <a:srgbClr val="EAF2FB"/>
                    </a:solidFill>
                  </a:tcPr>
                </a:tc>
                <a:tc>
                  <a:txBody>
                    <a:bodyPr wrap="square"/>
                    <a:lstStyle/>
                    <a:p>
                      <a:r>
                        <a:rPr sz="1300" b="0">
                          <a:solidFill>
                            <a:srgbClr val="1B2738"/>
                          </a:solidFill>
                          <a:latin typeface="Lato"/>
                        </a:rPr>
                        <a:t>M2M, microservicios</a:t>
                      </a:r>
                    </a:p>
                  </a:txBody>
                  <a:tcPr anchor="ctr" marL="80000" marR="60000" marT="20000" marB="20000">
                    <a:solidFill>
                      <a:srgbClr val="EAF2FB"/>
                    </a:solidFill>
                  </a:tcPr>
                </a:tc>
                <a:tc>
                  <a:txBody>
                    <a:bodyPr wrap="square"/>
                    <a:lstStyle/>
                    <a:p>
                      <a:r>
                        <a:rPr sz="1300" b="0">
                          <a:solidFill>
                            <a:srgbClr val="1B2738"/>
                          </a:solidFill>
                          <a:latin typeface="Lato"/>
                        </a:rPr>
                        <a:t>SPAs, móviles</a:t>
                      </a:r>
                    </a:p>
                  </a:txBody>
                  <a:tcPr anchor="ctr" marL="80000" marR="60000" marT="20000" marB="20000">
                    <a:solidFill>
                      <a:srgbClr val="EAF2FB"/>
                    </a:solidFill>
                  </a:tcPr>
                </a:tc>
              </a:tr>
            </a:tbl>
          </a:graphicData>
        </a:graphic>
      </p:graphicFrame>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8705 (2020); RFC 9449 (2023).</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19 / 32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DPoP: prueba en HTTP</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Par de claves dinámico: </a:t>
            </a:r>
            <a:r>
              <a:rPr sz="2200" b="0">
                <a:solidFill>
                  <a:srgbClr val="1B2738"/>
                </a:solidFill>
                <a:latin typeface="Lato"/>
              </a:rPr>
              <a:t>generado en el momento.</a:t>
            </a:r>
          </a:p>
          <a:p>
            <a:pPr>
              <a:lnSpc>
                <a:spcPct val="102000"/>
              </a:lnSpc>
              <a:spcAft>
                <a:spcPts val="400"/>
              </a:spcAft>
            </a:pPr>
            <a:r>
              <a:rPr sz="2200" b="1">
                <a:solidFill>
                  <a:srgbClr val="1B2738"/>
                </a:solidFill>
                <a:latin typeface="Lato"/>
              </a:rPr>
              <a:t>Token atado a la clave pública. </a:t>
            </a:r>
            <a:r>
              <a:rPr sz="2200" b="0">
                <a:solidFill>
                  <a:srgbClr val="1B2738"/>
                </a:solidFill>
                <a:latin typeface="Lato"/>
              </a:rPr>
              <a:t>La privada permanece en el dispositivo.</a:t>
            </a:r>
          </a:p>
          <a:p>
            <a:pPr>
              <a:lnSpc>
                <a:spcPct val="102000"/>
              </a:lnSpc>
              <a:spcAft>
                <a:spcPts val="400"/>
              </a:spcAft>
            </a:pPr>
            <a:r>
              <a:rPr sz="2200" b="1">
                <a:solidFill>
                  <a:srgbClr val="1B2738"/>
                </a:solidFill>
                <a:latin typeface="Lato"/>
              </a:rPr>
              <a:t>Header DPoP en cada request: </a:t>
            </a:r>
            <a:r>
              <a:rPr sz="2200" b="0">
                <a:solidFill>
                  <a:srgbClr val="1B2738"/>
                </a:solidFill>
                <a:latin typeface="Lato"/>
              </a:rPr>
              <a:t>JWT firmado con método y URL.</a:t>
            </a:r>
          </a:p>
          <a:p>
            <a:pPr>
              <a:lnSpc>
                <a:spcPct val="102000"/>
              </a:lnSpc>
              <a:spcAft>
                <a:spcPts val="400"/>
              </a:spcAft>
            </a:pPr>
            <a:r>
              <a:rPr sz="2200" b="1">
                <a:solidFill>
                  <a:srgbClr val="1B2738"/>
                </a:solidFill>
                <a:latin typeface="Lato"/>
              </a:rPr>
              <a:t>Funciona a través de proxies, WAFs </a:t>
            </a:r>
            <a:r>
              <a:rPr sz="2200" b="0">
                <a:solidFill>
                  <a:srgbClr val="1B2738"/>
                </a:solidFill>
                <a:latin typeface="Lato"/>
              </a:rPr>
              <a:t>y terminaciones TLS.</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COMPARATIVA</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9449 (2023).</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20 / 32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DPoP vs mTLS: resumen</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mTLS: </a:t>
            </a:r>
            <a:r>
              <a:rPr sz="2200" b="0">
                <a:solidFill>
                  <a:srgbClr val="1B2738"/>
                </a:solidFill>
                <a:latin typeface="Lato"/>
              </a:rPr>
              <a:t>capa 4, certificados, PKI, ideal M2M.</a:t>
            </a:r>
          </a:p>
          <a:p>
            <a:pPr>
              <a:lnSpc>
                <a:spcPct val="102000"/>
              </a:lnSpc>
              <a:spcAft>
                <a:spcPts val="400"/>
              </a:spcAft>
            </a:pPr>
            <a:r>
              <a:rPr sz="2200" b="1">
                <a:solidFill>
                  <a:srgbClr val="1B2738"/>
                </a:solidFill>
                <a:latin typeface="Lato"/>
              </a:rPr>
              <a:t>DPoP: </a:t>
            </a:r>
            <a:r>
              <a:rPr sz="2200" b="0">
                <a:solidFill>
                  <a:srgbClr val="1B2738"/>
                </a:solidFill>
                <a:latin typeface="Lato"/>
              </a:rPr>
              <a:t>capa 7, headers HTTP, ideal clientes públicos.</a:t>
            </a:r>
          </a:p>
          <a:p>
            <a:pPr>
              <a:lnSpc>
                <a:spcPct val="102000"/>
              </a:lnSpc>
              <a:spcAft>
                <a:spcPts val="400"/>
              </a:spcAft>
            </a:pPr>
            <a:r>
              <a:rPr sz="2200" b="1">
                <a:solidFill>
                  <a:srgbClr val="1B2738"/>
                </a:solidFill>
                <a:latin typeface="Lato"/>
              </a:rPr>
              <a:t>Ambos atan el token </a:t>
            </a:r>
            <a:r>
              <a:rPr sz="2200" b="0">
                <a:solidFill>
                  <a:srgbClr val="1B2738"/>
                </a:solidFill>
                <a:latin typeface="Lato"/>
              </a:rPr>
              <a:t>al cliente legítimo.</a:t>
            </a:r>
          </a:p>
          <a:p>
            <a:pPr>
              <a:lnSpc>
                <a:spcPct val="102000"/>
              </a:lnSpc>
              <a:spcAft>
                <a:spcPts val="400"/>
              </a:spcAft>
            </a:pPr>
            <a:r>
              <a:rPr sz="2200" b="1">
                <a:solidFill>
                  <a:srgbClr val="1B2738"/>
                </a:solidFill>
                <a:latin typeface="Lato"/>
              </a:rPr>
              <a:t>Robar el token </a:t>
            </a:r>
            <a:r>
              <a:rPr sz="2200" b="0">
                <a:solidFill>
                  <a:srgbClr val="1B2738"/>
                </a:solidFill>
                <a:latin typeface="Lato"/>
              </a:rPr>
              <a:t>sin la prueba criptográfica: inútil.</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COMPARATIVA</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8705 (2020); RFC 9449 (2023).</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21 / 32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TLS, Gateway, Zero Trust</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ARQUITECTURA</a:t>
            </a:r>
          </a:p>
        </p:txBody>
      </p:sp>
      <p:pic>
        <p:nvPicPr>
          <p:cNvPr id="5" name="Picture 4" descr="13_circles.png"/>
          <p:cNvPicPr>
            <a:picLocks noChangeAspect="1"/>
          </p:cNvPicPr>
          <p:nvPr/>
        </p:nvPicPr>
        <p:blipFill>
          <a:blip r:embed="rId2"/>
          <a:stretch>
            <a:fillRect/>
          </a:stretch>
        </p:blipFill>
        <p:spPr>
          <a:xfrm>
            <a:off x="2601133" y="1524000"/>
            <a:ext cx="4191733" cy="4167300"/>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OWASP API Security Top 10 (2023); NIST SP 800-207 (2020).</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22 / 32</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Canal seguro: límites</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TLS: </a:t>
            </a:r>
            <a:r>
              <a:rPr sz="2200" b="0">
                <a:solidFill>
                  <a:srgbClr val="1B2738"/>
                </a:solidFill>
                <a:latin typeface="Lato"/>
              </a:rPr>
              <a:t>protege en tránsito, no en el cliente.</a:t>
            </a:r>
          </a:p>
          <a:p>
            <a:pPr>
              <a:lnSpc>
                <a:spcPct val="102000"/>
              </a:lnSpc>
              <a:spcAft>
                <a:spcPts val="400"/>
              </a:spcAft>
            </a:pPr>
            <a:r>
              <a:rPr sz="2200" b="1">
                <a:solidFill>
                  <a:srgbClr val="1B2738"/>
                </a:solidFill>
                <a:latin typeface="Lato"/>
              </a:rPr>
              <a:t>Gateway: </a:t>
            </a:r>
            <a:r>
              <a:rPr sz="2200" b="0">
                <a:solidFill>
                  <a:srgbClr val="1B2738"/>
                </a:solidFill>
                <a:latin typeface="Lato"/>
              </a:rPr>
              <a:t>throttling, WAF, validación de firma, revocación.</a:t>
            </a:r>
          </a:p>
          <a:p>
            <a:pPr>
              <a:lnSpc>
                <a:spcPct val="102000"/>
              </a:lnSpc>
              <a:spcAft>
                <a:spcPts val="400"/>
              </a:spcAft>
            </a:pPr>
            <a:r>
              <a:rPr sz="2200" b="1">
                <a:solidFill>
                  <a:srgbClr val="1B2738"/>
                </a:solidFill>
                <a:latin typeface="Lato"/>
              </a:rPr>
              <a:t>Error común: </a:t>
            </a:r>
            <a:r>
              <a:rPr sz="2200" b="0">
                <a:solidFill>
                  <a:srgbClr val="1B2738"/>
                </a:solidFill>
                <a:latin typeface="Lato"/>
              </a:rPr>
              <a:t>microservicios confían ciegamente.</a:t>
            </a:r>
          </a:p>
          <a:p>
            <a:pPr>
              <a:lnSpc>
                <a:spcPct val="102000"/>
              </a:lnSpc>
              <a:spcAft>
                <a:spcPts val="400"/>
              </a:spcAft>
            </a:pPr>
            <a:r>
              <a:rPr sz="2200" b="1">
                <a:solidFill>
                  <a:srgbClr val="1B2738"/>
                </a:solidFill>
                <a:latin typeface="Lato"/>
              </a:rPr>
              <a:t>Zero Trust: </a:t>
            </a:r>
            <a:r>
              <a:rPr sz="2200" b="0">
                <a:solidFill>
                  <a:srgbClr val="1B2738"/>
                </a:solidFill>
                <a:latin typeface="Lato"/>
              </a:rPr>
              <a:t>propagar claims, autorizar en cada capa.</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ARQUITECTURA</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OWASP API Top 10 (2023); NIST SP 800-207 (2020).</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23 / 32</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ID Uruguay</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400" b="1">
                <a:solidFill>
                  <a:srgbClr val="1B2738"/>
                </a:solidFill>
                <a:latin typeface="Lato"/>
              </a:rPr>
              <a:t>OIDC con bearer tokens: </a:t>
            </a:r>
            <a:r>
              <a:rPr sz="2400" b="0">
                <a:solidFill>
                  <a:srgbClr val="1B2738"/>
                </a:solidFill>
                <a:latin typeface="Lato"/>
              </a:rPr>
              <a:t>tokens de larga vida sin rotación.</a:t>
            </a:r>
          </a:p>
          <a:p>
            <a:pPr>
              <a:lnSpc>
                <a:spcPct val="102000"/>
              </a:lnSpc>
              <a:spcAft>
                <a:spcPts val="400"/>
              </a:spcAft>
            </a:pPr>
            <a:r>
              <a:rPr sz="2400" b="1">
                <a:solidFill>
                  <a:srgbClr val="1B2738"/>
                </a:solidFill>
                <a:latin typeface="Lato"/>
              </a:rPr>
              <a:t>SPAs con token en localStorage: </a:t>
            </a:r>
            <a:r>
              <a:rPr sz="2400" b="0">
                <a:solidFill>
                  <a:srgbClr val="1B2738"/>
                </a:solidFill>
                <a:latin typeface="Lato"/>
              </a:rPr>
              <a:t>robo por XSS.</a:t>
            </a:r>
          </a:p>
          <a:p>
            <a:pPr>
              <a:lnSpc>
                <a:spcPct val="102000"/>
              </a:lnSpc>
              <a:spcAft>
                <a:spcPts val="400"/>
              </a:spcAft>
            </a:pPr>
            <a:r>
              <a:rPr sz="2400" b="1">
                <a:solidFill>
                  <a:srgbClr val="1B2738"/>
                </a:solidFill>
                <a:latin typeface="Lato"/>
              </a:rPr>
              <a:t>Mitigaciones: </a:t>
            </a:r>
            <a:r>
              <a:rPr sz="2400" b="0">
                <a:solidFill>
                  <a:srgbClr val="1B2738"/>
                </a:solidFill>
                <a:latin typeface="Lato"/>
              </a:rPr>
              <a:t>DPoP, PKCE, Step-Up para operaciones sensibles.</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CASO URUGUAY</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AGESIC / ID Uruguay; OWASP.</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24 / 32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Tres actions</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400" b="1">
                <a:solidFill>
                  <a:srgbClr val="1B2738"/>
                </a:solidFill>
                <a:latin typeface="Lato"/>
              </a:rPr>
              <a:t>Uno: </a:t>
            </a:r>
            <a:r>
              <a:rPr sz="2400" b="0">
                <a:solidFill>
                  <a:srgbClr val="1B2738"/>
                </a:solidFill>
                <a:latin typeface="Lato"/>
              </a:rPr>
              <a:t>auditar la vida de los tokens.</a:t>
            </a:r>
          </a:p>
          <a:p>
            <a:pPr>
              <a:lnSpc>
                <a:spcPct val="102000"/>
              </a:lnSpc>
              <a:spcAft>
                <a:spcPts val="400"/>
              </a:spcAft>
            </a:pPr>
            <a:r>
              <a:rPr sz="2400" b="1">
                <a:solidFill>
                  <a:srgbClr val="1B2738"/>
                </a:solidFill>
                <a:latin typeface="Lato"/>
              </a:rPr>
              <a:t>Dos: </a:t>
            </a:r>
            <a:r>
              <a:rPr sz="2400" b="0">
                <a:solidFill>
                  <a:srgbClr val="1B2738"/>
                </a:solidFill>
                <a:latin typeface="Lato"/>
              </a:rPr>
              <a:t>revisar almacenamiento en clientes.</a:t>
            </a:r>
          </a:p>
          <a:p>
            <a:pPr>
              <a:lnSpc>
                <a:spcPct val="102000"/>
              </a:lnSpc>
              <a:spcAft>
                <a:spcPts val="400"/>
              </a:spcAft>
            </a:pPr>
            <a:r>
              <a:rPr sz="2400" b="1">
                <a:solidFill>
                  <a:srgbClr val="1B2738"/>
                </a:solidFill>
                <a:latin typeface="Lato"/>
              </a:rPr>
              <a:t>Tres: </a:t>
            </a:r>
            <a:r>
              <a:rPr sz="2400" b="0">
                <a:solidFill>
                  <a:srgbClr val="1B2738"/>
                </a:solidFill>
                <a:latin typeface="Lato"/>
              </a:rPr>
              <a:t>identificar operaciones sensibles para Step-Up.</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CIERRE</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OWASP API Top 10 (2023); RFC 9700 (2025).</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25 / 32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El token se acaba. El riesgo no.</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400" b="1">
                <a:solidFill>
                  <a:srgbClr val="1B2738"/>
                </a:solidFill>
                <a:latin typeface="Lato"/>
              </a:rPr>
              <a:t>Autenticar es la puerta. </a:t>
            </a:r>
            <a:r>
              <a:rPr sz="2400" b="0">
                <a:solidFill>
                  <a:srgbClr val="1B2738"/>
                </a:solidFill>
                <a:latin typeface="Lato"/>
              </a:rPr>
              <a:t>Autorizar es la cerradura.</a:t>
            </a:r>
          </a:p>
          <a:p>
            <a:pPr>
              <a:lnSpc>
                <a:spcPct val="102000"/>
              </a:lnSpc>
              <a:spcAft>
                <a:spcPts val="400"/>
              </a:spcAft>
            </a:pPr>
            <a:r>
              <a:rPr sz="2400" b="1">
                <a:solidFill>
                  <a:srgbClr val="1B2738"/>
                </a:solidFill>
                <a:latin typeface="Lato"/>
              </a:rPr>
              <a:t>El token bearer es el presente. </a:t>
            </a:r>
            <a:r>
              <a:rPr sz="2400" b="0">
                <a:solidFill>
                  <a:srgbClr val="1B2738"/>
                </a:solidFill>
                <a:latin typeface="Lato"/>
              </a:rPr>
              <a:t>El sender-constrained es el siguiente paso.</a:t>
            </a:r>
          </a:p>
          <a:p>
            <a:pPr>
              <a:lnSpc>
                <a:spcPct val="102000"/>
              </a:lnSpc>
              <a:spcAft>
                <a:spcPts val="400"/>
              </a:spcAft>
            </a:pPr>
            <a:r>
              <a:rPr sz="2400" b="1">
                <a:solidFill>
                  <a:srgbClr val="1B2738"/>
                </a:solidFill>
                <a:latin typeface="Lato"/>
              </a:rPr>
              <a:t>La seguridad no está en el string: </a:t>
            </a:r>
            <a:r>
              <a:rPr sz="2400" b="0">
                <a:solidFill>
                  <a:srgbClr val="1B2738"/>
                </a:solidFill>
                <a:latin typeface="Lato"/>
              </a:rPr>
              <a:t>está en el sistema.</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CIERRE</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OWASP; RFC 9449; RFC 9700.</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26 / 32</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Del bearer al sender-constrained</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ANEXO</a:t>
            </a:r>
          </a:p>
        </p:txBody>
      </p:sp>
      <p:pic>
        <p:nvPicPr>
          <p:cNvPr id="5" name="Picture 4" descr="07_sender_constrained.png"/>
          <p:cNvPicPr>
            <a:picLocks noChangeAspect="1"/>
          </p:cNvPicPr>
          <p:nvPr/>
        </p:nvPicPr>
        <p:blipFill>
          <a:blip r:embed="rId2"/>
          <a:stretch>
            <a:fillRect/>
          </a:stretch>
        </p:blipFill>
        <p:spPr>
          <a:xfrm>
            <a:off x="571550" y="1583231"/>
            <a:ext cx="8250900" cy="4048837"/>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8471-8473 (2018); RFC 8705 (2020); RFC 9449 (2023).</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27 / 32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Los flujos de OAuth</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ANEXO</a:t>
            </a:r>
          </a:p>
        </p:txBody>
      </p:sp>
      <p:pic>
        <p:nvPicPr>
          <p:cNvPr id="5" name="Picture 4" descr="08_oauth_flows.png"/>
          <p:cNvPicPr>
            <a:picLocks noChangeAspect="1"/>
          </p:cNvPicPr>
          <p:nvPr/>
        </p:nvPicPr>
        <p:blipFill>
          <a:blip r:embed="rId2"/>
          <a:stretch>
            <a:fillRect/>
          </a:stretch>
        </p:blipFill>
        <p:spPr>
          <a:xfrm>
            <a:off x="732711" y="1524000"/>
            <a:ext cx="7928578" cy="4167299"/>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6749 (2012); RFC 7636 (2015).</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28 / 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La pila de protocolos</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ANEXO</a:t>
            </a:r>
          </a:p>
        </p:txBody>
      </p:sp>
      <p:pic>
        <p:nvPicPr>
          <p:cNvPr id="5" name="Picture 4" descr="09_protocol_stack.png"/>
          <p:cNvPicPr>
            <a:picLocks noChangeAspect="1"/>
          </p:cNvPicPr>
          <p:nvPr/>
        </p:nvPicPr>
        <p:blipFill>
          <a:blip r:embed="rId2"/>
          <a:stretch>
            <a:fillRect/>
          </a:stretch>
        </p:blipFill>
        <p:spPr>
          <a:xfrm>
            <a:off x="732711" y="1524000"/>
            <a:ext cx="7928578" cy="4167299"/>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OWASP; IETF.</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29 / 32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El ciclo de vida del token</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ANEXO</a:t>
            </a:r>
          </a:p>
        </p:txBody>
      </p:sp>
      <p:pic>
        <p:nvPicPr>
          <p:cNvPr id="5" name="Picture 4" descr="10_lifecycle.png"/>
          <p:cNvPicPr>
            <a:picLocks noChangeAspect="1"/>
          </p:cNvPicPr>
          <p:nvPr/>
        </p:nvPicPr>
        <p:blipFill>
          <a:blip r:embed="rId2"/>
          <a:stretch>
            <a:fillRect/>
          </a:stretch>
        </p:blipFill>
        <p:spPr>
          <a:xfrm>
            <a:off x="2601280" y="1524000"/>
            <a:ext cx="4191440" cy="4167300"/>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6749; RFC 7009; RFC 9700.</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30 / 32</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OWASP API Top 10</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ANEXO</a:t>
            </a:r>
          </a:p>
        </p:txBody>
      </p:sp>
      <p:pic>
        <p:nvPicPr>
          <p:cNvPr id="5" name="Picture 4" descr="11_owasp_top10.png"/>
          <p:cNvPicPr>
            <a:picLocks noChangeAspect="1"/>
          </p:cNvPicPr>
          <p:nvPr/>
        </p:nvPicPr>
        <p:blipFill>
          <a:blip r:embed="rId2"/>
          <a:stretch>
            <a:fillRect/>
          </a:stretch>
        </p:blipFill>
        <p:spPr>
          <a:xfrm>
            <a:off x="1259074" y="1524000"/>
            <a:ext cx="6875851" cy="4167300"/>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OWASP API Security Top 10, edición 2023.</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31 / 32</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Arquitectura de referencia</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ANEXO</a:t>
            </a:r>
          </a:p>
        </p:txBody>
      </p:sp>
      <p:pic>
        <p:nvPicPr>
          <p:cNvPr id="5" name="Picture 4" descr="12_reference_arch.png"/>
          <p:cNvPicPr>
            <a:picLocks noChangeAspect="1"/>
          </p:cNvPicPr>
          <p:nvPr/>
        </p:nvPicPr>
        <p:blipFill>
          <a:blip r:embed="rId2"/>
          <a:stretch>
            <a:fillRect/>
          </a:stretch>
        </p:blipFill>
        <p:spPr>
          <a:xfrm>
            <a:off x="979484" y="1524000"/>
            <a:ext cx="7435032" cy="4167299"/>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OWASP; NIST SP 800-207.</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32 / 32</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El ecosistema completo</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ANEXO</a:t>
            </a:r>
          </a:p>
        </p:txBody>
      </p:sp>
      <p:pic>
        <p:nvPicPr>
          <p:cNvPr id="5" name="Picture 4" descr="d_circles.png"/>
          <p:cNvPicPr>
            <a:picLocks noChangeAspect="1"/>
          </p:cNvPicPr>
          <p:nvPr/>
        </p:nvPicPr>
        <p:blipFill>
          <a:blip r:embed="rId2"/>
          <a:stretch>
            <a:fillRect/>
          </a:stretch>
        </p:blipFill>
        <p:spPr>
          <a:xfrm>
            <a:off x="1958532" y="1524000"/>
            <a:ext cx="5476936" cy="4167300"/>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OWASP API Security Top 10 (2023).</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33 / 32</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La familia de tokens en detalle</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ANEXO</a:t>
            </a:r>
          </a:p>
        </p:txBody>
      </p:sp>
      <p:pic>
        <p:nvPicPr>
          <p:cNvPr id="5" name="Picture 4" descr="d_family.png"/>
          <p:cNvPicPr>
            <a:picLocks noChangeAspect="1"/>
          </p:cNvPicPr>
          <p:nvPr/>
        </p:nvPicPr>
        <p:blipFill>
          <a:blip r:embed="rId2"/>
          <a:stretch>
            <a:fillRect/>
          </a:stretch>
        </p:blipFill>
        <p:spPr>
          <a:xfrm>
            <a:off x="571550" y="1533043"/>
            <a:ext cx="8250899" cy="4149214"/>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6749 §4.1 y §5 (2012); OIDC Core (2014).</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34 / 32</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JWT en detalle</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ANEXO</a:t>
            </a:r>
          </a:p>
        </p:txBody>
      </p:sp>
      <p:pic>
        <p:nvPicPr>
          <p:cNvPr id="5" name="Picture 4" descr="d_jwt.png"/>
          <p:cNvPicPr>
            <a:picLocks noChangeAspect="1"/>
          </p:cNvPicPr>
          <p:nvPr/>
        </p:nvPicPr>
        <p:blipFill>
          <a:blip r:embed="rId2"/>
          <a:stretch>
            <a:fillRect/>
          </a:stretch>
        </p:blipFill>
        <p:spPr>
          <a:xfrm>
            <a:off x="571550" y="1527050"/>
            <a:ext cx="8250899" cy="4161199"/>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7519 (2015); RFC 8725 (2020).</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35 / 32</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MFA en detalle</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ANEXO</a:t>
            </a:r>
          </a:p>
        </p:txBody>
      </p:sp>
      <p:pic>
        <p:nvPicPr>
          <p:cNvPr id="5" name="Picture 4" descr="d_mfa.png"/>
          <p:cNvPicPr>
            <a:picLocks noChangeAspect="1"/>
          </p:cNvPicPr>
          <p:nvPr/>
        </p:nvPicPr>
        <p:blipFill>
          <a:blip r:embed="rId2"/>
          <a:stretch>
            <a:fillRect/>
          </a:stretch>
        </p:blipFill>
        <p:spPr>
          <a:xfrm>
            <a:off x="571550" y="1689113"/>
            <a:ext cx="8250899" cy="3837073"/>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NIST SP 800-63-4 (julio 2025); OIDC Core (2014).</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36 / 32</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OWASP Top 10 en detalle</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ANEXO</a:t>
            </a:r>
          </a:p>
        </p:txBody>
      </p:sp>
      <p:pic>
        <p:nvPicPr>
          <p:cNvPr id="5" name="Picture 4" descr="d_owasp.png"/>
          <p:cNvPicPr>
            <a:picLocks noChangeAspect="1"/>
          </p:cNvPicPr>
          <p:nvPr/>
        </p:nvPicPr>
        <p:blipFill>
          <a:blip r:embed="rId2"/>
          <a:stretch>
            <a:fillRect/>
          </a:stretch>
        </p:blipFill>
        <p:spPr>
          <a:xfrm>
            <a:off x="997720" y="1524000"/>
            <a:ext cx="7398560" cy="4167299"/>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OWASP API Security Top 10, edición 2023.</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37 / 32</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DPoP en detalle</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ANEXO</a:t>
            </a:r>
          </a:p>
        </p:txBody>
      </p:sp>
      <p:pic>
        <p:nvPicPr>
          <p:cNvPr id="5" name="Picture 4" descr="d_pop.png"/>
          <p:cNvPicPr>
            <a:picLocks noChangeAspect="1"/>
          </p:cNvPicPr>
          <p:nvPr/>
        </p:nvPicPr>
        <p:blipFill>
          <a:blip r:embed="rId2"/>
          <a:stretch>
            <a:fillRect/>
          </a:stretch>
        </p:blipFill>
        <p:spPr>
          <a:xfrm>
            <a:off x="571550" y="1527050"/>
            <a:ext cx="8250899" cy="4161199"/>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9449 (2023).</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38 / 32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Refresh token en detalle</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ANEXO</a:t>
            </a:r>
          </a:p>
        </p:txBody>
      </p:sp>
      <p:pic>
        <p:nvPicPr>
          <p:cNvPr id="5" name="Picture 4" descr="d_refresh.png"/>
          <p:cNvPicPr>
            <a:picLocks noChangeAspect="1"/>
          </p:cNvPicPr>
          <p:nvPr/>
        </p:nvPicPr>
        <p:blipFill>
          <a:blip r:embed="rId2"/>
          <a:stretch>
            <a:fillRect/>
          </a:stretch>
        </p:blipFill>
        <p:spPr>
          <a:xfrm>
            <a:off x="571550" y="1527050"/>
            <a:ext cx="8250899" cy="4161199"/>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6749 §10.4 (2012); RFC 7009 (2013); RFC 9700 (2025).</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39 / 32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Transporte del token en detalle</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ANEXO</a:t>
            </a:r>
          </a:p>
        </p:txBody>
      </p:sp>
      <p:pic>
        <p:nvPicPr>
          <p:cNvPr id="5" name="Picture 4" descr="d_transport.png"/>
          <p:cNvPicPr>
            <a:picLocks noChangeAspect="1"/>
          </p:cNvPicPr>
          <p:nvPr/>
        </p:nvPicPr>
        <p:blipFill>
          <a:blip r:embed="rId2"/>
          <a:stretch>
            <a:fillRect/>
          </a:stretch>
        </p:blipFill>
        <p:spPr>
          <a:xfrm>
            <a:off x="571550" y="1527050"/>
            <a:ext cx="8250899" cy="4161199"/>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6750 §2 (2012); RFC 9700 (enero 2025).</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40 / 32</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WASP Uruguay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2026-05-21T00:46:05Z</dcterms:created>
  <dc:creator>Sebastián Passaro (duraznito)</dc:creator>
</cp:coreProperties>
</file>