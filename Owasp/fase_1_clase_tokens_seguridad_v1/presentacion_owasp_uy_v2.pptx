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título juega con «al infinito y más allá», y no es casual. Voy a hablar de algo que parece no acabarse nunca —un token que se emite una vez y parece vivir para siempre— y de lo que hay más allá de él. Pero sobre todo, vamos a hablar de algo que genera mucha confusión: qué es y qué NO es la seguridad con bearer token. No por tener un endpoint con bearer algo es seguro. Hay que entender qué aspects están contemplados y cuáles no.</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bearer token es un artefacto de seguridad cuya posesión equivale a autorización. La palabra «bearer» viene del derecho mercantil: un instrumento al portador da derecho a quien lo tiene en la mano, sin acreditar identidad. Si perdés un billete, quien lo levanta lo gasta. Si se filtra un token, quien lo tiene lo usa. No es que el token esté mal hecho: está hecho así a propósito. Eso ES la seguridad con bearer: un sistema donde la posesión del artefacto es la única prueba.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Ahora, ¿qué NO es? Primero: el bearer token NO autentica al usuario. Autenticar fue el paso anterior, en el login. El token NO cifra los datos: si es un JWT, el payload está en base64, que cualquiera lee. NO autoriza por sí solo: la autorización es otro capítulo. NO es un mecanismo anti-replay: si lo interceptás, lo podés reutilizar. NO es MFA: la multifactor protege el momento de la emisión, no los treinta días siguientes. Tener esto claro es el punto de partida.</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Nada de esto vive aislado. Alrededor del token hay un sistema entero: un gateway que enruta y aplica cuotas; un IAM que administra identidades; la MFA que protege el login; el rate limiting que frena la fuerza bruta; un WAF que filtra ataques; OAuth y OIDC como marco; el JWT como formato; los scopes y modelos como RBAC o ABAC; un secret manager para las claves; mTLS y DPoP para atar el token a su portador; la observabilidad para ver qué pasa; y Zero Trust como filosofía. Si miramos el token aislado, no entendemos nada. La seguridad de una API es la suma de todas estas piezas, no del token solo.</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Antes de seguir, aclaremos una cosa: no todas las APIs son REST. REST trabaja con recursos y trae el riesgo de BOLA e IDOR. GraphQL expone un solo endpoint y trae consultas profundas y sobre-exposición de campos. gRPC es binario y rápido, pero los proxies y WAF no lo inspeccionan fácil. SOAP usa XML y arrastra XXE. WebSocket abre un canal persistente y suele autenticar solo al inicio. Y los webhooks y los eventos son push: si no los firmás y validás la URL, tenés SSRF y replay. La receta de REST no se copia y pega: cada estilo necesita su propio modelo de seguridad.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Todo empieza con HTTP sin estado. La primera solución fue mandar usuario y contraseña en cada petición: Basic, dentro del marco de autenticación de HTTP estandarizado en el RFC 2617, de junio de 1999. Basic codifica en Base64 —que no es cifrado— y Digest manda un hash con un nonce. Pero las credenciales siguen viajando en cada request. El segundo intentó fue no mandar credenciales, sino un identificador de sesión: la cookie, de Netscape (1996), que de hecho es anterior a la estandarización de Digest, y que recién se estandarizó en el RFC 6265, en abril de 2011. El estado queda en el servidor.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el mundo enterprise, SAML 2.0, estándar OASIS de marzo de 2005, y WS-Security de 2004 usaban aserciones XML firmadas: eran, en rigor, más seguros que un bearer. El problema no era la seguridad, era el peso. Después llegó OAuth 1.0, especificación comunitaria de diciembre de 2007 y RFC 5849 en abril de 2010: no mandaba ningún token copiable, firmaba cada request con HMAC-SHA1. Robar una petición no servía. Pero canonicalizar parámetros y compartir secretos entre cada par de servicios era una pesadilla, sobre todo en móviles.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Este es el dato histórico que casi nadie cuenta: OAuth 2.0 no nació siendo solo bearer. RFC 6749, de octubre de 2012, definía dos tipos: bearer y mac. El tipo mac firmaba componentes de cada request, igual que OAuth 1.0 o que DPoP después. Pero ese borrador nunca llegó a RFC: se abandonó. El ecosistema eligió la simplicidad, y con él llegó RFC 6750. La firma por request era técnicamente superior; el costo de implementación decidió la historia.</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error común es hablar de «el token» como si fuera uno solo. En un flujo moderno nacen hasta cuatro artefactos distintos. El authorization code es un cupón de un solo uso que viaja por el navegador. El access token es el que se presenta ante la API: vida corta, alcance limitado. El refresh token es de vida larga y solo sirve contra el endpoint de token, nunca contra la API. Y el ID token, de OpenID Connect, dice quién es la persona y cómo se autenticó: no sirve para acceder a recursos. Confundir estos roles es el origen de la mayoría de las fallas.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Pongámoslo en una tabla. El código de autorización es de un solo uso y viaja por el navegador. El access token viaja en cada request a la API y debe vivir minutos u horas. El refresh token vive semanas o meses, pero solo se presenta al endpoint de token. El ID token va a la aplicación cliente, no a la API. Regla para escribir en grande: el refresh token jamás viaja a la API de recursos, y el access token jamás se usa para refrescar. Son mundos distintos: recursos contra emisión.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JWT son tres partes separadas por puntos, cada una en base64url. Cuidado con el error clásico: base64 no es cifrado, cualquiera lee el payload. Es como una credencial plastificada: firmada, no sellada; si necesitás confidencialidad, va JWE. El header lleva el algoritmo, y ahí nace una familia entera de ataques: si el receptor decide cómo verificar según lo que dice el token, un atacante elige el algoritmo. La regla, de RFC 8725 y de OWASP: la política de verificación sale de la configuración, nunca del mensaje.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claims son el contenido. iss dice quién lo emitió; hay que validarlo contra emisores confiables. aud dice para quién es: es el claim que responde a la pregunta de la norma, porque si validás aud estrictamente, un token robado emitido para otra app no te sirve. exp y nbf dicen si está vigente. scope dice qué puede hacer. Y amr y acr, de RFC 8176, dicen cómo se autenticó: son el puente entre «pasó la MFA» y «el token lo sabe».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2012, RFC 6750 aceptaba tres transportes: cabecera, cuerpo y parámetro de query. Trece años después, RFC 9700, las mejores prácticas de enero de 2025, prohíbe transportar access tokens en URIs. ¿Por qué el cambio? Porque trece años de logs, de cabeceras Referer, de historiales y de CDN nos enseñaron dónde terminan los tokens que van en una URL. La cabecera no la manda el navegador sola: es inmune a CSRF. La cookie protege de XSS con HttpOnly, pero exige mitigar CSRF.</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Esta es la idea que justifica el título. La autenticación multifactor no ocurre en la API: ocurre en el momento de la emisión. Después de la MFA, todo lo que la API recibe es un string. El flujo real es: contraseña, MFA en el servidor de autenticación, emisión de tokens y, al final, un access token. La API no sabe, y no puede saber, si hubo MFA; solo lo sabe si el emisor puso amr y acr en el token y el validador los revisa. La MFA protege la generación del artefacto, no su posesión posterior.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en su guía de identidad vigente de julio de 2025, dice algo clave: no todos los autenticadores dan la misma garantía, y el nivel debe ligarse al riesgo. AAL2 exige dos factores de tipos distintos; AAL3 exige prueba criptográfica de posesión de una clave en hardware. WebAuthn y las passkeys, recomendación W3C de 2019, resisten el phishing por diseño: el desafío está atado al origen. Un OTP se puede phishear en tiempo real, y el SMS es el más débil. Y el step-up, con acr y amr, permite pedir más garantía solo para la operación sensible.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Hay tres familias de ataque que la MFA no cubre, porque atacan después de la emisión. Uno: fatiga de MFA, o push bombing —MITRE lo cataloga como T1621—: el atacante ya tiene la contraseña y dispara pushes hasta que la víctima aprueba. Dos: phishing adversary-in-the-middle: ya no roba la contraseña, intercepta la sesión completa que resultó de la MFA. Tres: infostealers, malware que extrae cookies y tokens del navegador y los reutiliza en otro equipo; se llama pass-the-cookie. En los tres, la MFA hizo su trabajo; el problema es que el artefacto se reutiliza.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Ahora el otro lado, donde está la mayoría del tráfico real. Cuando la API la invoca un microservicio, un job de CI o un dispositivo, la pregunta «¿quién es el usuario?» no tiene respuesta, porque no hay usuario. Y no hay MFA aplicable: no hay segundo factor que mostrar. La pregunta correcta es: ¿qué workload es este, con qué credencial de ciclo de vida corto y bajo qué contexto habla? El equivalente funcional del MFA para un sistema no es un segundo factor puntual: es una identidad de workload fuerte, verificable y de vida corta.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Pongamos las dos columnas juntas. Para la persona probamos que un humano se autenticó ante un proveedor de identidad; el segundo factor es una passkey, un OTP o un push; el artefacto es una sesión más un access token corto; y el fallo típico es fatiga, AiTM o robo de sesión. Para el sistema probamos que un workload concreto pidió el token; no hay segundo factor; el artefacto es un token corto o una credencial efímera; y el fallo típico son secretos eternos en repos y CI. Aplicar el marco de uno al otro es el error más caro de la disciplina.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nos da el mapa de lo que puede salir mal. Arriba de todo, Api1: BOLA, autorización a nivel de objeto. Sigue Api2, autenticación rota; Api3, exposición de propiedades, también llamado mass assignment; Api4, consumo sin límites; Api5, autorización a nivel de función; Api6, flujos de negocio sensibles; Api7, SSRF; Api8, mala configuración; Api9, inventario impropio; y Api10, consumo inseguro de terceros. Ninguno de estos es «el token»: son el sistema alrededor del token. Por eso el token perfecto no alcanza.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resuelve la entrada, pero el edificio tiene más habitaciones. Primero, la autorización a nivel de objeto: que puedas ver el pedido 5678 y no solo el 1234. Segundo, la validación de entrada: inyección, SSRF, deserialización, mass assignment. Tercero, el gateway y el control de tráfico: cuotas, rate limiting y gestión de bots. Cuarto, el inventario: versiones viejas y APIs fantasma que siguen vivas. Quinto, la cadena de suministro: secretos en CI y dependencias de terceros. Y sexto, privacidad y cumplimiento: qué datos personales tratás y qué te exige la norma, incluida la de Uruguay. El token perfecto no tapa ninguna de estas habitaciones.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casos que siguen son divulgaciones públicas y responsables; no vamos a señalar a nadie, vamos a observar el modelo. Facebook, 2018: la función «View As» generó un access token del usuario consultado, no del espectador, y lo dejó embebido en el HTML; se resetearon unos 90 millones de cuentas. Okta y Cloudflare, 2023: en el ataque al sistema de soporte de Okta, un session token de un ticket se extrajo y siguió sirviendo, porque no se rotó ni se revocó a tiempo. En enero de 2022 Okta ya había sufrido otro incidente; en aquel caso Cloudflare no fue impactado gracias a sus llaves de hardware. Codecov, 2021: un script modificado exportó las variables de entorno del CI y con ellas los tokens y claves. En los tres, el token no falló: funcionó como fue diseñado.</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Uber, 2022: credenciales de un contratista compradas en un foro, un SMS que simulaba al área de IT y la aprobación del push; la MFA protegió el instante, pero la sesión se reutilizó. BOLA: el atacante presenta su propio token, válido y con MFA si quieren, y cambia el identificador del objeto en la URL; funciona, y se estima que ronda el 40 % de los ataques a APIs. Y las clases de JWT mal validado: alg:none, confusión RS256 a HS256, inyección de kid. Ninguna es culpa del string: son fallas de emisión, autorización o verificación.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 el problema es que cualquiera que tenga el token lo usa, la solución es exigir algo más que la posesión. Hay dos caminos estandarizados. mTLS más token atado al certificado, RFC 8705 de 2020: el token queda ligado al certificado del cliente, así que robarlo no alcanza sin el par de claves. Y DPoP, RFC 9449 de octubre de 2023: el cliente firma cada request con su clave privada, con un jti único y los datos del método y la URL. No necesita PKI. Y esto ya no es opcional: RFC 9700, de 2025, recomienda tokens sender-constrained donde sea posible.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refresh token es el que renueva sin volver a pedir permiso, y su mejor defensa es la rotación: cada vez que se usa, se emite uno nuevo y el viejo se invalida. Si un atacante lo usa, el legítimo lo delata en el siguiente intento. RFC 6749 lo sugería en 2012; RFC 9700 lo vuelve obligatorio para clientes públicos. Y para lo que hay que cortar antes de tiempo está la revocación, RFC 7009 de 2013; y para tokens opacos, la introspección, RFC 7662. Regla de oro: no podés tener a la vez un JWT de larga vida y la capacidad de revocarlo. Elegí uno.</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Una pregunta común: ¿la seguridad va en el gateway o en la API? La respuesta es: en ambos, pero con roles distintos. El gateway es el portero: aplica rate limiting, WAF, autenticación básica y geolocalización. La API es el dueño de la casa: valida el token, verifica la autorización por objeto, aplica la lógica de negocio. Si todo lo delegás al gateway, la API queda desprotegida ante ataques internos. Si todo lo ponés en la API, repites lógica en cada servicio. La regla: el gateway filtra, la API decide.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Juntemos las prácticas. Vida corta y audiencia estricta para el access token; rotación y revocación para el refresh; scopes mínimos; y observabilidad: ¿este token se usa desde dos países a la vez? Para las máquinas, la regla es secreto en un secret manager, rotación automática y nada de claves eternas en repos ni en variables de entorno. Y recordá el dato que le da urgencia a todo esto: la mayoría de los secretos filtrados no son contraseñas de personas, son credenciales de sistemas, y más del 60 % de los secretos válidos detectados en 2022 seguían activos años después.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Ocho preguntas para llevarse. Uno: ¿el algoritmo de verificación sale de la configuración y no del token? Dos: ¿validás issuer, audiencia y expiración con tolerancia de reloj corta? Tres: ¿el access token vive lo que debe vivir? Cuatro: ¿hay rotación y revocación de refresh? Cinco: ¿la autorización a nivel de objeto está resuelta, o solo la autenticación? Seis: ¿el token viaja en cabecera y nunca en la URL? Siete: ¿las identidades de máquina usan credenciales de vida corta y rotación? Ocho: ¿qué queda en los logs? Si alguna respuesta te incomoda, ahí está tu próximo trabajo.</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Cerremos con tres ideas. Primero: el bearer token es finito: se emite, se roba, se reutiliza y debe morir; medí su vida, rotalo, revocalo, porque la ausencia de expiración ya es una vulnerabilidad. Segundo: la MFA protege el momento de la emisión, no los treinta días siguientes; diseñá para el robo de artefactos, no solo para el robo de contraseñas; y si tu invocador es un sistema, no busques un MFA, buscá identidad de workload de vida corta. Tercero: autenticar es la puerta; autorizar es la cerradura; un token perfecto no impide BOLA. Al fin(ito) y más allá: la seguridad nunca estuvo en el string, estuvo siempre en el sistema. Gracias.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Qué es (y qué NO es) la seguridad con bearer token</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Más allá del token: el sistema completo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733" b="1">
                <a:solidFill>
                  <a:srgbClr val="1B2738"/>
                </a:solidFill>
                <a:latin typeface="Lato"/>
              </a:rPr>
              <a:t>Un billete al portador: quien lo tiene, entra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Posesión = autorización. </a:t>
            </a:r>
            <a:r>
              <a:rPr sz="2200" b="0">
                <a:solidFill>
                  <a:srgbClr val="1B2738"/>
                </a:solidFill>
                <a:latin typeface="Lato"/>
              </a:rPr>
              <a:t>No se verifica la identidad del portador.</a:t>
            </a:r>
          </a:p>
          <a:p>
            <a:pPr>
              <a:lnSpc>
                <a:spcPct val="102000"/>
              </a:lnSpc>
              <a:spcAft>
                <a:spcPts val="400"/>
              </a:spcAft>
            </a:pPr>
            <a:r>
              <a:rPr sz="2200" b="1">
                <a:solidFill>
                  <a:srgbClr val="1B2738"/>
                </a:solidFill>
                <a:latin typeface="Lato"/>
              </a:rPr>
              <a:t>«Bearer» viene del derecho mercantil: </a:t>
            </a:r>
            <a:r>
              <a:rPr sz="2200" b="0">
                <a:solidFill>
                  <a:srgbClr val="1B2738"/>
                </a:solidFill>
                <a:latin typeface="Lato"/>
              </a:rPr>
              <a:t>instrumento al portador.</a:t>
            </a:r>
          </a:p>
          <a:p>
            <a:pPr>
              <a:lnSpc>
                <a:spcPct val="102000"/>
              </a:lnSpc>
              <a:spcAft>
                <a:spcPts val="400"/>
              </a:spcAft>
            </a:pPr>
            <a:r>
              <a:rPr sz="2200" b="1">
                <a:solidFill>
                  <a:srgbClr val="1B2738"/>
                </a:solidFill>
                <a:latin typeface="Lato"/>
              </a:rPr>
              <a:t>Si se pierde el billete, </a:t>
            </a:r>
            <a:r>
              <a:rPr sz="2200" b="0">
                <a:solidFill>
                  <a:srgbClr val="1B2738"/>
                </a:solidFill>
                <a:latin typeface="Lato"/>
              </a:rPr>
              <a:t>quien lo levanta lo gasta.</a:t>
            </a:r>
          </a:p>
          <a:p>
            <a:pPr>
              <a:lnSpc>
                <a:spcPct val="102000"/>
              </a:lnSpc>
              <a:spcAft>
                <a:spcPts val="400"/>
              </a:spcAft>
            </a:pPr>
            <a:r>
              <a:rPr sz="2200" b="1">
                <a:solidFill>
                  <a:srgbClr val="1B2738"/>
                </a:solidFill>
                <a:latin typeface="Lato"/>
              </a:rPr>
              <a:t>Si se filtra el token, </a:t>
            </a:r>
            <a:r>
              <a:rPr sz="2200" b="0">
                <a:solidFill>
                  <a:srgbClr val="1B2738"/>
                </a:solidFill>
                <a:latin typeface="Lato"/>
              </a:rPr>
              <a:t>quien lo tiene lo usa.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Bearer Token Usage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es un bearer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NO autentica al usuario: </a:t>
            </a:r>
            <a:r>
              <a:rPr sz="2200" b="0">
                <a:solidFill>
                  <a:srgbClr val="1B2738"/>
                </a:solidFill>
                <a:latin typeface="Lato"/>
              </a:rPr>
              <a:t>eso fue el login, no el token.</a:t>
            </a:r>
          </a:p>
          <a:p>
            <a:pPr>
              <a:lnSpc>
                <a:spcPct val="102000"/>
              </a:lnSpc>
              <a:spcAft>
                <a:spcPts val="400"/>
              </a:spcAft>
            </a:pPr>
            <a:r>
              <a:rPr sz="2200" b="1">
                <a:solidFill>
                  <a:srgbClr val="1B2738"/>
                </a:solidFill>
                <a:latin typeface="Lato"/>
              </a:rPr>
              <a:t>NO cifra los datos: </a:t>
            </a:r>
            <a:r>
              <a:rPr sz="2200" b="0">
                <a:solidFill>
                  <a:srgbClr val="1B2738"/>
                </a:solidFill>
                <a:latin typeface="Lato"/>
              </a:rPr>
              <a:t>el payload está en base64, no cifrado.</a:t>
            </a:r>
          </a:p>
          <a:p>
            <a:pPr>
              <a:lnSpc>
                <a:spcPct val="102000"/>
              </a:lnSpc>
              <a:spcAft>
                <a:spcPts val="400"/>
              </a:spcAft>
            </a:pPr>
            <a:r>
              <a:rPr sz="2200" b="1">
                <a:solidFill>
                  <a:srgbClr val="1B2738"/>
                </a:solidFill>
                <a:latin typeface="Lato"/>
              </a:rPr>
              <a:t>NO autoriza por sí solo: </a:t>
            </a:r>
            <a:r>
              <a:rPr sz="2200" b="0">
                <a:solidFill>
                  <a:srgbClr val="1B2738"/>
                </a:solidFill>
                <a:latin typeface="Lato"/>
              </a:rPr>
              <a:t>la autorización es otro capítulo.</a:t>
            </a:r>
          </a:p>
          <a:p>
            <a:pPr>
              <a:lnSpc>
                <a:spcPct val="102000"/>
              </a:lnSpc>
              <a:spcAft>
                <a:spcPts val="400"/>
              </a:spcAft>
            </a:pPr>
            <a:r>
              <a:rPr sz="2200" b="1">
                <a:solidFill>
                  <a:srgbClr val="1B2738"/>
                </a:solidFill>
                <a:latin typeface="Lato"/>
              </a:rPr>
              <a:t>NO es anti-replay: </a:t>
            </a:r>
            <a:r>
              <a:rPr sz="2200" b="0">
                <a:solidFill>
                  <a:srgbClr val="1B2738"/>
                </a:solidFill>
                <a:latin typeface="Lato"/>
              </a:rPr>
              <a:t>si lo interceptás, lo podés reutilizar.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OWASP API Security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Alrededor del token hay un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todas las APIs son REST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REST — recursos. </a:t>
            </a:r>
            <a:r>
              <a:rPr sz="1800" b="0">
                <a:solidFill>
                  <a:srgbClr val="1B2738"/>
                </a:solidFill>
                <a:latin typeface="Lato"/>
              </a:rPr>
              <a:t>Riesgo: BOLA / IDOR.</a:t>
            </a:r>
          </a:p>
          <a:p>
            <a:pPr>
              <a:lnSpc>
                <a:spcPct val="102000"/>
              </a:lnSpc>
              <a:spcAft>
                <a:spcPts val="400"/>
              </a:spcAft>
            </a:pPr>
            <a:r>
              <a:rPr sz="1800" b="1">
                <a:solidFill>
                  <a:srgbClr val="1B2738"/>
                </a:solidFill>
                <a:latin typeface="Lato"/>
              </a:rPr>
              <a:t>GraphQL — un endpoint. </a:t>
            </a:r>
            <a:r>
              <a:rPr sz="1800" b="0">
                <a:solidFill>
                  <a:srgbClr val="1B2738"/>
                </a:solidFill>
                <a:latin typeface="Lato"/>
              </a:rPr>
              <a:t>Consultas profundas y sobre-exposición.</a:t>
            </a:r>
          </a:p>
          <a:p>
            <a:pPr>
              <a:lnSpc>
                <a:spcPct val="102000"/>
              </a:lnSpc>
              <a:spcAft>
                <a:spcPts val="400"/>
              </a:spcAft>
            </a:pPr>
            <a:r>
              <a:rPr sz="1800" b="1">
                <a:solidFill>
                  <a:srgbClr val="1B2738"/>
                </a:solidFill>
                <a:latin typeface="Lato"/>
              </a:rPr>
              <a:t>gRPC — binario. </a:t>
            </a:r>
            <a:r>
              <a:rPr sz="1800" b="0">
                <a:solidFill>
                  <a:srgbClr val="1B2738"/>
                </a:solidFill>
                <a:latin typeface="Lato"/>
              </a:rPr>
              <a:t>Los WAF no lo inspeccionan fácil.</a:t>
            </a:r>
          </a:p>
          <a:p>
            <a:pPr>
              <a:lnSpc>
                <a:spcPct val="102000"/>
              </a:lnSpc>
              <a:spcAft>
                <a:spcPts val="400"/>
              </a:spcAft>
            </a:pPr>
            <a:r>
              <a:rPr sz="1800" b="1">
                <a:solidFill>
                  <a:srgbClr val="1B2738"/>
                </a:solidFill>
                <a:latin typeface="Lato"/>
              </a:rPr>
              <a:t>SOAP — XML. </a:t>
            </a:r>
            <a:r>
              <a:rPr sz="1800" b="0">
                <a:solidFill>
                  <a:srgbClr val="1B2738"/>
                </a:solidFill>
                <a:latin typeface="Lato"/>
              </a:rPr>
              <a:t>Arrastra XXE.</a:t>
            </a:r>
          </a:p>
          <a:p>
            <a:pPr>
              <a:lnSpc>
                <a:spcPct val="102000"/>
              </a:lnSpc>
              <a:spcAft>
                <a:spcPts val="400"/>
              </a:spcAft>
            </a:pPr>
            <a:r>
              <a:rPr sz="1800" b="1">
                <a:solidFill>
                  <a:srgbClr val="1B2738"/>
                </a:solidFill>
                <a:latin typeface="Lato"/>
              </a:rPr>
              <a:t>WebSocket — canal. </a:t>
            </a:r>
            <a:r>
              <a:rPr sz="1800" b="0">
                <a:solidFill>
                  <a:srgbClr val="1B2738"/>
                </a:solidFill>
                <a:latin typeface="Lato"/>
              </a:rPr>
              <a:t>Suele autenticar solo al inicio.</a:t>
            </a:r>
          </a:p>
          <a:p>
            <a:pPr>
              <a:lnSpc>
                <a:spcPct val="102000"/>
              </a:lnSpc>
              <a:spcAft>
                <a:spcPts val="400"/>
              </a:spcAft>
            </a:pPr>
            <a:r>
              <a:rPr sz="1800" b="1">
                <a:solidFill>
                  <a:srgbClr val="1B2738"/>
                </a:solidFill>
                <a:latin typeface="Lato"/>
              </a:rPr>
              <a:t>Webhooks y eventos — push. </a:t>
            </a:r>
            <a:r>
              <a:rPr sz="1800" b="0">
                <a:solidFill>
                  <a:srgbClr val="1B2738"/>
                </a:solidFill>
                <a:latin typeface="Lato"/>
              </a:rPr>
              <a:t>SSRF y replay si no se firman.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 la contraseña a la cookie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HTTP sin estado: </a:t>
            </a:r>
            <a:r>
              <a:rPr sz="2200" b="0">
                <a:solidFill>
                  <a:srgbClr val="1B2738"/>
                </a:solidFill>
                <a:latin typeface="Lato"/>
              </a:rPr>
              <a:t>hacía falta recordar quién sos.</a:t>
            </a:r>
          </a:p>
          <a:p>
            <a:pPr>
              <a:lnSpc>
                <a:spcPct val="102000"/>
              </a:lnSpc>
              <a:spcAft>
                <a:spcPts val="400"/>
              </a:spcAft>
            </a:pPr>
            <a:r>
              <a:rPr sz="2200" b="1">
                <a:solidFill>
                  <a:srgbClr val="1B2738"/>
                </a:solidFill>
                <a:latin typeface="Lato"/>
              </a:rPr>
              <a:t>Basic: </a:t>
            </a:r>
            <a:r>
              <a:rPr sz="2200" b="0">
                <a:solidFill>
                  <a:srgbClr val="1B2738"/>
                </a:solidFill>
                <a:latin typeface="Lato"/>
              </a:rPr>
              <a:t>usuario y contraseña en Base64 en cada request.</a:t>
            </a:r>
          </a:p>
          <a:p>
            <a:pPr>
              <a:lnSpc>
                <a:spcPct val="102000"/>
              </a:lnSpc>
              <a:spcAft>
                <a:spcPts val="400"/>
              </a:spcAft>
            </a:pPr>
            <a:r>
              <a:rPr sz="2200" b="1">
                <a:solidFill>
                  <a:srgbClr val="1B2738"/>
                </a:solidFill>
                <a:latin typeface="Lato"/>
              </a:rPr>
              <a:t>Digest: </a:t>
            </a:r>
            <a:r>
              <a:rPr sz="2200" b="0">
                <a:solidFill>
                  <a:srgbClr val="1B2738"/>
                </a:solidFill>
                <a:latin typeface="Lato"/>
              </a:rPr>
              <a:t>un hash con nonce; mejora el secreto, no el modelo.</a:t>
            </a:r>
          </a:p>
          <a:p>
            <a:pPr>
              <a:lnSpc>
                <a:spcPct val="102000"/>
              </a:lnSpc>
              <a:spcAft>
                <a:spcPts val="400"/>
              </a:spcAft>
            </a:pPr>
            <a:r>
              <a:rPr sz="2200" b="1">
                <a:solidFill>
                  <a:srgbClr val="1B2738"/>
                </a:solidFill>
                <a:latin typeface="Lato"/>
              </a:rPr>
              <a:t>Cookie (Netscape, 1996): </a:t>
            </a:r>
            <a:r>
              <a:rPr sz="2200" b="0">
                <a:solidFill>
                  <a:srgbClr val="1B2738"/>
                </a:solidFill>
                <a:latin typeface="Lato"/>
              </a:rPr>
              <a:t>un identificador de sesión; el estado queda en el servidor.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1/3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 RFC 7616 (2015); RFC 6265 (2011).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Firmar era seguro; ganó lo simple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WS-Security (2004) y SAML 2.0 (2005): </a:t>
            </a:r>
            <a:r>
              <a:rPr sz="2200" b="0">
                <a:solidFill>
                  <a:srgbClr val="1B2738"/>
                </a:solidFill>
                <a:latin typeface="Lato"/>
              </a:rPr>
              <a:t>aserciones XML firmadas.</a:t>
            </a:r>
          </a:p>
          <a:p>
            <a:pPr>
              <a:lnSpc>
                <a:spcPct val="102000"/>
              </a:lnSpc>
              <a:spcAft>
                <a:spcPts val="400"/>
              </a:spcAft>
            </a:pPr>
            <a:r>
              <a:rPr sz="2200" b="1">
                <a:solidFill>
                  <a:srgbClr val="1B2738"/>
                </a:solidFill>
                <a:latin typeface="Lato"/>
              </a:rPr>
              <a:t>OAuth 1.0 (RFC 5849, 2010): </a:t>
            </a:r>
            <a:r>
              <a:rPr sz="2200" b="0">
                <a:solidFill>
                  <a:srgbClr val="1B2738"/>
                </a:solidFill>
                <a:latin typeface="Lato"/>
              </a:rPr>
              <a:t>firmaba cada request con HMAC-SHA1.</a:t>
            </a:r>
          </a:p>
          <a:p>
            <a:pPr>
              <a:lnSpc>
                <a:spcPct val="102000"/>
              </a:lnSpc>
              <a:spcAft>
                <a:spcPts val="400"/>
              </a:spcAft>
            </a:pPr>
            <a:r>
              <a:rPr sz="2200" b="1">
                <a:solidFill>
                  <a:srgbClr val="1B2738"/>
                </a:solidFill>
                <a:latin typeface="Lato"/>
              </a:rPr>
              <a:t>Robar una petición no servía.</a:t>
            </a:r>
          </a:p>
          <a:p>
            <a:pPr>
              <a:lnSpc>
                <a:spcPct val="102000"/>
              </a:lnSpc>
              <a:spcAft>
                <a:spcPts val="400"/>
              </a:spcAft>
            </a:pPr>
            <a:r>
              <a:rPr sz="2200" b="1">
                <a:solidFill>
                  <a:srgbClr val="1B2738"/>
                </a:solidFill>
                <a:latin typeface="Lato"/>
              </a:rPr>
              <a:t>Pero canonicalizar y repartir secretos </a:t>
            </a:r>
            <a:r>
              <a:rPr sz="2200" b="0">
                <a:solidFill>
                  <a:srgbClr val="1B2738"/>
                </a:solidFill>
                <a:latin typeface="Lato"/>
              </a:rPr>
              <a:t>era una pesadilla de integración.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2/3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SAML 2.0 (2005); WS-Security (2004); RFC 5849 (2010).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OAuth 2.0 nació con dos tipos de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RFC 6749 (2012) </a:t>
            </a:r>
            <a:r>
              <a:rPr sz="2200" b="0">
                <a:solidFill>
                  <a:srgbClr val="1B2738"/>
                </a:solidFill>
                <a:latin typeface="Lato"/>
              </a:rPr>
              <a:t>definía dos tipos: bearer y mac.</a:t>
            </a:r>
          </a:p>
          <a:p>
            <a:pPr>
              <a:lnSpc>
                <a:spcPct val="102000"/>
              </a:lnSpc>
              <a:spcAft>
                <a:spcPts val="400"/>
              </a:spcAft>
            </a:pPr>
            <a:r>
              <a:rPr sz="2200" b="1">
                <a:solidFill>
                  <a:srgbClr val="1B2738"/>
                </a:solidFill>
                <a:latin typeface="Lato"/>
              </a:rPr>
              <a:t>El tipo mac </a:t>
            </a:r>
            <a:r>
              <a:rPr sz="2200" b="0">
                <a:solidFill>
                  <a:srgbClr val="1B2738"/>
                </a:solidFill>
                <a:latin typeface="Lato"/>
              </a:rPr>
              <a:t>firmaba componentes de cada request.</a:t>
            </a:r>
          </a:p>
          <a:p>
            <a:pPr>
              <a:lnSpc>
                <a:spcPct val="102000"/>
              </a:lnSpc>
              <a:spcAft>
                <a:spcPts val="400"/>
              </a:spcAft>
            </a:pPr>
            <a:r>
              <a:rPr sz="2200" b="1">
                <a:solidFill>
                  <a:srgbClr val="1B2738"/>
                </a:solidFill>
                <a:latin typeface="Lato"/>
              </a:rPr>
              <a:t>El borrador MAC se abandonó </a:t>
            </a:r>
            <a:r>
              <a:rPr sz="2200" b="0">
                <a:solidFill>
                  <a:srgbClr val="1B2738"/>
                </a:solidFill>
                <a:latin typeface="Lato"/>
              </a:rPr>
              <a:t>en febrero de 2012.</a:t>
            </a:r>
          </a:p>
          <a:p>
            <a:pPr>
              <a:lnSpc>
                <a:spcPct val="102000"/>
              </a:lnSpc>
              <a:spcAft>
                <a:spcPts val="400"/>
              </a:spcAft>
            </a:pPr>
            <a:r>
              <a:rPr sz="2200" b="1">
                <a:solidFill>
                  <a:srgbClr val="1B2738"/>
                </a:solidFill>
                <a:latin typeface="Lato"/>
              </a:rPr>
              <a:t>Ganó la simplicidad: </a:t>
            </a:r>
            <a:r>
              <a:rPr sz="2200" b="0">
                <a:solidFill>
                  <a:srgbClr val="1B2738"/>
                </a:solidFill>
                <a:latin typeface="Lato"/>
              </a:rPr>
              <a:t>con ella llegó RFC 6750.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3/3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§7.1 (2012); borrador MAC (febrero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hay «un token»: hay una familia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Cada token tiene destino y vida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1925210"/>
                <a:gridCol w="2291916"/>
                <a:gridCol w="1558503"/>
                <a:gridCol w="2475270"/>
              </a:tblGrid>
              <a:tr h="753460">
                <a:tc>
                  <a:txBody>
                    <a:bodyPr wrap="square"/>
                    <a:lstStyle/>
                    <a:p>
                      <a:r>
                        <a:rPr sz="1250" b="1">
                          <a:solidFill>
                            <a:srgbClr val="FFFFFF"/>
                          </a:solidFill>
                          <a:latin typeface="Lato"/>
                        </a:rPr>
                        <a:t>Token</a:t>
                      </a:r>
                    </a:p>
                  </a:txBody>
                  <a:tcPr anchor="ctr" marL="80000" marR="60000" marT="20000" marB="20000">
                    <a:solidFill>
                      <a:srgbClr val="1B2738"/>
                    </a:solidFill>
                  </a:tcPr>
                </a:tc>
                <a:tc>
                  <a:txBody>
                    <a:bodyPr wrap="square"/>
                    <a:lstStyle/>
                    <a:p>
                      <a:r>
                        <a:rPr sz="1250" b="1">
                          <a:solidFill>
                            <a:srgbClr val="FFFFFF"/>
                          </a:solidFill>
                          <a:latin typeface="Lato"/>
                        </a:rPr>
                        <a:t>Para qué</a:t>
                      </a:r>
                    </a:p>
                  </a:txBody>
                  <a:tcPr anchor="ctr" marL="80000" marR="60000" marT="20000" marB="20000">
                    <a:solidFill>
                      <a:srgbClr val="1B2738"/>
                    </a:solidFill>
                  </a:tcPr>
                </a:tc>
                <a:tc>
                  <a:txBody>
                    <a:bodyPr wrap="square"/>
                    <a:lstStyle/>
                    <a:p>
                      <a:r>
                        <a:rPr sz="1250" b="1">
                          <a:solidFill>
                            <a:srgbClr val="FFFFFF"/>
                          </a:solidFill>
                          <a:latin typeface="Lato"/>
                        </a:rPr>
                        <a:t>Vida</a:t>
                      </a:r>
                    </a:p>
                  </a:txBody>
                  <a:tcPr anchor="ctr" marL="80000" marR="60000" marT="20000" marB="20000">
                    <a:solidFill>
                      <a:srgbClr val="1B2738"/>
                    </a:solidFill>
                  </a:tcPr>
                </a:tc>
                <a:tc>
                  <a:txBody>
                    <a:bodyPr wrap="square"/>
                    <a:lstStyle/>
                    <a:p>
                      <a:r>
                        <a:rPr sz="1250" b="1">
                          <a:solidFill>
                            <a:srgbClr val="FFFFFF"/>
                          </a:solidFill>
                          <a:latin typeface="Lato"/>
                        </a:rPr>
                        <a:t>Dónde viaja</a:t>
                      </a:r>
                    </a:p>
                  </a:txBody>
                  <a:tcPr anchor="ctr" marL="80000" marR="60000" marT="20000" marB="20000">
                    <a:solidFill>
                      <a:srgbClr val="1B2738"/>
                    </a:solidFill>
                  </a:tcPr>
                </a:tc>
              </a:tr>
              <a:tr h="753460">
                <a:tc>
                  <a:txBody>
                    <a:bodyPr wrap="square"/>
                    <a:lstStyle/>
                    <a:p>
                      <a:r>
                        <a:rPr sz="1250" b="1">
                          <a:solidFill>
                            <a:srgbClr val="1B2738"/>
                          </a:solidFill>
                          <a:latin typeface="Lato"/>
                        </a:rPr>
                        <a:t>Authorization code</a:t>
                      </a:r>
                    </a:p>
                  </a:txBody>
                  <a:tcPr anchor="ctr" marL="80000" marR="60000" marT="20000" marB="20000">
                    <a:solidFill>
                      <a:srgbClr val="FFFFFF"/>
                    </a:solidFill>
                  </a:tcPr>
                </a:tc>
                <a:tc>
                  <a:txBody>
                    <a:bodyPr wrap="square"/>
                    <a:lstStyle/>
                    <a:p>
                      <a:r>
                        <a:rPr sz="1250" b="0">
                          <a:solidFill>
                            <a:srgbClr val="1B2738"/>
                          </a:solidFill>
                          <a:latin typeface="Lato"/>
                        </a:rPr>
                        <a:t>Probar la autorización</a:t>
                      </a:r>
                    </a:p>
                  </a:txBody>
                  <a:tcPr anchor="ctr" marL="80000" marR="60000" marT="20000" marB="20000">
                    <a:solidFill>
                      <a:srgbClr val="FFFFFF"/>
                    </a:solidFill>
                  </a:tcPr>
                </a:tc>
                <a:tc>
                  <a:txBody>
                    <a:bodyPr wrap="square"/>
                    <a:lstStyle/>
                    <a:p>
                      <a:r>
                        <a:rPr sz="1250" b="0">
                          <a:solidFill>
                            <a:srgbClr val="1B2738"/>
                          </a:solidFill>
                          <a:latin typeface="Lato"/>
                        </a:rPr>
                        <a:t>Un solo uso</a:t>
                      </a:r>
                    </a:p>
                  </a:txBody>
                  <a:tcPr anchor="ctr" marL="80000" marR="60000" marT="20000" marB="20000">
                    <a:solidFill>
                      <a:srgbClr val="FFFFFF"/>
                    </a:solidFill>
                  </a:tcPr>
                </a:tc>
                <a:tc>
                  <a:txBody>
                    <a:bodyPr wrap="square"/>
                    <a:lstStyle/>
                    <a:p>
                      <a:r>
                        <a:rPr sz="1250" b="0">
                          <a:solidFill>
                            <a:srgbClr val="1B2738"/>
                          </a:solidFill>
                          <a:latin typeface="Lato"/>
                        </a:rPr>
                        <a:t>Navegador (front channel)</a:t>
                      </a:r>
                    </a:p>
                  </a:txBody>
                  <a:tcPr anchor="ctr" marL="80000" marR="60000" marT="20000" marB="20000">
                    <a:solidFill>
                      <a:srgbClr val="FFFFFF"/>
                    </a:solidFill>
                  </a:tcPr>
                </a:tc>
              </a:tr>
              <a:tr h="753460">
                <a:tc>
                  <a:txBody>
                    <a:bodyPr wrap="square"/>
                    <a:lstStyle/>
                    <a:p>
                      <a:r>
                        <a:rPr sz="1250" b="1">
                          <a:solidFill>
                            <a:srgbClr val="1B2738"/>
                          </a:solidFill>
                          <a:latin typeface="Lato"/>
                        </a:rPr>
                        <a:t>Access token</a:t>
                      </a:r>
                    </a:p>
                  </a:txBody>
                  <a:tcPr anchor="ctr" marL="80000" marR="60000" marT="20000" marB="20000">
                    <a:solidFill>
                      <a:srgbClr val="EAF2FB"/>
                    </a:solidFill>
                  </a:tcPr>
                </a:tc>
                <a:tc>
                  <a:txBody>
                    <a:bodyPr wrap="square"/>
                    <a:lstStyle/>
                    <a:p>
                      <a:r>
                        <a:rPr sz="1250" b="0">
                          <a:solidFill>
                            <a:srgbClr val="1B2738"/>
                          </a:solidFill>
                          <a:latin typeface="Lato"/>
                        </a:rPr>
                        <a:t>Llamar a la API</a:t>
                      </a:r>
                    </a:p>
                  </a:txBody>
                  <a:tcPr anchor="ctr" marL="80000" marR="60000" marT="20000" marB="20000">
                    <a:solidFill>
                      <a:srgbClr val="EAF2FB"/>
                    </a:solidFill>
                  </a:tcPr>
                </a:tc>
                <a:tc>
                  <a:txBody>
                    <a:bodyPr wrap="square"/>
                    <a:lstStyle/>
                    <a:p>
                      <a:r>
                        <a:rPr sz="1250" b="0">
                          <a:solidFill>
                            <a:srgbClr val="1B2738"/>
                          </a:solidFill>
                          <a:latin typeface="Lato"/>
                        </a:rPr>
                        <a:t>Minutos u horas</a:t>
                      </a:r>
                    </a:p>
                  </a:txBody>
                  <a:tcPr anchor="ctr" marL="80000" marR="60000" marT="20000" marB="20000">
                    <a:solidFill>
                      <a:srgbClr val="EAF2FB"/>
                    </a:solidFill>
                  </a:tcPr>
                </a:tc>
                <a:tc>
                  <a:txBody>
                    <a:bodyPr wrap="square"/>
                    <a:lstStyle/>
                    <a:p>
                      <a:r>
                        <a:rPr sz="1250" b="0">
                          <a:solidFill>
                            <a:srgbClr val="1B2738"/>
                          </a:solidFill>
                          <a:latin typeface="Lato"/>
                        </a:rPr>
                        <a:t>Cabecera, hacia la API</a:t>
                      </a:r>
                    </a:p>
                  </a:txBody>
                  <a:tcPr anchor="ctr" marL="80000" marR="60000" marT="20000" marB="20000">
                    <a:solidFill>
                      <a:srgbClr val="EAF2FB"/>
                    </a:solidFill>
                  </a:tcPr>
                </a:tc>
              </a:tr>
              <a:tr h="753460">
                <a:tc>
                  <a:txBody>
                    <a:bodyPr wrap="square"/>
                    <a:lstStyle/>
                    <a:p>
                      <a:r>
                        <a:rPr sz="1250" b="1">
                          <a:solidFill>
                            <a:srgbClr val="1B2738"/>
                          </a:solidFill>
                          <a:latin typeface="Lato"/>
                        </a:rPr>
                        <a:t>Refresh token</a:t>
                      </a:r>
                    </a:p>
                  </a:txBody>
                  <a:tcPr anchor="ctr" marL="80000" marR="60000" marT="20000" marB="20000">
                    <a:solidFill>
                      <a:srgbClr val="FFFFFF"/>
                    </a:solidFill>
                  </a:tcPr>
                </a:tc>
                <a:tc>
                  <a:txBody>
                    <a:bodyPr wrap="square"/>
                    <a:lstStyle/>
                    <a:p>
                      <a:r>
                        <a:rPr sz="1250" b="0">
                          <a:solidFill>
                            <a:srgbClr val="1B2738"/>
                          </a:solidFill>
                          <a:latin typeface="Lato"/>
                        </a:rPr>
                        <a:t>Renovar sin reautenticar</a:t>
                      </a:r>
                    </a:p>
                  </a:txBody>
                  <a:tcPr anchor="ctr" marL="80000" marR="60000" marT="20000" marB="20000">
                    <a:solidFill>
                      <a:srgbClr val="FFFFFF"/>
                    </a:solidFill>
                  </a:tcPr>
                </a:tc>
                <a:tc>
                  <a:txBody>
                    <a:bodyPr wrap="square"/>
                    <a:lstStyle/>
                    <a:p>
                      <a:r>
                        <a:rPr sz="1250" b="0">
                          <a:solidFill>
                            <a:srgbClr val="1B2738"/>
                          </a:solidFill>
                          <a:latin typeface="Lato"/>
                        </a:rPr>
                        <a:t>Días o semanas</a:t>
                      </a:r>
                    </a:p>
                  </a:txBody>
                  <a:tcPr anchor="ctr" marL="80000" marR="60000" marT="20000" marB="20000">
                    <a:solidFill>
                      <a:srgbClr val="FFFFFF"/>
                    </a:solidFill>
                  </a:tcPr>
                </a:tc>
                <a:tc>
                  <a:txBody>
                    <a:bodyPr wrap="square"/>
                    <a:lstStyle/>
                    <a:p>
                      <a:r>
                        <a:rPr sz="1250" b="0">
                          <a:solidFill>
                            <a:srgbClr val="1B2738"/>
                          </a:solidFill>
                          <a:latin typeface="Lato"/>
                        </a:rPr>
                        <a:t>Solo el endpoint de token</a:t>
                      </a:r>
                    </a:p>
                  </a:txBody>
                  <a:tcPr anchor="ctr" marL="80000" marR="60000" marT="20000" marB="20000">
                    <a:solidFill>
                      <a:srgbClr val="FFFFFF"/>
                    </a:solidFill>
                  </a:tcPr>
                </a:tc>
              </a:tr>
              <a:tr h="753460">
                <a:tc>
                  <a:txBody>
                    <a:bodyPr wrap="square"/>
                    <a:lstStyle/>
                    <a:p>
                      <a:r>
                        <a:rPr sz="1250" b="1">
                          <a:solidFill>
                            <a:srgbClr val="1B2738"/>
                          </a:solidFill>
                          <a:latin typeface="Lato"/>
                        </a:rPr>
                        <a:t>ID token</a:t>
                      </a:r>
                    </a:p>
                  </a:txBody>
                  <a:tcPr anchor="ctr" marL="80000" marR="60000" marT="20000" marB="20000">
                    <a:solidFill>
                      <a:srgbClr val="EAF2FB"/>
                    </a:solidFill>
                  </a:tcPr>
                </a:tc>
                <a:tc>
                  <a:txBody>
                    <a:bodyPr wrap="square"/>
                    <a:lstStyle/>
                    <a:p>
                      <a:r>
                        <a:rPr sz="1250" b="0">
                          <a:solidFill>
                            <a:srgbClr val="1B2738"/>
                          </a:solidFill>
                          <a:latin typeface="Lato"/>
                        </a:rPr>
                        <a:t>Decir quién y cómo</a:t>
                      </a:r>
                    </a:p>
                  </a:txBody>
                  <a:tcPr anchor="ctr" marL="80000" marR="60000" marT="20000" marB="20000">
                    <a:solidFill>
                      <a:srgbClr val="EAF2FB"/>
                    </a:solidFill>
                  </a:tcPr>
                </a:tc>
                <a:tc>
                  <a:txBody>
                    <a:bodyPr wrap="square"/>
                    <a:lstStyle/>
                    <a:p>
                      <a:r>
                        <a:rPr sz="1250" b="0">
                          <a:solidFill>
                            <a:srgbClr val="1B2738"/>
                          </a:solidFill>
                          <a:latin typeface="Lato"/>
                        </a:rPr>
                        <a:t>Corto</a:t>
                      </a:r>
                    </a:p>
                  </a:txBody>
                  <a:tcPr anchor="ctr" marL="80000" marR="60000" marT="20000" marB="20000">
                    <a:solidFill>
                      <a:srgbClr val="EAF2FB"/>
                    </a:solidFill>
                  </a:tcPr>
                </a:tc>
                <a:tc>
                  <a:txBody>
                    <a:bodyPr wrap="square"/>
                    <a:lstStyle/>
                    <a:p>
                      <a:r>
                        <a:rPr sz="1250" b="0">
                          <a:solidFill>
                            <a:srgbClr val="1B2738"/>
                          </a:solidFill>
                          <a:latin typeface="Lato"/>
                        </a:rPr>
                        <a:t>App cliente (no la API)</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§1.5, §4.1, §5, §6 (2012); RFC 7009 (2013).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Firmado, no sellado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Cuatro preguntas que valida un JWT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¿Quién lo emitió? </a:t>
            </a:r>
            <a:r>
              <a:rPr sz="2000" b="0">
                <a:solidFill>
                  <a:srgbClr val="1B2738"/>
                </a:solidFill>
                <a:latin typeface="Lato"/>
              </a:rPr>
              <a:t>— iss</a:t>
            </a:r>
          </a:p>
          <a:p>
            <a:pPr>
              <a:lnSpc>
                <a:spcPct val="102000"/>
              </a:lnSpc>
              <a:spcAft>
                <a:spcPts val="400"/>
              </a:spcAft>
            </a:pPr>
            <a:r>
              <a:rPr sz="2000" b="1">
                <a:solidFill>
                  <a:srgbClr val="1B2738"/>
                </a:solidFill>
                <a:latin typeface="Lato"/>
              </a:rPr>
              <a:t>¿Es para mí? </a:t>
            </a:r>
            <a:r>
              <a:rPr sz="2000" b="0">
                <a:solidFill>
                  <a:srgbClr val="1B2738"/>
                </a:solidFill>
                <a:latin typeface="Lato"/>
              </a:rPr>
              <a:t>— aud</a:t>
            </a:r>
          </a:p>
          <a:p>
            <a:pPr>
              <a:lnSpc>
                <a:spcPct val="102000"/>
              </a:lnSpc>
              <a:spcAft>
                <a:spcPts val="400"/>
              </a:spcAft>
            </a:pPr>
            <a:r>
              <a:rPr sz="2000" b="1">
                <a:solidFill>
                  <a:srgbClr val="1B2738"/>
                </a:solidFill>
                <a:latin typeface="Lato"/>
              </a:rPr>
              <a:t>¿Está vigente? </a:t>
            </a:r>
            <a:r>
              <a:rPr sz="2000" b="0">
                <a:solidFill>
                  <a:srgbClr val="1B2738"/>
                </a:solidFill>
                <a:latin typeface="Lato"/>
              </a:rPr>
              <a:t>— exp / nbf</a:t>
            </a:r>
          </a:p>
          <a:p>
            <a:pPr>
              <a:lnSpc>
                <a:spcPct val="102000"/>
              </a:lnSpc>
              <a:spcAft>
                <a:spcPts val="400"/>
              </a:spcAft>
            </a:pPr>
            <a:r>
              <a:rPr sz="2000" b="1">
                <a:solidFill>
                  <a:srgbClr val="1B2738"/>
                </a:solidFill>
                <a:latin typeface="Lato"/>
              </a:rPr>
              <a:t>¿Qué permiso tiene? </a:t>
            </a:r>
            <a:r>
              <a:rPr sz="2000" b="0">
                <a:solidFill>
                  <a:srgbClr val="1B2738"/>
                </a:solidFill>
                <a:latin typeface="Lato"/>
              </a:rPr>
              <a:t>— scope</a:t>
            </a:r>
          </a:p>
          <a:p>
            <a:pPr>
              <a:lnSpc>
                <a:spcPct val="102000"/>
              </a:lnSpc>
              <a:spcAft>
                <a:spcPts val="400"/>
              </a:spcAft>
            </a:pPr>
            <a:r>
              <a:rPr sz="2000" b="1">
                <a:solidFill>
                  <a:srgbClr val="1B2738"/>
                </a:solidFill>
                <a:latin typeface="Lato"/>
              </a:rPr>
              <a:t>¿Cómo se autenticó? </a:t>
            </a:r>
            <a:r>
              <a:rPr sz="2000" b="0">
                <a:solidFill>
                  <a:srgbClr val="1B2738"/>
                </a:solidFill>
                <a:latin typeface="Lato"/>
              </a:rPr>
              <a:t>— amr / acr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8176 (2017); RFC 9068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en la URL quedó prohibido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 no 30 días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Passkeys sobreviven al phishing</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NIST AAL1–AAL3: </a:t>
            </a:r>
            <a:r>
              <a:rPr sz="2000" b="0">
                <a:solidFill>
                  <a:srgbClr val="1B2738"/>
                </a:solidFill>
                <a:latin typeface="Lato"/>
              </a:rPr>
              <a:t>la garantía se liga al riesgo.</a:t>
            </a:r>
          </a:p>
          <a:p>
            <a:pPr>
              <a:lnSpc>
                <a:spcPct val="102000"/>
              </a:lnSpc>
              <a:spcAft>
                <a:spcPts val="400"/>
              </a:spcAft>
            </a:pPr>
            <a:r>
              <a:rPr sz="2000" b="1">
                <a:solidFill>
                  <a:srgbClr val="1B2738"/>
                </a:solidFill>
                <a:latin typeface="Lato"/>
              </a:rPr>
              <a:t>AAL2: </a:t>
            </a:r>
            <a:r>
              <a:rPr sz="2000" b="0">
                <a:solidFill>
                  <a:srgbClr val="1B2738"/>
                </a:solidFill>
                <a:latin typeface="Lato"/>
              </a:rPr>
              <a:t>dos factores de tipos distintos.</a:t>
            </a:r>
          </a:p>
          <a:p>
            <a:pPr>
              <a:lnSpc>
                <a:spcPct val="102000"/>
              </a:lnSpc>
              <a:spcAft>
                <a:spcPts val="400"/>
              </a:spcAft>
            </a:pPr>
            <a:r>
              <a:rPr sz="2000" b="1">
                <a:solidFill>
                  <a:srgbClr val="1B2738"/>
                </a:solidFill>
                <a:latin typeface="Lato"/>
              </a:rPr>
              <a:t>AAL3: </a:t>
            </a:r>
            <a:r>
              <a:rPr sz="2000" b="0">
                <a:solidFill>
                  <a:srgbClr val="1B2738"/>
                </a:solidFill>
                <a:latin typeface="Lato"/>
              </a:rPr>
              <a:t>prueba criptográfica de una clave en hardware.</a:t>
            </a:r>
          </a:p>
          <a:p>
            <a:pPr>
              <a:lnSpc>
                <a:spcPct val="102000"/>
              </a:lnSpc>
              <a:spcAft>
                <a:spcPts val="400"/>
              </a:spcAft>
            </a:pPr>
            <a:r>
              <a:rPr sz="2000" b="1">
                <a:solidFill>
                  <a:srgbClr val="1B2738"/>
                </a:solidFill>
                <a:latin typeface="Lato"/>
              </a:rPr>
              <a:t>WebAuthn / passkeys (W3C, 2019): </a:t>
            </a:r>
            <a:r>
              <a:rPr sz="2000" b="0">
                <a:solidFill>
                  <a:srgbClr val="1B2738"/>
                </a:solidFill>
                <a:latin typeface="Lato"/>
              </a:rPr>
              <a:t>el desafío va atado al origen.</a:t>
            </a:r>
          </a:p>
          <a:p>
            <a:pPr>
              <a:lnSpc>
                <a:spcPct val="102000"/>
              </a:lnSpc>
              <a:spcAft>
                <a:spcPts val="400"/>
              </a:spcAft>
            </a:pPr>
            <a:r>
              <a:rPr sz="2000" b="1">
                <a:solidFill>
                  <a:srgbClr val="1B2738"/>
                </a:solidFill>
                <a:latin typeface="Lato"/>
              </a:rPr>
              <a:t>TOTP se phishea en tiempo real; </a:t>
            </a:r>
            <a:r>
              <a:rPr sz="2000" b="0">
                <a:solidFill>
                  <a:srgbClr val="1B2738"/>
                </a:solidFill>
                <a:latin typeface="Lato"/>
              </a:rPr>
              <a:t>SMS es el eslabón más débil.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WebAuthn (W3C 2019).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Tres ataques que la MFA no cubre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Fatiga de push (MITRE T1621): </a:t>
            </a:r>
            <a:r>
              <a:rPr sz="2200" b="0">
                <a:solidFill>
                  <a:srgbClr val="1B2738"/>
                </a:solidFill>
                <a:latin typeface="Lato"/>
              </a:rPr>
              <a:t>el atacante ya tiene la contraseña y dispara pushes.</a:t>
            </a:r>
          </a:p>
          <a:p>
            <a:pPr>
              <a:lnSpc>
                <a:spcPct val="102000"/>
              </a:lnSpc>
              <a:spcAft>
                <a:spcPts val="400"/>
              </a:spcAft>
            </a:pPr>
            <a:r>
              <a:rPr sz="2200" b="1">
                <a:solidFill>
                  <a:srgbClr val="1B2738"/>
                </a:solidFill>
                <a:latin typeface="Lato"/>
              </a:rPr>
              <a:t>Phishing AiTM: </a:t>
            </a:r>
            <a:r>
              <a:rPr sz="2200" b="0">
                <a:solidFill>
                  <a:srgbClr val="1B2738"/>
                </a:solidFill>
                <a:latin typeface="Lato"/>
              </a:rPr>
              <a:t>intercepta la sesión completa que ya pasó la MFA.</a:t>
            </a:r>
          </a:p>
          <a:p>
            <a:pPr>
              <a:lnSpc>
                <a:spcPct val="102000"/>
              </a:lnSpc>
              <a:spcAft>
                <a:spcPts val="400"/>
              </a:spcAft>
            </a:pPr>
            <a:r>
              <a:rPr sz="2200" b="1">
                <a:solidFill>
                  <a:srgbClr val="1B2738"/>
                </a:solidFill>
                <a:latin typeface="Lato"/>
              </a:rPr>
              <a:t>Infostealers y pass-the-cookie: </a:t>
            </a:r>
            <a:r>
              <a:rPr sz="2200" b="0">
                <a:solidFill>
                  <a:srgbClr val="1B2738"/>
                </a:solidFill>
                <a:latin typeface="Lato"/>
              </a:rPr>
              <a:t>roban y reutilizan el artefacto.</a:t>
            </a:r>
          </a:p>
          <a:p>
            <a:pPr>
              <a:lnSpc>
                <a:spcPct val="102000"/>
              </a:lnSpc>
              <a:spcAft>
                <a:spcPts val="400"/>
              </a:spcAft>
            </a:pPr>
            <a:r>
              <a:rPr sz="2200" b="1">
                <a:solidFill>
                  <a:srgbClr val="1B2738"/>
                </a:solidFill>
                <a:latin typeface="Lato"/>
              </a:rPr>
              <a:t>En los tres, la MFA hizo su trabajo; </a:t>
            </a:r>
            <a:r>
              <a:rPr sz="2200" b="0">
                <a:solidFill>
                  <a:srgbClr val="1B2738"/>
                </a:solidFill>
                <a:latin typeface="Lato"/>
              </a:rPr>
              <a:t>lo que falla es la posesión.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MITRE ATT&amp;CK T1621 · T1539; casos públicos.</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 una máquina no se le pide un 2FA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invocador </a:t>
            </a:r>
            <a:r>
              <a:rPr sz="2000" b="0">
                <a:solidFill>
                  <a:srgbClr val="1B2738"/>
                </a:solidFill>
                <a:latin typeface="Lato"/>
              </a:rPr>
              <a:t>es un microservicio, un job de CI o un dispositivo.</a:t>
            </a:r>
          </a:p>
          <a:p>
            <a:pPr>
              <a:lnSpc>
                <a:spcPct val="102000"/>
              </a:lnSpc>
              <a:spcAft>
                <a:spcPts val="400"/>
              </a:spcAft>
            </a:pPr>
            <a:r>
              <a:rPr sz="2000" b="1">
                <a:solidFill>
                  <a:srgbClr val="1B2738"/>
                </a:solidFill>
                <a:latin typeface="Lato"/>
              </a:rPr>
              <a:t>No hay usuario: </a:t>
            </a:r>
            <a:r>
              <a:rPr sz="2000" b="0">
                <a:solidFill>
                  <a:srgbClr val="1B2738"/>
                </a:solidFill>
                <a:latin typeface="Lato"/>
              </a:rPr>
              <a:t>no hay segundo factor que mostrar.</a:t>
            </a:r>
          </a:p>
          <a:p>
            <a:pPr>
              <a:lnSpc>
                <a:spcPct val="102000"/>
              </a:lnSpc>
              <a:spcAft>
                <a:spcPts val="400"/>
              </a:spcAft>
            </a:pPr>
            <a:r>
              <a:rPr sz="2000" b="1">
                <a:solidFill>
                  <a:srgbClr val="1B2738"/>
                </a:solidFill>
                <a:latin typeface="Lato"/>
              </a:rPr>
              <a:t>La pregunta correcta: </a:t>
            </a:r>
            <a:r>
              <a:rPr sz="2000" b="0">
                <a:solidFill>
                  <a:srgbClr val="1B2738"/>
                </a:solidFill>
                <a:latin typeface="Lato"/>
              </a:rPr>
              <a:t>¿qué workload habla y con qué credencial?</a:t>
            </a:r>
          </a:p>
          <a:p>
            <a:pPr>
              <a:lnSpc>
                <a:spcPct val="102000"/>
              </a:lnSpc>
              <a:spcAft>
                <a:spcPts val="400"/>
              </a:spcAft>
            </a:pPr>
            <a:r>
              <a:rPr sz="2000" b="1">
                <a:solidFill>
                  <a:srgbClr val="1B2738"/>
                </a:solidFill>
                <a:latin typeface="Lato"/>
              </a:rPr>
              <a:t>Mecanismos: </a:t>
            </a:r>
            <a:r>
              <a:rPr sz="2000" b="0">
                <a:solidFill>
                  <a:srgbClr val="1B2738"/>
                </a:solidFill>
                <a:latin typeface="Lato"/>
              </a:rPr>
              <a:t>client credentials, private_key_jwt, mTLS, DPoP.</a:t>
            </a:r>
          </a:p>
          <a:p>
            <a:pPr>
              <a:lnSpc>
                <a:spcPct val="102000"/>
              </a:lnSpc>
              <a:spcAft>
                <a:spcPts val="400"/>
              </a:spcAft>
            </a:pPr>
            <a:r>
              <a:rPr sz="2000" b="1">
                <a:solidFill>
                  <a:srgbClr val="1B2738"/>
                </a:solidFill>
                <a:latin typeface="Lato"/>
              </a:rPr>
              <a:t>El MFA del sistema </a:t>
            </a:r>
            <a:r>
              <a:rPr sz="2000" b="0">
                <a:solidFill>
                  <a:srgbClr val="1B2738"/>
                </a:solidFill>
                <a:latin typeface="Lato"/>
              </a:rPr>
              <a:t>es una identidad de vida corta y verificable.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§4.4 (2012); RFC 7523 (2015); RFC 8705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 dos preguntas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graphicFrame>
        <p:nvGraphicFramePr>
          <p:cNvPr id="5" name="Table 4"/>
          <p:cNvGraphicFramePr>
            <a:graphicFrameLocks noGrp="1"/>
          </p:cNvGraphicFramePr>
          <p:nvPr/>
        </p:nvGraphicFramePr>
        <p:xfrm>
          <a:off x="571550" y="1724000"/>
          <a:ext cx="8250898" cy="3767300"/>
        </p:xfrm>
        <a:graphic>
          <a:graphicData uri="http://schemas.openxmlformats.org/drawingml/2006/table">
            <a:tbl>
              <a:tblPr firstRow="1">
                <a:tableStyleId>{5C22544A-7EE6-4342-B048-85BDC9FD1C3A}</a:tableStyleId>
              </a:tblPr>
              <a:tblGrid>
                <a:gridCol w="2297718"/>
                <a:gridCol w="2819927"/>
                <a:gridCol w="3133253"/>
              </a:tblGrid>
              <a:tr h="538185">
                <a:tc>
                  <a:txBody>
                    <a:bodyPr wrap="square"/>
                    <a:lstStyle/>
                    <a:p>
                      <a:r>
                        <a:rPr sz="1300" b="1">
                          <a:solidFill>
                            <a:srgbClr val="FFFFFF"/>
                          </a:solidFill>
                          <a:latin typeface="Lato"/>
                        </a:rPr>
                        <a:t/>
                      </a:r>
                    </a:p>
                  </a:txBody>
                  <a:tcPr anchor="ctr" marL="80000" marR="60000" marT="20000" marB="20000">
                    <a:solidFill>
                      <a:srgbClr val="1B2738"/>
                    </a:solidFill>
                  </a:tcPr>
                </a:tc>
                <a:tc>
                  <a:txBody>
                    <a:bodyPr wrap="square"/>
                    <a:lstStyle/>
                    <a:p>
                      <a:r>
                        <a:rPr sz="1300" b="1">
                          <a:solidFill>
                            <a:srgbClr val="FFFFFF"/>
                          </a:solidFill>
                          <a:latin typeface="Lato"/>
                        </a:rPr>
                        <a:t>Persona</a:t>
                      </a:r>
                    </a:p>
                  </a:txBody>
                  <a:tcPr anchor="ctr" marL="80000" marR="60000" marT="20000" marB="20000">
                    <a:solidFill>
                      <a:srgbClr val="1B2738"/>
                    </a:solidFill>
                  </a:tcPr>
                </a:tc>
                <a:tc>
                  <a:txBody>
                    <a:bodyPr wrap="square"/>
                    <a:lstStyle/>
                    <a:p>
                      <a:r>
                        <a:rPr sz="1300" b="1">
                          <a:solidFill>
                            <a:srgbClr val="FFFFFF"/>
                          </a:solidFill>
                          <a:latin typeface="Lato"/>
                        </a:rPr>
                        <a:t>Sistema (M2M)</a:t>
                      </a:r>
                    </a:p>
                  </a:txBody>
                  <a:tcPr anchor="ctr" marL="80000" marR="60000" marT="20000" marB="20000">
                    <a:solidFill>
                      <a:srgbClr val="1B2738"/>
                    </a:solidFill>
                  </a:tcPr>
                </a:tc>
              </a:tr>
              <a:tr h="538185">
                <a:tc>
                  <a:txBody>
                    <a:bodyPr wrap="square"/>
                    <a:lstStyle/>
                    <a:p>
                      <a:r>
                        <a:rPr sz="1300" b="1">
                          <a:solidFill>
                            <a:srgbClr val="1B2738"/>
                          </a:solidFill>
                          <a:latin typeface="Lato"/>
                        </a:rPr>
                        <a:t>Qué se prueba</a:t>
                      </a:r>
                    </a:p>
                  </a:txBody>
                  <a:tcPr anchor="ctr" marL="80000" marR="60000" marT="20000" marB="20000">
                    <a:solidFill>
                      <a:srgbClr val="FFFFFF"/>
                    </a:solidFill>
                  </a:tcPr>
                </a:tc>
                <a:tc>
                  <a:txBody>
                    <a:bodyPr wrap="square"/>
                    <a:lstStyle/>
                    <a:p>
                      <a:r>
                        <a:rPr sz="1300" b="0">
                          <a:solidFill>
                            <a:srgbClr val="1B2738"/>
                          </a:solidFill>
                          <a:latin typeface="Lato"/>
                        </a:rPr>
                        <a:t>Que un humano se autenticó</a:t>
                      </a:r>
                    </a:p>
                  </a:txBody>
                  <a:tcPr anchor="ctr" marL="80000" marR="60000" marT="20000" marB="20000">
                    <a:solidFill>
                      <a:srgbClr val="FFFFFF"/>
                    </a:solidFill>
                  </a:tcPr>
                </a:tc>
                <a:tc>
                  <a:txBody>
                    <a:bodyPr wrap="square"/>
                    <a:lstStyle/>
                    <a:p>
                      <a:r>
                        <a:rPr sz="1300" b="0">
                          <a:solidFill>
                            <a:srgbClr val="1B2738"/>
                          </a:solidFill>
                          <a:latin typeface="Lato"/>
                        </a:rPr>
                        <a:t>Que un workload pidió el token</a:t>
                      </a:r>
                    </a:p>
                  </a:txBody>
                  <a:tcPr anchor="ctr" marL="80000" marR="60000" marT="20000" marB="20000">
                    <a:solidFill>
                      <a:srgbClr val="FFFFFF"/>
                    </a:solidFill>
                  </a:tcPr>
                </a:tc>
              </a:tr>
              <a:tr h="538185">
                <a:tc>
                  <a:txBody>
                    <a:bodyPr wrap="square"/>
                    <a:lstStyle/>
                    <a:p>
                      <a:r>
                        <a:rPr sz="1300" b="1">
                          <a:solidFill>
                            <a:srgbClr val="1B2738"/>
                          </a:solidFill>
                          <a:latin typeface="Lato"/>
                        </a:rPr>
                        <a:t>Segundo factor</a:t>
                      </a:r>
                    </a:p>
                  </a:txBody>
                  <a:tcPr anchor="ctr" marL="80000" marR="60000" marT="20000" marB="20000">
                    <a:solidFill>
                      <a:srgbClr val="EAF2FB"/>
                    </a:solidFill>
                  </a:tcPr>
                </a:tc>
                <a:tc>
                  <a:txBody>
                    <a:bodyPr wrap="square"/>
                    <a:lstStyle/>
                    <a:p>
                      <a:r>
                        <a:rPr sz="1300" b="0">
                          <a:solidFill>
                            <a:srgbClr val="1B2738"/>
                          </a:solidFill>
                          <a:latin typeface="Lato"/>
                        </a:rPr>
                        <a:t>Passkey / OTP / push</a:t>
                      </a:r>
                    </a:p>
                  </a:txBody>
                  <a:tcPr anchor="ctr" marL="80000" marR="60000" marT="20000" marB="20000">
                    <a:solidFill>
                      <a:srgbClr val="EAF2FB"/>
                    </a:solidFill>
                  </a:tcPr>
                </a:tc>
                <a:tc>
                  <a:txBody>
                    <a:bodyPr wrap="square"/>
                    <a:lstStyle/>
                    <a:p>
                      <a:r>
                        <a:rPr sz="1300" b="0">
                          <a:solidFill>
                            <a:srgbClr val="1B2738"/>
                          </a:solidFill>
                          <a:latin typeface="Lato"/>
                        </a:rPr>
                        <a:t>No existe</a:t>
                      </a:r>
                    </a:p>
                  </a:txBody>
                  <a:tcPr anchor="ctr" marL="80000" marR="60000" marT="20000" marB="20000">
                    <a:solidFill>
                      <a:srgbClr val="EAF2FB"/>
                    </a:solidFill>
                  </a:tcPr>
                </a:tc>
              </a:tr>
              <a:tr h="538185">
                <a:tc>
                  <a:txBody>
                    <a:bodyPr wrap="square"/>
                    <a:lstStyle/>
                    <a:p>
                      <a:r>
                        <a:rPr sz="1300" b="1">
                          <a:solidFill>
                            <a:srgbClr val="1B2738"/>
                          </a:solidFill>
                          <a:latin typeface="Lato"/>
                        </a:rPr>
                        <a:t>Artefacto</a:t>
                      </a:r>
                    </a:p>
                  </a:txBody>
                  <a:tcPr anchor="ctr" marL="80000" marR="60000" marT="20000" marB="20000">
                    <a:solidFill>
                      <a:srgbClr val="FFFFFF"/>
                    </a:solidFill>
                  </a:tcPr>
                </a:tc>
                <a:tc>
                  <a:txBody>
                    <a:bodyPr wrap="square"/>
                    <a:lstStyle/>
                    <a:p>
                      <a:r>
                        <a:rPr sz="1300" b="0">
                          <a:solidFill>
                            <a:srgbClr val="1B2738"/>
                          </a:solidFill>
                          <a:latin typeface="Lato"/>
                        </a:rPr>
                        <a:t>Sesión + access token corto</a:t>
                      </a:r>
                    </a:p>
                  </a:txBody>
                  <a:tcPr anchor="ctr" marL="80000" marR="60000" marT="20000" marB="20000">
                    <a:solidFill>
                      <a:srgbClr val="FFFFFF"/>
                    </a:solidFill>
                  </a:tcPr>
                </a:tc>
                <a:tc>
                  <a:txBody>
                    <a:bodyPr wrap="square"/>
                    <a:lstStyle/>
                    <a:p>
                      <a:r>
                        <a:rPr sz="1300" b="0">
                          <a:solidFill>
                            <a:srgbClr val="1B2738"/>
                          </a:solidFill>
                          <a:latin typeface="Lato"/>
                        </a:rPr>
                        <a:t>Token corto o credencial efímera</a:t>
                      </a:r>
                    </a:p>
                  </a:txBody>
                  <a:tcPr anchor="ctr" marL="80000" marR="60000" marT="20000" marB="20000">
                    <a:solidFill>
                      <a:srgbClr val="FFFFFF"/>
                    </a:solidFill>
                  </a:tcPr>
                </a:tc>
              </a:tr>
              <a:tr h="538185">
                <a:tc>
                  <a:txBody>
                    <a:bodyPr wrap="square"/>
                    <a:lstStyle/>
                    <a:p>
                      <a:r>
                        <a:rPr sz="1300" b="1">
                          <a:solidFill>
                            <a:srgbClr val="1B2738"/>
                          </a:solidFill>
                          <a:latin typeface="Lato"/>
                        </a:rPr>
                        <a:t>Vida típica</a:t>
                      </a:r>
                    </a:p>
                  </a:txBody>
                  <a:tcPr anchor="ctr" marL="80000" marR="60000" marT="20000" marB="20000">
                    <a:solidFill>
                      <a:srgbClr val="EAF2FB"/>
                    </a:solidFill>
                  </a:tcPr>
                </a:tc>
                <a:tc>
                  <a:txBody>
                    <a:bodyPr wrap="square"/>
                    <a:lstStyle/>
                    <a:p>
                      <a:r>
                        <a:rPr sz="1300" b="0">
                          <a:solidFill>
                            <a:srgbClr val="1B2738"/>
                          </a:solidFill>
                          <a:latin typeface="Lato"/>
                        </a:rPr>
                        <a:t>Minutos u horas</a:t>
                      </a:r>
                    </a:p>
                  </a:txBody>
                  <a:tcPr anchor="ctr" marL="80000" marR="60000" marT="20000" marB="20000">
                    <a:solidFill>
                      <a:srgbClr val="EAF2FB"/>
                    </a:solidFill>
                  </a:tcPr>
                </a:tc>
                <a:tc>
                  <a:txBody>
                    <a:bodyPr wrap="square"/>
                    <a:lstStyle/>
                    <a:p>
                      <a:r>
                        <a:rPr sz="1300" b="0">
                          <a:solidFill>
                            <a:srgbClr val="1B2738"/>
                          </a:solidFill>
                          <a:latin typeface="Lato"/>
                        </a:rPr>
                        <a:t>Muy corta, rotada</a:t>
                      </a:r>
                    </a:p>
                  </a:txBody>
                  <a:tcPr anchor="ctr" marL="80000" marR="60000" marT="20000" marB="20000">
                    <a:solidFill>
                      <a:srgbClr val="EAF2FB"/>
                    </a:solidFill>
                  </a:tcPr>
                </a:tc>
              </a:tr>
              <a:tr h="538185">
                <a:tc>
                  <a:txBody>
                    <a:bodyPr wrap="square"/>
                    <a:lstStyle/>
                    <a:p>
                      <a:r>
                        <a:rPr sz="1300" b="1">
                          <a:solidFill>
                            <a:srgbClr val="1B2738"/>
                          </a:solidFill>
                          <a:latin typeface="Lato"/>
                        </a:rPr>
                        <a:t>Fallo típico</a:t>
                      </a:r>
                    </a:p>
                  </a:txBody>
                  <a:tcPr anchor="ctr" marL="80000" marR="60000" marT="20000" marB="20000">
                    <a:solidFill>
                      <a:srgbClr val="FFFFFF"/>
                    </a:solidFill>
                  </a:tcPr>
                </a:tc>
                <a:tc>
                  <a:txBody>
                    <a:bodyPr wrap="square"/>
                    <a:lstStyle/>
                    <a:p>
                      <a:r>
                        <a:rPr sz="1300" b="0">
                          <a:solidFill>
                            <a:srgbClr val="1B2738"/>
                          </a:solidFill>
                          <a:latin typeface="Lato"/>
                        </a:rPr>
                        <a:t>Fatiga, AiTM, robo de sesión</a:t>
                      </a:r>
                    </a:p>
                  </a:txBody>
                  <a:tcPr anchor="ctr" marL="80000" marR="60000" marT="20000" marB="20000">
                    <a:solidFill>
                      <a:srgbClr val="FFFFFF"/>
                    </a:solidFill>
                  </a:tcPr>
                </a:tc>
                <a:tc>
                  <a:txBody>
                    <a:bodyPr wrap="square"/>
                    <a:lstStyle/>
                    <a:p>
                      <a:r>
                        <a:rPr sz="1300" b="0">
                          <a:solidFill>
                            <a:srgbClr val="1B2738"/>
                          </a:solidFill>
                          <a:latin typeface="Lato"/>
                        </a:rPr>
                        <a:t>Secretos eternos en repos y CI</a:t>
                      </a:r>
                    </a:p>
                  </a:txBody>
                  <a:tcPr anchor="ctr" marL="80000" marR="60000" marT="20000" marB="20000">
                    <a:solidFill>
                      <a:srgbClr val="FFFFFF"/>
                    </a:solidFill>
                  </a:tcPr>
                </a:tc>
              </a:tr>
              <a:tr h="538190">
                <a:tc>
                  <a:txBody>
                    <a:bodyPr wrap="square"/>
                    <a:lstStyle/>
                    <a:p>
                      <a:r>
                        <a:rPr sz="1300" b="1">
                          <a:solidFill>
                            <a:srgbClr val="1B2738"/>
                          </a:solidFill>
                          <a:latin typeface="Lato"/>
                        </a:rPr>
                        <a:t>Revocación</a:t>
                      </a:r>
                    </a:p>
                  </a:txBody>
                  <a:tcPr anchor="ctr" marL="80000" marR="60000" marT="20000" marB="20000">
                    <a:solidFill>
                      <a:srgbClr val="EAF2FB"/>
                    </a:solidFill>
                  </a:tcPr>
                </a:tc>
                <a:tc>
                  <a:txBody>
                    <a:bodyPr wrap="square"/>
                    <a:lstStyle/>
                    <a:p>
                      <a:r>
                        <a:rPr sz="1300" b="0">
                          <a:solidFill>
                            <a:srgbClr val="1B2738"/>
                          </a:solidFill>
                          <a:latin typeface="Lato"/>
                        </a:rPr>
                        <a:t>Cerrar sesión / revocar</a:t>
                      </a:r>
                    </a:p>
                  </a:txBody>
                  <a:tcPr anchor="ctr" marL="80000" marR="60000" marT="20000" marB="20000">
                    <a:solidFill>
                      <a:srgbClr val="EAF2FB"/>
                    </a:solidFill>
                  </a:tcPr>
                </a:tc>
                <a:tc>
                  <a:txBody>
                    <a:bodyPr wrap="square"/>
                    <a:lstStyle/>
                    <a:p>
                      <a:r>
                        <a:rPr sz="1300" b="0">
                          <a:solidFill>
                            <a:srgbClr val="1B2738"/>
                          </a:solidFill>
                          <a:latin typeface="Lato"/>
                        </a:rPr>
                        <a:t>Rotar la credencial</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es una puerta, no el edificio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edificio tiene más habitaciones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Autorización a nivel de objeto. </a:t>
            </a:r>
            <a:r>
              <a:rPr sz="1800" b="0">
                <a:solidFill>
                  <a:srgbClr val="1B2738"/>
                </a:solidFill>
                <a:latin typeface="Lato"/>
              </a:rPr>
              <a:t>Que puedas ver el pedido 5678 y no solo el 1234.</a:t>
            </a:r>
          </a:p>
          <a:p>
            <a:pPr>
              <a:lnSpc>
                <a:spcPct val="102000"/>
              </a:lnSpc>
              <a:spcAft>
                <a:spcPts val="400"/>
              </a:spcAft>
            </a:pPr>
            <a:r>
              <a:rPr sz="1800" b="1">
                <a:solidFill>
                  <a:srgbClr val="1B2738"/>
                </a:solidFill>
                <a:latin typeface="Lato"/>
              </a:rPr>
              <a:t>Validación de entrada: </a:t>
            </a:r>
            <a:r>
              <a:rPr sz="1800" b="0">
                <a:solidFill>
                  <a:srgbClr val="1B2738"/>
                </a:solidFill>
                <a:latin typeface="Lato"/>
              </a:rPr>
              <a:t>inyección, SSRF, deserialización, mass assignment.</a:t>
            </a:r>
          </a:p>
          <a:p>
            <a:pPr>
              <a:lnSpc>
                <a:spcPct val="102000"/>
              </a:lnSpc>
              <a:spcAft>
                <a:spcPts val="400"/>
              </a:spcAft>
            </a:pPr>
            <a:r>
              <a:rPr sz="1800" b="1">
                <a:solidFill>
                  <a:srgbClr val="1B2738"/>
                </a:solidFill>
                <a:latin typeface="Lato"/>
              </a:rPr>
              <a:t>Gateway y tráfico: </a:t>
            </a:r>
            <a:r>
              <a:rPr sz="1800" b="0">
                <a:solidFill>
                  <a:srgbClr val="1B2738"/>
                </a:solidFill>
                <a:latin typeface="Lato"/>
              </a:rPr>
              <a:t>cuotas, rate limiting y gestión de bots.</a:t>
            </a:r>
          </a:p>
          <a:p>
            <a:pPr>
              <a:lnSpc>
                <a:spcPct val="102000"/>
              </a:lnSpc>
              <a:spcAft>
                <a:spcPts val="400"/>
              </a:spcAft>
            </a:pPr>
            <a:r>
              <a:rPr sz="1800" b="1">
                <a:solidFill>
                  <a:srgbClr val="1B2738"/>
                </a:solidFill>
                <a:latin typeface="Lato"/>
              </a:rPr>
              <a:t>Inventario: </a:t>
            </a:r>
            <a:r>
              <a:rPr sz="1800" b="0">
                <a:solidFill>
                  <a:srgbClr val="1B2738"/>
                </a:solidFill>
                <a:latin typeface="Lato"/>
              </a:rPr>
              <a:t>versiones viejas y APIs fantasma que siguen vivas.</a:t>
            </a:r>
          </a:p>
          <a:p>
            <a:pPr>
              <a:lnSpc>
                <a:spcPct val="102000"/>
              </a:lnSpc>
              <a:spcAft>
                <a:spcPts val="400"/>
              </a:spcAft>
            </a:pPr>
            <a:r>
              <a:rPr sz="1800" b="1">
                <a:solidFill>
                  <a:srgbClr val="1B2738"/>
                </a:solidFill>
                <a:latin typeface="Lato"/>
              </a:rPr>
              <a:t>Cadena de suministro: </a:t>
            </a:r>
            <a:r>
              <a:rPr sz="1800" b="0">
                <a:solidFill>
                  <a:srgbClr val="1B2738"/>
                </a:solidFill>
                <a:latin typeface="Lato"/>
              </a:rPr>
              <a:t>secretos en CI y dependencias de terceros.</a:t>
            </a:r>
          </a:p>
          <a:p>
            <a:pPr>
              <a:lnSpc>
                <a:spcPct val="102000"/>
              </a:lnSpc>
              <a:spcAft>
                <a:spcPts val="400"/>
              </a:spcAft>
            </a:pPr>
            <a:r>
              <a:rPr sz="1800" b="1">
                <a:solidFill>
                  <a:srgbClr val="1B2738"/>
                </a:solidFill>
                <a:latin typeface="Lato"/>
              </a:rPr>
              <a:t>Privacidad y cumplimiento: </a:t>
            </a:r>
            <a:r>
              <a:rPr sz="1800" b="0">
                <a:solidFill>
                  <a:srgbClr val="1B2738"/>
                </a:solidFill>
                <a:latin typeface="Lato"/>
              </a:rPr>
              <a:t>Ley 18.331, Decreto 66/025 y reporte a CERTuy.</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AGESIC / CERTuy.</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 emitió mal, no se revocó, se filtró</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Facebook «View As» (2018): </a:t>
            </a:r>
            <a:r>
              <a:rPr sz="2200" b="0">
                <a:solidFill>
                  <a:srgbClr val="1B2738"/>
                </a:solidFill>
                <a:latin typeface="Lato"/>
              </a:rPr>
              <a:t>token emitido al usuario equivocado.</a:t>
            </a:r>
          </a:p>
          <a:p>
            <a:pPr>
              <a:lnSpc>
                <a:spcPct val="102000"/>
              </a:lnSpc>
              <a:spcAft>
                <a:spcPts val="400"/>
              </a:spcAft>
            </a:pPr>
            <a:r>
              <a:rPr sz="2200" b="1">
                <a:solidFill>
                  <a:srgbClr val="1B2738"/>
                </a:solidFill>
                <a:latin typeface="Lato"/>
              </a:rPr>
              <a:t>Okta / Cloudflare (2023): </a:t>
            </a:r>
            <a:r>
              <a:rPr sz="2200" b="0">
                <a:solidFill>
                  <a:srgbClr val="1B2738"/>
                </a:solidFill>
                <a:latin typeface="Lato"/>
              </a:rPr>
              <a:t>una sesión robada que siguió sirviendo.</a:t>
            </a:r>
          </a:p>
          <a:p>
            <a:pPr>
              <a:lnSpc>
                <a:spcPct val="102000"/>
              </a:lnSpc>
              <a:spcAft>
                <a:spcPts val="400"/>
              </a:spcAft>
            </a:pPr>
            <a:r>
              <a:rPr sz="2200" b="1">
                <a:solidFill>
                  <a:srgbClr val="1B2738"/>
                </a:solidFill>
                <a:latin typeface="Lato"/>
              </a:rPr>
              <a:t>Codecov (2021): </a:t>
            </a:r>
            <a:r>
              <a:rPr sz="2200" b="0">
                <a:solidFill>
                  <a:srgbClr val="1B2738"/>
                </a:solidFill>
                <a:latin typeface="Lato"/>
              </a:rPr>
              <a:t>tokens del CI exportados por un script modificado.</a:t>
            </a:r>
          </a:p>
          <a:p>
            <a:pPr>
              <a:lnSpc>
                <a:spcPct val="102000"/>
              </a:lnSpc>
              <a:spcAft>
                <a:spcPts val="400"/>
              </a:spcAft>
            </a:pPr>
            <a:r>
              <a:rPr sz="2200" b="1">
                <a:solidFill>
                  <a:srgbClr val="1B2738"/>
                </a:solidFill>
                <a:latin typeface="Lato"/>
              </a:rPr>
              <a:t>En los tres, </a:t>
            </a:r>
            <a:r>
              <a:rPr sz="2200" b="0">
                <a:solidFill>
                  <a:srgbClr val="1B2738"/>
                </a:solidFill>
                <a:latin typeface="Lato"/>
              </a:rPr>
              <a:t>el token funcionó como fue diseñado.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1/2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Meta (2018); Cloudflare (2023); Codecov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Después de aceptarlo, queda trabajo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Uber (2022): </a:t>
            </a:r>
            <a:r>
              <a:rPr sz="2200" b="0">
                <a:solidFill>
                  <a:srgbClr val="1B2738"/>
                </a:solidFill>
                <a:latin typeface="Lato"/>
              </a:rPr>
              <a:t>la MFA no sobrevive al robo de sesión.</a:t>
            </a:r>
          </a:p>
          <a:p>
            <a:pPr>
              <a:lnSpc>
                <a:spcPct val="102000"/>
              </a:lnSpc>
              <a:spcAft>
                <a:spcPts val="400"/>
              </a:spcAft>
            </a:pPr>
            <a:r>
              <a:rPr sz="2200" b="1">
                <a:solidFill>
                  <a:srgbClr val="1B2738"/>
                </a:solidFill>
                <a:latin typeface="Lato"/>
              </a:rPr>
              <a:t>BOLA: </a:t>
            </a:r>
            <a:r>
              <a:rPr sz="2200" b="0">
                <a:solidFill>
                  <a:srgbClr val="1B2738"/>
                </a:solidFill>
                <a:latin typeface="Lato"/>
              </a:rPr>
              <a:t>token válido, objeto ajeno (~40 % de los ataques a APIs).</a:t>
            </a:r>
          </a:p>
          <a:p>
            <a:pPr>
              <a:lnSpc>
                <a:spcPct val="102000"/>
              </a:lnSpc>
              <a:spcAft>
                <a:spcPts val="400"/>
              </a:spcAft>
            </a:pPr>
            <a:r>
              <a:rPr sz="2200" b="1">
                <a:solidFill>
                  <a:srgbClr val="1B2738"/>
                </a:solidFill>
                <a:latin typeface="Lato"/>
              </a:rPr>
              <a:t>JWT mal validado: </a:t>
            </a:r>
            <a:r>
              <a:rPr sz="2200" b="0">
                <a:solidFill>
                  <a:srgbClr val="1B2738"/>
                </a:solidFill>
                <a:latin typeface="Lato"/>
              </a:rPr>
              <a:t>alg:none, confusión HS/RS, inyección de kid.</a:t>
            </a:r>
          </a:p>
          <a:p>
            <a:pPr>
              <a:lnSpc>
                <a:spcPct val="102000"/>
              </a:lnSpc>
              <a:spcAft>
                <a:spcPts val="400"/>
              </a:spcAft>
            </a:pPr>
            <a:r>
              <a:rPr sz="2200" b="1">
                <a:solidFill>
                  <a:srgbClr val="1B2738"/>
                </a:solidFill>
                <a:latin typeface="Lato"/>
              </a:rPr>
              <a:t>Ninguna falla es del string: </a:t>
            </a:r>
            <a:r>
              <a:rPr sz="2200" b="0">
                <a:solidFill>
                  <a:srgbClr val="1B2738"/>
                </a:solidFill>
                <a:latin typeface="Lato"/>
              </a:rPr>
              <a:t>son de emisión, autorización o verificación.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2/2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UpGuard / NYT (2022); OWASP (2023); RFC 8725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Atar el token a su portador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000" b="1">
                <a:solidFill>
                  <a:srgbClr val="1B2738"/>
                </a:solidFill>
                <a:latin typeface="Lato"/>
              </a:rPr>
              <a:t>Rotar el refresh lo vuelve de un solo uso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928" b="1">
                <a:solidFill>
                  <a:srgbClr val="1B2738"/>
                </a:solidFill>
                <a:latin typeface="Lato"/>
              </a:rPr>
              <a:t>Gateway vs API: ¿dónde pongo la seguridad?</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gateway es el portero: </a:t>
            </a:r>
            <a:r>
              <a:rPr sz="2000" b="0">
                <a:solidFill>
                  <a:srgbClr val="1B2738"/>
                </a:solidFill>
                <a:latin typeface="Lato"/>
              </a:rPr>
              <a:t>rate limiting, WAF, autenticación básica, geo.</a:t>
            </a:r>
          </a:p>
          <a:p>
            <a:pPr>
              <a:lnSpc>
                <a:spcPct val="102000"/>
              </a:lnSpc>
              <a:spcAft>
                <a:spcPts val="400"/>
              </a:spcAft>
            </a:pPr>
            <a:r>
              <a:rPr sz="2000" b="1">
                <a:solidFill>
                  <a:srgbClr val="1B2738"/>
                </a:solidFill>
                <a:latin typeface="Lato"/>
              </a:rPr>
              <a:t>La API es el dueño de la casa: </a:t>
            </a:r>
            <a:r>
              <a:rPr sz="2000" b="0">
                <a:solidFill>
                  <a:srgbClr val="1B2738"/>
                </a:solidFill>
                <a:latin typeface="Lato"/>
              </a:rPr>
              <a:t>valida el token, verifica autorización por objeto.</a:t>
            </a:r>
          </a:p>
          <a:p>
            <a:pPr>
              <a:lnSpc>
                <a:spcPct val="102000"/>
              </a:lnSpc>
              <a:spcAft>
                <a:spcPts val="400"/>
              </a:spcAft>
            </a:pPr>
            <a:r>
              <a:rPr sz="2000" b="1">
                <a:solidFill>
                  <a:srgbClr val="1B2738"/>
                </a:solidFill>
                <a:latin typeface="Lato"/>
              </a:rPr>
              <a:t>Si todo lo delegás al gateway, </a:t>
            </a:r>
            <a:r>
              <a:rPr sz="2000" b="0">
                <a:solidFill>
                  <a:srgbClr val="1B2738"/>
                </a:solidFill>
                <a:latin typeface="Lato"/>
              </a:rPr>
              <a:t>la API queda desprotegida ante ataques internos.</a:t>
            </a:r>
          </a:p>
          <a:p>
            <a:pPr>
              <a:lnSpc>
                <a:spcPct val="102000"/>
              </a:lnSpc>
              <a:spcAft>
                <a:spcPts val="400"/>
              </a:spcAft>
            </a:pPr>
            <a:r>
              <a:rPr sz="2000" b="1">
                <a:solidFill>
                  <a:srgbClr val="1B2738"/>
                </a:solidFill>
                <a:latin typeface="Lato"/>
              </a:rPr>
              <a:t>Si todo lo ponés en la API, </a:t>
            </a:r>
            <a:r>
              <a:rPr sz="2000" b="0">
                <a:solidFill>
                  <a:srgbClr val="1B2738"/>
                </a:solidFill>
                <a:latin typeface="Lato"/>
              </a:rPr>
              <a:t>repites lógica en cada servicio.</a:t>
            </a:r>
          </a:p>
          <a:p>
            <a:pPr>
              <a:lnSpc>
                <a:spcPct val="102000"/>
              </a:lnSpc>
              <a:spcAft>
                <a:spcPts val="400"/>
              </a:spcAft>
            </a:pPr>
            <a:r>
              <a:rPr sz="2000" b="1">
                <a:solidFill>
                  <a:srgbClr val="1B2738"/>
                </a:solidFill>
                <a:latin typeface="Lato"/>
              </a:rPr>
              <a:t>La regla: </a:t>
            </a:r>
            <a:r>
              <a:rPr sz="2000" b="0">
                <a:solidFill>
                  <a:srgbClr val="1B2738"/>
                </a:solidFill>
                <a:latin typeface="Lato"/>
              </a:rPr>
              <a:t>el gateway filtra, la API decide.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SP 800-207 (Zero Trust).</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Vida corta, rotación y revocación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Access token: </a:t>
            </a:r>
            <a:r>
              <a:rPr sz="2000" b="0">
                <a:solidFill>
                  <a:srgbClr val="1B2738"/>
                </a:solidFill>
                <a:latin typeface="Lato"/>
              </a:rPr>
              <a:t>vida corta y audiencia estricta.</a:t>
            </a:r>
          </a:p>
          <a:p>
            <a:pPr>
              <a:lnSpc>
                <a:spcPct val="102000"/>
              </a:lnSpc>
              <a:spcAft>
                <a:spcPts val="400"/>
              </a:spcAft>
            </a:pPr>
            <a:r>
              <a:rPr sz="2000" b="1">
                <a:solidFill>
                  <a:srgbClr val="1B2738"/>
                </a:solidFill>
                <a:latin typeface="Lato"/>
              </a:rPr>
              <a:t>Refresh token: </a:t>
            </a:r>
            <a:r>
              <a:rPr sz="2000" b="0">
                <a:solidFill>
                  <a:srgbClr val="1B2738"/>
                </a:solidFill>
                <a:latin typeface="Lato"/>
              </a:rPr>
              <a:t>rotación y revocación.</a:t>
            </a:r>
          </a:p>
          <a:p>
            <a:pPr>
              <a:lnSpc>
                <a:spcPct val="102000"/>
              </a:lnSpc>
              <a:spcAft>
                <a:spcPts val="400"/>
              </a:spcAft>
            </a:pPr>
            <a:r>
              <a:rPr sz="2000" b="1">
                <a:solidFill>
                  <a:srgbClr val="1B2738"/>
                </a:solidFill>
                <a:latin typeface="Lato"/>
              </a:rPr>
              <a:t>Permisos: </a:t>
            </a:r>
            <a:r>
              <a:rPr sz="2000" b="0">
                <a:solidFill>
                  <a:srgbClr val="1B2738"/>
                </a:solidFill>
                <a:latin typeface="Lato"/>
              </a:rPr>
              <a:t>mínimo privilegio en los scopes.</a:t>
            </a:r>
          </a:p>
          <a:p>
            <a:pPr>
              <a:lnSpc>
                <a:spcPct val="102000"/>
              </a:lnSpc>
              <a:spcAft>
                <a:spcPts val="400"/>
              </a:spcAft>
            </a:pPr>
            <a:r>
              <a:rPr sz="2000" b="1">
                <a:solidFill>
                  <a:srgbClr val="1B2738"/>
                </a:solidFill>
                <a:latin typeface="Lato"/>
              </a:rPr>
              <a:t>Detección de anomalías: </a:t>
            </a:r>
            <a:r>
              <a:rPr sz="2000" b="0">
                <a:solidFill>
                  <a:srgbClr val="1B2738"/>
                </a:solidFill>
                <a:latin typeface="Lato"/>
              </a:rPr>
              <a:t>¿este token se usa desde dos países a la vez?</a:t>
            </a:r>
          </a:p>
          <a:p>
            <a:pPr>
              <a:lnSpc>
                <a:spcPct val="102000"/>
              </a:lnSpc>
              <a:spcAft>
                <a:spcPts val="400"/>
              </a:spcAft>
            </a:pPr>
            <a:r>
              <a:rPr sz="2000" b="1">
                <a:solidFill>
                  <a:srgbClr val="1B2738"/>
                </a:solidFill>
                <a:latin typeface="Lato"/>
              </a:rPr>
              <a:t>Claves de máquina: </a:t>
            </a:r>
            <a:r>
              <a:rPr sz="2000" b="0">
                <a:solidFill>
                  <a:srgbClr val="1B2738"/>
                </a:solidFill>
                <a:latin typeface="Lato"/>
              </a:rPr>
              <a:t>secret manager y rotación automática.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9700 (2025); RFC 7009 (2013); GitGuardian (2026).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Ocho preguntas antes de confiar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0">
                <a:solidFill>
                  <a:srgbClr val="1B2738"/>
                </a:solidFill>
                <a:latin typeface="Lato"/>
              </a:rPr>
              <a:t>¿El algoritmo de verificación sale de la configuración?</a:t>
            </a:r>
          </a:p>
          <a:p>
            <a:pPr>
              <a:lnSpc>
                <a:spcPct val="102000"/>
              </a:lnSpc>
              <a:spcAft>
                <a:spcPts val="400"/>
              </a:spcAft>
            </a:pPr>
            <a:r>
              <a:rPr sz="1800" b="0">
                <a:solidFill>
                  <a:srgbClr val="1B2738"/>
                </a:solidFill>
                <a:latin typeface="Lato"/>
              </a:rPr>
              <a:t>¿Validás iss, aud y exp con tolerancia corta?</a:t>
            </a:r>
          </a:p>
          <a:p>
            <a:pPr>
              <a:lnSpc>
                <a:spcPct val="102000"/>
              </a:lnSpc>
              <a:spcAft>
                <a:spcPts val="400"/>
              </a:spcAft>
            </a:pPr>
            <a:r>
              <a:rPr sz="1800" b="0">
                <a:solidFill>
                  <a:srgbClr val="1B2738"/>
                </a:solidFill>
                <a:latin typeface="Lato"/>
              </a:rPr>
              <a:t>¿El access token vive lo que debe?</a:t>
            </a:r>
          </a:p>
          <a:p>
            <a:pPr>
              <a:lnSpc>
                <a:spcPct val="102000"/>
              </a:lnSpc>
              <a:spcAft>
                <a:spcPts val="400"/>
              </a:spcAft>
            </a:pPr>
            <a:r>
              <a:rPr sz="1800" b="0">
                <a:solidFill>
                  <a:srgbClr val="1B2738"/>
                </a:solidFill>
                <a:latin typeface="Lato"/>
              </a:rPr>
              <a:t>¿Hay rotación y revocación de refresh?</a:t>
            </a:r>
          </a:p>
          <a:p>
            <a:pPr>
              <a:lnSpc>
                <a:spcPct val="102000"/>
              </a:lnSpc>
              <a:spcAft>
                <a:spcPts val="400"/>
              </a:spcAft>
            </a:pPr>
            <a:r>
              <a:rPr sz="1800" b="0">
                <a:solidFill>
                  <a:srgbClr val="1B2738"/>
                </a:solidFill>
                <a:latin typeface="Lato"/>
              </a:rPr>
              <a:t>¿La autorización por objeto está resuelta?</a:t>
            </a:r>
          </a:p>
          <a:p>
            <a:pPr>
              <a:lnSpc>
                <a:spcPct val="102000"/>
              </a:lnSpc>
              <a:spcAft>
                <a:spcPts val="400"/>
              </a:spcAft>
            </a:pPr>
            <a:r>
              <a:rPr sz="1800" b="0">
                <a:solidFill>
                  <a:srgbClr val="1B2738"/>
                </a:solidFill>
                <a:latin typeface="Lato"/>
              </a:rPr>
              <a:t>¿El token viaja en cabecera y nunca en la URL?</a:t>
            </a:r>
          </a:p>
          <a:p>
            <a:pPr>
              <a:lnSpc>
                <a:spcPct val="102000"/>
              </a:lnSpc>
              <a:spcAft>
                <a:spcPts val="400"/>
              </a:spcAft>
            </a:pPr>
            <a:r>
              <a:rPr sz="1800" b="0">
                <a:solidFill>
                  <a:srgbClr val="1B2738"/>
                </a:solidFill>
                <a:latin typeface="Lato"/>
              </a:rPr>
              <a:t>¿La identidad de máquina es de vida corta?</a:t>
            </a:r>
          </a:p>
          <a:p>
            <a:pPr>
              <a:lnSpc>
                <a:spcPct val="102000"/>
              </a:lnSpc>
              <a:spcAft>
                <a:spcPts val="400"/>
              </a:spcAft>
            </a:pPr>
            <a:r>
              <a:rPr sz="1800" b="0">
                <a:solidFill>
                  <a:srgbClr val="1B2738"/>
                </a:solidFill>
                <a:latin typeface="Lato"/>
              </a:rPr>
              <a:t>¿Qué queda en los logs?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8725 (2020); RFC 9700 (2025); OWASP API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es y qué NO es: el resumen final</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El token es finito: </a:t>
            </a:r>
            <a:r>
              <a:rPr sz="2200" b="0">
                <a:solidFill>
                  <a:srgbClr val="1B2738"/>
                </a:solidFill>
                <a:latin typeface="Lato"/>
              </a:rPr>
              <a:t>emitir, rotar, revocar.</a:t>
            </a:r>
          </a:p>
          <a:p>
            <a:pPr>
              <a:lnSpc>
                <a:spcPct val="102000"/>
              </a:lnSpc>
              <a:spcAft>
                <a:spcPts val="400"/>
              </a:spcAft>
            </a:pPr>
            <a:r>
              <a:rPr sz="2200" b="1">
                <a:solidFill>
                  <a:srgbClr val="1B2738"/>
                </a:solidFill>
                <a:latin typeface="Lato"/>
              </a:rPr>
              <a:t>La MFA protege la emisión, </a:t>
            </a:r>
            <a:r>
              <a:rPr sz="2200" b="0">
                <a:solidFill>
                  <a:srgbClr val="1B2738"/>
                </a:solidFill>
                <a:latin typeface="Lato"/>
              </a:rPr>
              <a:t>no la posesión.</a:t>
            </a:r>
          </a:p>
          <a:p>
            <a:pPr>
              <a:lnSpc>
                <a:spcPct val="102000"/>
              </a:lnSpc>
              <a:spcAft>
                <a:spcPts val="400"/>
              </a:spcAft>
            </a:pPr>
            <a:r>
              <a:rPr sz="2200" b="1">
                <a:solidFill>
                  <a:srgbClr val="1B2738"/>
                </a:solidFill>
                <a:latin typeface="Lato"/>
              </a:rPr>
              <a:t>Autenticar es la puerta; </a:t>
            </a:r>
            <a:r>
              <a:rPr sz="2200" b="0">
                <a:solidFill>
                  <a:srgbClr val="1B2738"/>
                </a:solidFill>
                <a:latin typeface="Lato"/>
              </a:rPr>
              <a:t>autorizar es la cerradura.</a:t>
            </a:r>
          </a:p>
          <a:p>
            <a:pPr>
              <a:lnSpc>
                <a:spcPct val="102000"/>
              </a:lnSpc>
              <a:spcAft>
                <a:spcPts val="400"/>
              </a:spcAft>
            </a:pPr>
            <a:r>
              <a:rPr sz="2200" b="1">
                <a:solidFill>
                  <a:srgbClr val="1B2738"/>
                </a:solidFill>
                <a:latin typeface="Lato"/>
              </a:rPr>
              <a:t>La seguridad nunca estuvo en el string: </a:t>
            </a:r>
            <a:r>
              <a:rPr sz="2200" b="0">
                <a:solidFill>
                  <a:srgbClr val="1B2738"/>
                </a:solidFill>
                <a:latin typeface="Lato"/>
              </a:rPr>
              <a:t>está en el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Bibliografía consolidada al final de la clase completa.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28</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