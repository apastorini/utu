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60" r:id="rId14"/>
    <p:sldId id="261" r:id="rId15"/>
    <p:sldId id="262" r:id="rId16"/>
    <p:sldId id="263" r:id="rId17"/>
    <p:sldId id="264" r:id="rId18"/>
    <p:sldId id="265" r:id="rId19"/>
    <p:sldId id="266" r:id="rId20"/>
    <p:sldId id="267" r:id="rId21"/>
    <p:sldId id="268" r:id="rId22"/>
    <p:sldId id="269" r:id="rId23"/>
    <p:sldId id="270" r:id="rId24"/>
    <p:sldId id="271" r:id="rId25"/>
    <p:sldId id="272" r:id="rId26"/>
    <p:sldId id="273" r:id="rId27"/>
    <p:sldId id="274" r:id="rId28"/>
    <p:sldId id="275" r:id="rId29"/>
    <p:sldId id="276" r:id="rId30"/>
    <p:sldId id="277" r:id="rId31"/>
    <p:sldId id="278" r:id="rId32"/>
    <p:sldId id="279" r:id="rId33"/>
    <p:sldId id="280" r:id="rId34"/>
    <p:sldId id="281" r:id="rId35"/>
    <p:sldId id="282" r:id="rId36"/>
    <p:sldId id="283" r:id="rId37"/>
    <p:sldId id="284" r:id="rId38"/>
    <p:sldId id="285" r:id="rId39"/>
    <p:sldId id="286" r:id="rId40"/>
    <p:sldId id="287" r:id="rId41"/>
    <p:sldId id="288" r:id="rId42"/>
    <p:sldId id="289" r:id="rId43"/>
    <p:sldId id="290" r:id="rId44"/>
    <p:sldId id="291" r:id="rId45"/>
    <p:sldId id="292" r:id="rId46"/>
    <p:sldId id="293" r:id="rId47"/>
    <p:sldId id="294" r:id="rId48"/>
    <p:sldId id="295" r:id="rId49"/>
    <p:sldId id="296" r:id="rId50"/>
    <p:sldId id="297" r:id="rId51"/>
    <p:sldId id="298" r:id="rId52"/>
    <p:sldId id="299" r:id="rId53"/>
    <p:sldId id="300" r:id="rId54"/>
    <p:sldId id="301" r:id="rId55"/>
    <p:sldId id="302" r:id="rId56"/>
    <p:sldId id="303" r:id="rId57"/>
    <p:sldId id="304" r:id="rId58"/>
    <p:sldId id="305" r:id="rId59"/>
  </p:sldIdLst>
  <p:sldSz cy="6858000" cx="12192000"/>
  <p:notesSz cx="6858000" cy="12192000"/>
  <p:embeddedFontLst>
    <p:embeddedFont>
      <p:font typeface="Lato"/>
      <p:regular r:id="rId9"/>
      <p:bold r:id="rId10"/>
      <p:italic r:id="rId11"/>
      <p:boldItalic r:id="rId1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3" roundtripDataSignature="AMtx7mhF+HbnaMg0VhR1Dmmezqh6geLC1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font" Target="fonts/Lato-regular.fntdata"/><Relationship Id="rId10" Type="http://schemas.openxmlformats.org/officeDocument/2006/relationships/font" Target="fonts/Lato-bold.fntdata"/><Relationship Id="rId11" Type="http://schemas.openxmlformats.org/officeDocument/2006/relationships/font" Target="fonts/Lato-italic.fntdata"/><Relationship Id="rId12" Type="http://schemas.openxmlformats.org/officeDocument/2006/relationships/font" Target="fonts/Lato-boldItalic.fntdata"/><Relationship Id="rId13" Type="http://customschemas.google.com/relationships/presentationmetadata" Target="metadata"/><Relationship Id="rId14" Type="http://schemas.openxmlformats.org/officeDocument/2006/relationships/slide" Target="slides/slide5.xml"/><Relationship Id="rId15" Type="http://schemas.openxmlformats.org/officeDocument/2006/relationships/slide" Target="slides/slide6.xml"/><Relationship Id="rId16" Type="http://schemas.openxmlformats.org/officeDocument/2006/relationships/slide" Target="slides/slide7.xml"/><Relationship Id="rId17" Type="http://schemas.openxmlformats.org/officeDocument/2006/relationships/slide" Target="slides/slide8.xml"/><Relationship Id="rId18" Type="http://schemas.openxmlformats.org/officeDocument/2006/relationships/slide" Target="slides/slide9.xml"/><Relationship Id="rId19" Type="http://schemas.openxmlformats.org/officeDocument/2006/relationships/slide" Target="slides/slide10.xml"/><Relationship Id="rId20" Type="http://schemas.openxmlformats.org/officeDocument/2006/relationships/slide" Target="slides/slide11.xml"/><Relationship Id="rId21" Type="http://schemas.openxmlformats.org/officeDocument/2006/relationships/slide" Target="slides/slide12.xml"/><Relationship Id="rId22" Type="http://schemas.openxmlformats.org/officeDocument/2006/relationships/slide" Target="slides/slide13.xml"/><Relationship Id="rId23" Type="http://schemas.openxmlformats.org/officeDocument/2006/relationships/slide" Target="slides/slide14.xml"/><Relationship Id="rId24" Type="http://schemas.openxmlformats.org/officeDocument/2006/relationships/slide" Target="slides/slide15.xml"/><Relationship Id="rId25" Type="http://schemas.openxmlformats.org/officeDocument/2006/relationships/slide" Target="slides/slide16.xml"/><Relationship Id="rId26" Type="http://schemas.openxmlformats.org/officeDocument/2006/relationships/slide" Target="slides/slide17.xml"/><Relationship Id="rId27" Type="http://schemas.openxmlformats.org/officeDocument/2006/relationships/slide" Target="slides/slide18.xml"/><Relationship Id="rId28" Type="http://schemas.openxmlformats.org/officeDocument/2006/relationships/slide" Target="slides/slide19.xml"/><Relationship Id="rId29" Type="http://schemas.openxmlformats.org/officeDocument/2006/relationships/slide" Target="slides/slide20.xml"/><Relationship Id="rId30" Type="http://schemas.openxmlformats.org/officeDocument/2006/relationships/slide" Target="slides/slide21.xml"/><Relationship Id="rId31" Type="http://schemas.openxmlformats.org/officeDocument/2006/relationships/slide" Target="slides/slide22.xml"/><Relationship Id="rId32" Type="http://schemas.openxmlformats.org/officeDocument/2006/relationships/slide" Target="slides/slide23.xml"/><Relationship Id="rId33" Type="http://schemas.openxmlformats.org/officeDocument/2006/relationships/slide" Target="slides/slide24.xml"/><Relationship Id="rId34" Type="http://schemas.openxmlformats.org/officeDocument/2006/relationships/slide" Target="slides/slide25.xml"/><Relationship Id="rId35" Type="http://schemas.openxmlformats.org/officeDocument/2006/relationships/slide" Target="slides/slide26.xml"/><Relationship Id="rId36" Type="http://schemas.openxmlformats.org/officeDocument/2006/relationships/slide" Target="slides/slide27.xml"/><Relationship Id="rId37" Type="http://schemas.openxmlformats.org/officeDocument/2006/relationships/slide" Target="slides/slide28.xml"/><Relationship Id="rId38" Type="http://schemas.openxmlformats.org/officeDocument/2006/relationships/slide" Target="slides/slide29.xml"/><Relationship Id="rId39" Type="http://schemas.openxmlformats.org/officeDocument/2006/relationships/slide" Target="slides/slide30.xml"/><Relationship Id="rId40" Type="http://schemas.openxmlformats.org/officeDocument/2006/relationships/slide" Target="slides/slide31.xml"/><Relationship Id="rId41" Type="http://schemas.openxmlformats.org/officeDocument/2006/relationships/slide" Target="slides/slide32.xml"/><Relationship Id="rId42" Type="http://schemas.openxmlformats.org/officeDocument/2006/relationships/slide" Target="slides/slide33.xml"/><Relationship Id="rId43" Type="http://schemas.openxmlformats.org/officeDocument/2006/relationships/slide" Target="slides/slide34.xml"/><Relationship Id="rId44" Type="http://schemas.openxmlformats.org/officeDocument/2006/relationships/slide" Target="slides/slide35.xml"/><Relationship Id="rId45" Type="http://schemas.openxmlformats.org/officeDocument/2006/relationships/slide" Target="slides/slide36.xml"/><Relationship Id="rId46" Type="http://schemas.openxmlformats.org/officeDocument/2006/relationships/slide" Target="slides/slide37.xml"/><Relationship Id="rId47" Type="http://schemas.openxmlformats.org/officeDocument/2006/relationships/slide" Target="slides/slide38.xml"/><Relationship Id="rId48" Type="http://schemas.openxmlformats.org/officeDocument/2006/relationships/slide" Target="slides/slide39.xml"/><Relationship Id="rId49" Type="http://schemas.openxmlformats.org/officeDocument/2006/relationships/slide" Target="slides/slide40.xml"/><Relationship Id="rId50" Type="http://schemas.openxmlformats.org/officeDocument/2006/relationships/slide" Target="slides/slide41.xml"/><Relationship Id="rId51" Type="http://schemas.openxmlformats.org/officeDocument/2006/relationships/slide" Target="slides/slide42.xml"/><Relationship Id="rId52" Type="http://schemas.openxmlformats.org/officeDocument/2006/relationships/slide" Target="slides/slide43.xml"/><Relationship Id="rId53" Type="http://schemas.openxmlformats.org/officeDocument/2006/relationships/slide" Target="slides/slide44.xml"/><Relationship Id="rId54" Type="http://schemas.openxmlformats.org/officeDocument/2006/relationships/slide" Target="slides/slide45.xml"/><Relationship Id="rId55" Type="http://schemas.openxmlformats.org/officeDocument/2006/relationships/slide" Target="slides/slide46.xml"/><Relationship Id="rId56" Type="http://schemas.openxmlformats.org/officeDocument/2006/relationships/slide" Target="slides/slide47.xml"/><Relationship Id="rId57" Type="http://schemas.openxmlformats.org/officeDocument/2006/relationships/slide" Target="slides/slide48.xml"/><Relationship Id="rId58" Type="http://schemas.openxmlformats.org/officeDocument/2006/relationships/slide" Target="slides/slide49.xml"/><Relationship Id="rId59" Type="http://schemas.openxmlformats.org/officeDocument/2006/relationships/slide" Target="slides/slide5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Buenas tardes. El título es «Bearer token al infinito y más allá». El infinito es lo que viene después del bearer. El más allá es la seguridad completa. El tema central: la falsa sensación de seguridad. Tener un endpoint con Authorization: Bearer no significa que seas seguro. Vamos a ver por qué, desde el principio.</a:t>
            </a:r>
          </a:p>
        </p:txBody>
      </p:sp>
      <p:sp>
        <p:nvSpPr>
          <p:cNvPr id="4" name="Slide Number Placeholder 3"/>
          <p:cNvSpPr>
            <a:spLocks noGrp="1"/>
          </p:cNvSpPr>
          <p:nvPr>
            <p:ph type="sldNum" idx="12"/>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El conflicto. Cada tecnología resolvió algo y dejó algo abierto. Basic resolvió la autenticación mínima pero la credencial viaja en cada request. Cookies resolvieron el estado pero trajeron CSRF y XSS. OAuth 2.0 resolvió la delegación pero creó el bearer. La pregunta no es si el token es seguro, sino qué problema resuelve y qué no.</a:t>
            </a:r>
          </a:p>
        </p:txBody>
      </p:sp>
      <p:sp>
        <p:nvSpPr>
          <p:cNvPr id="4" name="Slide Number Placeholder 3"/>
          <p:cNvSpPr>
            <a:spLocks noGrp="1"/>
          </p:cNvSpPr>
          <p:nvPr>
            <p:ph type="sldNum" idx="12"/>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HTTP Basic: RFC 2617, junio de 1999. Manda usuario y contraseña en Base64 en cada petición. Base64 no es cifrado: está codificado. Resuelve: autenticación mínima sin estado. No resuelve: la credencial viaja en cada request, no hay logout, no hay revocación. Se sigue usando: en sistemas internos y como client_secret_basic en OAuth.</a:t>
            </a:r>
          </a:p>
        </p:txBody>
      </p:sp>
      <p:sp>
        <p:nvSpPr>
          <p:cNvPr id="4" name="Slide Number Placeholder 3"/>
          <p:cNvSpPr>
            <a:spLocks noGrp="1"/>
          </p:cNvSpPr>
          <p:nvPr>
            <p:ph type="sldNum" idx="12"/>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HTTP Digest: RFC 7616, agosto de 2015. Manda un hash con un nonce en lugar de la contraseña en claro. Resuelve: no mandar la contraseña en claro. No resuelve: el modelo sigue siendo credencial en cada request, no hay forma limpia de delegar. Se sigue usando: prácticamente en desuso.</a:t>
            </a:r>
          </a:p>
        </p:txBody>
      </p:sp>
      <p:sp>
        <p:nvSpPr>
          <p:cNvPr id="4" name="Slide Number Placeholder 3"/>
          <p:cNvSpPr>
            <a:spLocks noGrp="1"/>
          </p:cNvSpPr>
          <p:nvPr>
            <p:ph type="sldNum" idx="12"/>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Cookies: Netscape, 1996. RFC 6265, abril de 2011. Un identificador de sesión que el navegador guarda y reenvía. Resuelve: recordar quién sos sin repetir la contraseña. No resuelve: CSRF, robo de sesión por XSS, fijación de sesión. Se sigue usando: en navegadores, con HttpOnly, Secure y SameSite.</a:t>
            </a:r>
          </a:p>
        </p:txBody>
      </p:sp>
      <p:sp>
        <p:nvSpPr>
          <p:cNvPr id="4" name="Slide Number Placeholder 3"/>
          <p:cNvSpPr>
            <a:spLocks noGrp="1"/>
          </p:cNvSpPr>
          <p:nvPr>
            <p:ph type="sldNum" idx="12"/>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API keys: AWS, 2006. Un secreto estático que identifica al cliente. Resuelve: identificar aplicaciones sin un servidor de identidad. No resuelve: no expira, no distingue permisos, si se filtra es impersonación directa. Se sigue usando: en servicios internos y APIs de terceros.</a:t>
            </a:r>
          </a:p>
        </p:txBody>
      </p:sp>
      <p:sp>
        <p:nvSpPr>
          <p:cNvPr id="4" name="Slide Number Placeholder 3"/>
          <p:cNvSpPr>
            <a:spLocks noGrp="1"/>
          </p:cNvSpPr>
          <p:nvPr>
            <p:ph type="sldNum" idx="12"/>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SAML 2.0: OASIS, marzo de 2005. Aserciones XML firmadas para federación. Resuelve: SSO entre aplicaciones, identidad federada. No resuelve: XML pesado, difícil de implementar en móviles y SPAs. Se sigue usando: en banca, gobierno y SaaS corporativo.</a:t>
            </a:r>
          </a:p>
        </p:txBody>
      </p:sp>
      <p:sp>
        <p:nvSpPr>
          <p:cNvPr id="4" name="Slide Number Placeholder 3"/>
          <p:cNvSpPr>
            <a:spLocks noGrp="1"/>
          </p:cNvSpPr>
          <p:nvPr>
            <p:ph type="sldNum" idx="12"/>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OAuth 1.0: RFC 5849, abril de 2010. Firmaba cada request con HMAC-SHA1. Resuelve: un request robado no se podía reutilizar. No resuelve: era muy difícil de implementar bien. Se sigue usando: prácticamente abandonado.</a:t>
            </a:r>
          </a:p>
        </p:txBody>
      </p:sp>
      <p:sp>
        <p:nvSpPr>
          <p:cNvPr id="4" name="Slide Number Placeholder 3"/>
          <p:cNvSpPr>
            <a:spLocks noGrp="1"/>
          </p:cNvSpPr>
          <p:nvPr>
            <p:ph type="sldNum" idx="12"/>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Bearer token: RFC 6749 y RFC 6750, octubre de 2012. Un string que se presenta en la cabecera Authorization. Resuelve: simplicidad, no hay que firmar cada request. No resuelve: quien tiene el token, lo usa. La falsa sensación de seguridad nace aquí: bearer no significa seguro, significa portador.</a:t>
            </a:r>
          </a:p>
        </p:txBody>
      </p:sp>
      <p:sp>
        <p:nvSpPr>
          <p:cNvPr id="4" name="Slide Number Placeholder 3"/>
          <p:cNvSpPr>
            <a:spLocks noGrp="1"/>
          </p:cNvSpPr>
          <p:nvPr>
            <p:ph type="sldNum" idx="12"/>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La falsa sensación de seguridad. El bearer token resuelve la delegación de autorización. No resuelve: autorización, cifrado, anti-replay, MFA, gestión de sesión. Tener Authorization: Bearer no significa que la API es seguridad. Significa que quien tiene el token, entra.</a:t>
            </a:r>
          </a:p>
        </p:txBody>
      </p:sp>
      <p:sp>
        <p:nvSpPr>
          <p:cNvPr id="4" name="Slide Number Placeholder 3"/>
          <p:cNvSpPr>
            <a:spLocks noGrp="1"/>
          </p:cNvSpPr>
          <p:nvPr>
            <p:ph type="sldNum" idx="12"/>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Qué no cubre el bearer. No cifra el payload. No autoriza por sí solo. No previene replay. No verifica dispositivo. No es MFA. No protege contra XSS. El token solo responde una pregunta: ¿es válido? Nada más.</a:t>
            </a:r>
          </a:p>
        </p:txBody>
      </p:sp>
      <p:sp>
        <p:nvSpPr>
          <p:cNvPr id="4" name="Slide Number Placeholder 3"/>
          <p:cNvSpPr>
            <a:spLocks noGrp="1"/>
          </p:cNvSpPr>
          <p:nvPr>
            <p:ph type="sldNum" idx="12"/>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JWT: RFC 7519, mayo de 2015. Tres partes en base64url: header, payload, signature. Resuelve: claims autenticables sin estado. No resuelve: el payload no está cifrado, cualquiera lo lee. Y guarda una trampa: si el validador confía en el alg del token, el atacante elige el algoritmo.</a:t>
            </a:r>
          </a:p>
        </p:txBody>
      </p:sp>
      <p:sp>
        <p:nvSpPr>
          <p:cNvPr id="4" name="Slide Number Placeholder 3"/>
          <p:cNvSpPr>
            <a:spLocks noGrp="1"/>
          </p:cNvSpPr>
          <p:nvPr>
            <p:ph type="sldNum" idx="12"/>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Base64 no es cifrado: es codificación. Muchos protocolos como HTTP, email SMTP o XML fueron diseñados para transportar texto de 7 bits (ASCII). No pueden transportar bytes arbitrarios directamente. Un byte 0xFF no es un carácter ASCII válido. Base64 convierte cualquier secuencia de bytes en texto ASCII de 7 bits, de modo que puede viajar por esos protocolos sin corromperse. Opera en grupos de 3 bytes (24 bits) y los divide en 4 grupos de 6 bits. Cada grupo se mapea a un carácter del alfabeto Base64: A-Z, a-z, 0-9, +, /. Cualquier sistema que solo entiende texto puede transportar una imagen sin problema. El receptor aplica Base64-decode y recupera los bytes originales. La diferencia: cifrado oculta información y requiere clave; codificación solo representa datos en otro formato, no requiere clave y es reversible por cualquiera. Base64 es como poner un sobre de papel transparente: cambia la presentación, no el contenido.</a:t>
            </a:r>
          </a:p>
        </p:txBody>
      </p:sp>
      <p:sp>
        <p:nvSpPr>
          <p:cNvPr id="4" name="Slide Number Placeholder 3"/>
          <p:cNvSpPr>
            <a:spLocks noGrp="1"/>
          </p:cNvSpPr>
          <p:nvPr>
            <p:ph type="sldNum" idx="12"/>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La línea de tiempo. Cada tecnología nació como respuesta a un problema. Basic, Digest, cookies, API keys, SAML, OAuth 1.0, bearer. Ninguna reemplazó a la anterior: se apilan. Cada capa sigue viva.</a:t>
            </a:r>
          </a:p>
        </p:txBody>
      </p:sp>
      <p:sp>
        <p:nvSpPr>
          <p:cNvPr id="4" name="Slide Number Placeholder 3"/>
          <p:cNvSpPr>
            <a:spLocks noGrp="1"/>
          </p:cNvSpPr>
          <p:nvPr>
            <p:ph type="sldNum" idx="12"/>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Acto II: la seguridad dinámica. La autenticación no es un interruptor. Es un flujo continuo. El usuario entra con contraseña, pero para operaciones sensibles la API debe exigir más. Ahí entra MFA Step-Up.</a:t>
            </a:r>
          </a:p>
        </p:txBody>
      </p:sp>
      <p:sp>
        <p:nvSpPr>
          <p:cNvPr id="4" name="Slide Number Placeholder 3"/>
          <p:cNvSpPr>
            <a:spLocks noGrp="1"/>
          </p:cNvSpPr>
          <p:nvPr>
            <p:ph type="sldNum" idx="12"/>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MFA Step-Up: RFC 9470. La API evalúa la transacción: es sensible, el token dice autenticación simple. Responde 401 con WWW-Authenticate y acr_values. El frontend redirige al IdP. El usuario pasa segundo factor. Nuevo token con acr actualizado. Reintento exitoso.</a:t>
            </a:r>
          </a:p>
        </p:txBody>
      </p:sp>
      <p:sp>
        <p:nvSpPr>
          <p:cNvPr id="4" name="Slide Number Placeholder 3"/>
          <p:cNvSpPr>
            <a:spLocks noGrp="1"/>
          </p:cNvSpPr>
          <p:nvPr>
            <p:ph type="sldNum" idx="12"/>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Máquina a máquina: no hay humano para factorizar. Cuando el invocador es un microservicio, el equivalente es mTLS con certificados X.509 o firmado de peticiones con Private Key JWT.</a:t>
            </a:r>
          </a:p>
        </p:txBody>
      </p:sp>
      <p:sp>
        <p:nvSpPr>
          <p:cNvPr id="4" name="Slide Number Placeholder 3"/>
          <p:cNvSpPr>
            <a:spLocks noGrp="1"/>
          </p:cNvSpPr>
          <p:nvPr>
            <p:ph type="sldNum" idx="12"/>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Acto III: el ecosistema mobile. Las apps están en manos del atacante. Pueden modificar el APK, desactivar SSL pinning, extraer secretos. El cliente Frankenstein simula ser la app legítima.</a:t>
            </a:r>
          </a:p>
        </p:txBody>
      </p:sp>
      <p:sp>
        <p:nvSpPr>
          <p:cNvPr id="4" name="Slide Number Placeholder 3"/>
          <p:cNvSpPr>
            <a:spLocks noGrp="1"/>
          </p:cNvSpPr>
          <p:nvPr>
            <p:ph type="sldNum" idx="12"/>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PKCE: RFC 7636, agosto de 2015. El cliente genera un code_verifier, envía su hash como code_challenge, y prueba el verifier al canjear el código. Si un atacante intercepta el código, no lo puede canjear sin el verifier.</a:t>
            </a:r>
          </a:p>
        </p:txBody>
      </p:sp>
      <p:sp>
        <p:nvSpPr>
          <p:cNvPr id="4" name="Slide Number Placeholder 3"/>
          <p:cNvSpPr>
            <a:spLocks noGrp="1"/>
          </p:cNvSpPr>
          <p:nvPr>
            <p:ph type="sldNum" idx="12"/>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App Attestation: Play Integrity API en Android, DeviceCheck en iOS. Verifica que el binario no fue modificado y emite un token de attestation. La API lo verifica antes de operaciones sensibles.</a:t>
            </a:r>
          </a:p>
        </p:txBody>
      </p:sp>
      <p:sp>
        <p:nvSpPr>
          <p:cNvPr id="4" name="Slide Number Placeholder 3"/>
          <p:cNvSpPr>
            <a:spLocks noGrp="1"/>
          </p:cNvSpPr>
          <p:nvPr>
            <p:ph type="sldNum" idx="12"/>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Mobile: las tres capas juntas. App Attestation verifica la integridad del binario. PKCE protege el código. DPoP ata el token a una clave privada del dispositivo. El cliente Frankenstein se queda fuera.</a:t>
            </a:r>
          </a:p>
        </p:txBody>
      </p:sp>
      <p:sp>
        <p:nvSpPr>
          <p:cNvPr id="4" name="Slide Number Placeholder 3"/>
          <p:cNvSpPr>
            <a:spLocks noGrp="1"/>
          </p:cNvSpPr>
          <p:nvPr>
            <p:ph type="sldNum" idx="12"/>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DPoP contra mTLS. mTLS opera en capa 4: certificado X.509 en el handshake TLS. DPoP opera en capa 7: JWT firmado en un header HTTP. mTLS es ideal para M2M. DPoP es ideal para clientes públicos.</a:t>
            </a:r>
          </a:p>
        </p:txBody>
      </p:sp>
      <p:sp>
        <p:nvSpPr>
          <p:cNvPr id="4" name="Slide Number Placeholder 3"/>
          <p:cNvSpPr>
            <a:spLocks noGrp="1"/>
          </p:cNvSpPr>
          <p:nvPr>
            <p:ph type="sldNum" idx="12"/>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DPoP: RFC 9449, octubre de 2023. El cliente genera un par de claves dinámicamente. El token se ata a la clave pública. Cada request incluye un JWT firmado con la clave privada. Sin PKI, funciona a través de proxies y WAFs.</a:t>
            </a:r>
          </a:p>
        </p:txBody>
      </p:sp>
      <p:sp>
        <p:nvSpPr>
          <p:cNvPr id="4" name="Slide Number Placeholder 3"/>
          <p:cNvSpPr>
            <a:spLocks noGrp="1"/>
          </p:cNvSpPr>
          <p:nvPr>
            <p:ph type="sldNum" idx="12"/>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Arquitectura: el token vive en el ecosistema. TLS protege en tránsito. Gateway valida firma, expiración y aud. Zero Trust: cada microservicio autoriza según su lógica de negocio.</a:t>
            </a:r>
          </a:p>
        </p:txBody>
      </p:sp>
      <p:sp>
        <p:nvSpPr>
          <p:cNvPr id="4" name="Slide Number Placeholder 3"/>
          <p:cNvSpPr>
            <a:spLocks noGrp="1"/>
          </p:cNvSpPr>
          <p:nvPr>
            <p:ph type="sldNum" idx="12"/>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El caso uruguayo. ID Uruguay usa OIDC con bearer tokens. Cualquier integración con tokens de larga vida sin rotación es un riesgo. Las mitigaciones de esta charla aplican igual: DPoP, PKCE, Step-Up.</a:t>
            </a:r>
          </a:p>
        </p:txBody>
      </p:sp>
      <p:sp>
        <p:nvSpPr>
          <p:cNvPr id="4" name="Slide Number Placeholder 3"/>
          <p:cNvSpPr>
            <a:spLocks noGrp="1"/>
          </p:cNvSpPr>
          <p:nvPr>
            <p:ph type="sldNum" idx="12"/>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El token se acaba. El riesgo no. La falsa sensación de seguridad es pensar que bearer significa seguro. Bearer significa portador. La seguridad está en el sistema: autorización, cifrado, anti-replay, MFA, gestión de sesión. Gracias.</a:t>
            </a:r>
          </a:p>
        </p:txBody>
      </p:sp>
      <p:sp>
        <p:nvSpPr>
          <p:cNvPr id="4" name="Slide Number Placeholder 3"/>
          <p:cNvSpPr>
            <a:spLocks noGrp="1"/>
          </p:cNvSpPr>
          <p:nvPr>
            <p:ph type="sldNum" idx="12"/>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La familia de tokens. Authorization code, access token, refresh token e ID token. Cada uno con su destinatario y su vida.</a:t>
            </a:r>
          </a:p>
        </p:txBody>
      </p:sp>
      <p:sp>
        <p:nvSpPr>
          <p:cNvPr id="4" name="Slide Number Placeholder 3"/>
          <p:cNvSpPr>
            <a:spLocks noGrp="1"/>
          </p:cNvSpPr>
          <p:nvPr>
            <p:ph type="sldNum" idx="12"/>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Anatomía de un JWT. Header, payload, signature. Todo en base64url. El payload no está cifrado: está firmado.</a:t>
            </a:r>
          </a:p>
        </p:txBody>
      </p:sp>
      <p:sp>
        <p:nvSpPr>
          <p:cNvPr id="4" name="Slide Number Placeholder 3"/>
          <p:cNvSpPr>
            <a:spLocks noGrp="1"/>
          </p:cNvSpPr>
          <p:nvPr>
            <p:ph type="sldNum" idx="12"/>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Dónde viaja el token. Cabecera, cuerpo o query. RFC 9700 prohíbe tokens en URIs.</a:t>
            </a:r>
          </a:p>
        </p:txBody>
      </p:sp>
      <p:sp>
        <p:nvSpPr>
          <p:cNvPr id="4" name="Slide Number Placeholder 3"/>
          <p:cNvSpPr>
            <a:spLocks noGrp="1"/>
          </p:cNvSpPr>
          <p:nvPr>
            <p:ph type="sldNum" idx="12"/>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La MFA protege un instante. Después, el token vive solo. Step-Up, DPoP y App Attestation son las respuestas para el uso.</a:t>
            </a:r>
          </a:p>
        </p:txBody>
      </p:sp>
      <p:sp>
        <p:nvSpPr>
          <p:cNvPr id="4" name="Slide Number Placeholder 3"/>
          <p:cNvSpPr>
            <a:spLocks noGrp="1"/>
          </p:cNvSpPr>
          <p:nvPr>
            <p:ph type="sldNum" idx="12"/>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Persona y sistema: dos preguntas distintas. Para la persona probamos que un humano se autenticó. Para el sistema probamos que un workload concreto pidió el token.</a:t>
            </a:r>
          </a:p>
        </p:txBody>
      </p:sp>
      <p:sp>
        <p:nvSpPr>
          <p:cNvPr id="4" name="Slide Number Placeholder 3"/>
          <p:cNvSpPr>
            <a:spLocks noGrp="1"/>
          </p:cNvSpPr>
          <p:nvPr>
            <p:ph type="sldNum" idx="12"/>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Del bearer al sender-constrained. Token Binding (2018), mTLS (2020), DPoP (2023). La evolución es clara: atar el token a su portador.</a:t>
            </a:r>
          </a:p>
        </p:txBody>
      </p:sp>
      <p:sp>
        <p:nvSpPr>
          <p:cNvPr id="4" name="Slide Number Placeholder 3"/>
          <p:cNvSpPr>
            <a:spLocks noGrp="1"/>
          </p:cNvSpPr>
          <p:nvPr>
            <p:ph type="sldNum" idx="12"/>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Los flujos de OAuth. Authorization Code con PKCE es el recomendado para clientes públicos. Client Credentials es para M2M.</a:t>
            </a:r>
          </a:p>
        </p:txBody>
      </p:sp>
      <p:sp>
        <p:nvSpPr>
          <p:cNvPr id="4" name="Slide Number Placeholder 3"/>
          <p:cNvSpPr>
            <a:spLocks noGrp="1"/>
          </p:cNvSpPr>
          <p:nvPr>
            <p:ph type="sldNum" idx="12"/>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La pila de protocolos. HTTP, TLS, OAuth/OIDC, JWT, JOSE. Cada capa resuelve un problema. Ninguna resuelve todos.</a:t>
            </a:r>
          </a:p>
        </p:txBody>
      </p:sp>
      <p:sp>
        <p:nvSpPr>
          <p:cNvPr id="4" name="Slide Number Placeholder 3"/>
          <p:cNvSpPr>
            <a:spLocks noGrp="1"/>
          </p:cNvSpPr>
          <p:nvPr>
            <p:ph type="sldNum" idx="12"/>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El ciclo de vida del token. Emisión, transporte, almacenamiento, uso, renovación, revocación, expiración. Defender una API es cubrir todas las etapas.</a:t>
            </a:r>
          </a:p>
        </p:txBody>
      </p:sp>
      <p:sp>
        <p:nvSpPr>
          <p:cNvPr id="4" name="Slide Number Placeholder 3"/>
          <p:cNvSpPr>
            <a:spLocks noGrp="1"/>
          </p:cNvSpPr>
          <p:nvPr>
            <p:ph type="sldNum" idx="12"/>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OWASP API Security Top 10. BOLA, Broken Authentication, BOPLA, Unrestricted Resource Consumption, BFLA, Sensitive Business Flows, SSRF, Misconfiguration, Improper Inventory, Unsafe Consumption.</a:t>
            </a:r>
          </a:p>
        </p:txBody>
      </p:sp>
      <p:sp>
        <p:nvSpPr>
          <p:cNvPr id="4" name="Slide Number Placeholder 3"/>
          <p:cNvSpPr>
            <a:spLocks noGrp="1"/>
          </p:cNvSpPr>
          <p:nvPr>
            <p:ph type="sldNum" idx="12"/>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Arquitectura de referencia. Cliente, Gateway, IAM, Microservicios, Datos. Cada capa tiene su responsabilidad.</a:t>
            </a:r>
          </a:p>
        </p:txBody>
      </p:sp>
      <p:sp>
        <p:nvSpPr>
          <p:cNvPr id="4" name="Slide Number Placeholder 3"/>
          <p:cNvSpPr>
            <a:spLocks noGrp="1"/>
          </p:cNvSpPr>
          <p:nvPr>
            <p:ph type="sldNum" idx="12"/>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Alrededor del token hay un sistema entero. Gateway, IAM, MFA, Rate Limiting, WAF, API Keys, OAuth/OIDC, JWT, Scopes, RBAC/ABAC, Secret Manager, mTLS/DPoP, Observabilidad, Zero Trust, BOLA.</a:t>
            </a:r>
          </a:p>
        </p:txBody>
      </p:sp>
      <p:sp>
        <p:nvSpPr>
          <p:cNvPr id="4" name="Slide Number Placeholder 3"/>
          <p:cNvSpPr>
            <a:spLocks noGrp="1"/>
          </p:cNvSpPr>
          <p:nvPr>
            <p:ph type="sldNum" idx="12"/>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El ecosistema completo. Cada círculo es un componente que puede fallar. La seguridad de la API es la suma de todas las piezas.</a:t>
            </a:r>
          </a:p>
        </p:txBody>
      </p:sp>
      <p:sp>
        <p:nvSpPr>
          <p:cNvPr id="4" name="Slide Number Placeholder 3"/>
          <p:cNvSpPr>
            <a:spLocks noGrp="1"/>
          </p:cNvSpPr>
          <p:nvPr>
            <p:ph type="sldNum" idx="12"/>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La familia de tokens en detalle. Los cuatro artefactos con sus roles, vidas y destinos.</a:t>
            </a:r>
          </a:p>
        </p:txBody>
      </p:sp>
      <p:sp>
        <p:nvSpPr>
          <p:cNvPr id="4" name="Slide Number Placeholder 3"/>
          <p:cNvSpPr>
            <a:spLocks noGrp="1"/>
          </p:cNvSpPr>
          <p:nvPr>
            <p:ph type="sldNum" idx="12"/>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JWT en detalle. Validar todo: header, payload, signature. No solo la firma.</a:t>
            </a:r>
          </a:p>
        </p:txBody>
      </p:sp>
      <p:sp>
        <p:nvSpPr>
          <p:cNvPr id="4" name="Slide Number Placeholder 3"/>
          <p:cNvSpPr>
            <a:spLocks noGrp="1"/>
          </p:cNvSpPr>
          <p:nvPr>
            <p:ph type="sldNum" idx="12"/>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MFA en detalle. El segundo factor protege el momento de la emisión. Después, el token vive solo.</a:t>
            </a:r>
          </a:p>
        </p:txBody>
      </p:sp>
      <p:sp>
        <p:nvSpPr>
          <p:cNvPr id="4" name="Slide Number Placeholder 3"/>
          <p:cNvSpPr>
            <a:spLocks noGrp="1"/>
          </p:cNvSpPr>
          <p:nvPr>
            <p:ph type="sldNum" idx="12"/>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OWASP Top 10 en detalle. Cada riesgo con su forma de probarlo y su defensa.</a:t>
            </a:r>
          </a:p>
        </p:txBody>
      </p:sp>
      <p:sp>
        <p:nvSpPr>
          <p:cNvPr id="4" name="Slide Number Placeholder 3"/>
          <p:cNvSpPr>
            <a:spLocks noGrp="1"/>
          </p:cNvSpPr>
          <p:nvPr>
            <p:ph type="sldNum" idx="12"/>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DPoP en detalle. El cliente firma cada request con su clave privada. El servidor valida la prueba y no acepta el token sin ella.</a:t>
            </a:r>
          </a:p>
        </p:txBody>
      </p:sp>
      <p:sp>
        <p:nvSpPr>
          <p:cNvPr id="4" name="Slide Number Placeholder 3"/>
          <p:cNvSpPr>
            <a:spLocks noGrp="1"/>
          </p:cNvSpPr>
          <p:nvPr>
            <p:ph type="sldNum" idx="12"/>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Refresh token en detalle. Rotación: cada uso emite uno nuevo y el viejo se invalida.</a:t>
            </a:r>
          </a:p>
        </p:txBody>
      </p:sp>
      <p:sp>
        <p:nvSpPr>
          <p:cNvPr id="4" name="Slide Number Placeholder 3"/>
          <p:cNvSpPr>
            <a:spLocks noGrp="1"/>
          </p:cNvSpPr>
          <p:nvPr>
            <p:ph type="sldNum" idx="12"/>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Transporte del token en detalle. Cabecera es el lugar correcto. Query está prohibido por RFC 9700.</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mpty without logo on corner">
  <p:cSld name="DEFAULT">
    <p:bg>
      <p:bgPr>
        <a:blipFill>
          <a:blip r:embed="rId2">
            <a:alphaModFix/>
          </a:blip>
          <a:stretch>
            <a:fillRect/>
          </a:stretch>
        </a:blipFill>
      </p:bgPr>
    </p:bg>
    <p:spTree>
      <p:nvGrpSpPr>
        <p:cNvPr id="13" name="Shape 13"/>
        <p:cNvGrpSpPr/>
        <p:nvPr/>
      </p:nvGrpSpPr>
      <p:grpSpPr>
        <a:xfrm>
          <a:off x="0" y="0"/>
          <a:ext cx="0" cy="0"/>
          <a:chOff x="0" y="0"/>
          <a:chExt cx="0" cy="0"/>
        </a:xfrm>
      </p:grpSpPr>
      <p:pic>
        <p:nvPicPr>
          <p:cNvPr id="14" name="Google Shape;14;g3fba80d6a72_0_45"/>
          <p:cNvPicPr preferRelativeResize="0"/>
          <p:nvPr/>
        </p:nvPicPr>
        <p:blipFill>
          <a:blip r:embed="rId3">
            <a:alphaModFix/>
          </a:blip>
          <a:stretch>
            <a:fillRect/>
          </a:stretch>
        </p:blipFill>
        <p:spPr>
          <a:xfrm>
            <a:off x="9677400" y="5086350"/>
            <a:ext cx="2514600" cy="177165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mpty with logo on corner">
  <p:cSld name="CUSTOM_1">
    <p:bg>
      <p:bgPr>
        <a:blipFill>
          <a:blip r:embed="rId2">
            <a:alphaModFix/>
          </a:blip>
          <a:stretch>
            <a:fillRect/>
          </a:stretch>
        </a:blipFill>
      </p:bgPr>
    </p:bg>
    <p:spTree>
      <p:nvGrpSpPr>
        <p:cNvPr id="15" name="Shape 15"/>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Title">
  <p:cSld name="CUSTOM_1_1">
    <p:bg>
      <p:bgPr>
        <a:blipFill>
          <a:blip r:embed="rId2">
            <a:alphaModFix/>
          </a:blip>
          <a:stretch>
            <a:fillRect/>
          </a:stretch>
        </a:blipFill>
      </p:bgPr>
    </p:bg>
    <p:spTree>
      <p:nvGrpSpPr>
        <p:cNvPr id="16" name="Shape 16"/>
        <p:cNvGrpSpPr/>
        <p:nvPr/>
      </p:nvGrpSpPr>
      <p:grpSpPr>
        <a:xfrm>
          <a:off x="0" y="0"/>
          <a:ext cx="0" cy="0"/>
          <a:chOff x="0" y="0"/>
          <a:chExt cx="0" cy="0"/>
        </a:xfrm>
      </p:grpSpPr>
      <p:sp>
        <p:nvSpPr>
          <p:cNvPr id="17" name="Google Shape;17;g3fba80d6a72_0_48"/>
          <p:cNvSpPr txBox="1"/>
          <p:nvPr>
            <p:ph type="title"/>
          </p:nvPr>
        </p:nvSpPr>
        <p:spPr>
          <a:xfrm>
            <a:off x="773900" y="1571625"/>
            <a:ext cx="7143900" cy="1809600"/>
          </a:xfrm>
          <a:prstGeom prst="rect">
            <a:avLst/>
          </a:prstGeom>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1B2738"/>
              </a:buClr>
              <a:buSzPts val="6400"/>
              <a:buFont typeface="Lato"/>
              <a:buNone/>
              <a:defRPr b="1" sz="6400">
                <a:solidFill>
                  <a:srgbClr val="1B2738"/>
                </a:solidFill>
                <a:latin typeface="Lato"/>
                <a:ea typeface="Lato"/>
                <a:cs typeface="Lato"/>
                <a:sym typeface="Lat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g3fba80d6a72_0_48"/>
          <p:cNvSpPr txBox="1"/>
          <p:nvPr>
            <p:ph idx="2" type="title"/>
          </p:nvPr>
        </p:nvSpPr>
        <p:spPr>
          <a:xfrm>
            <a:off x="773900" y="3381225"/>
            <a:ext cx="9786900" cy="1193100"/>
          </a:xfrm>
          <a:prstGeom prst="rect">
            <a:avLst/>
          </a:prstGeom>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C39A00"/>
              </a:buClr>
              <a:buSzPts val="5600"/>
              <a:buFont typeface="Lato"/>
              <a:buNone/>
              <a:defRPr b="1" i="1" sz="5600">
                <a:solidFill>
                  <a:srgbClr val="FFCC01"/>
                </a:solidFill>
                <a:latin typeface="Lato"/>
                <a:ea typeface="Lato"/>
                <a:cs typeface="Lato"/>
                <a:sym typeface="Lat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g3fba80d6a72_0_48"/>
          <p:cNvSpPr txBox="1"/>
          <p:nvPr>
            <p:ph idx="1" type="body"/>
          </p:nvPr>
        </p:nvSpPr>
        <p:spPr>
          <a:xfrm>
            <a:off x="773900" y="5572150"/>
            <a:ext cx="8250900" cy="488100"/>
          </a:xfrm>
          <a:prstGeom prst="rect">
            <a:avLst/>
          </a:prstGeom>
          <a:noFill/>
          <a:ln>
            <a:noFill/>
          </a:ln>
        </p:spPr>
        <p:txBody>
          <a:bodyPr anchorCtr="0" anchor="ctr" bIns="91425" lIns="91425" spcFirstLastPara="1" rIns="91425" wrap="square" tIns="91425">
            <a:noAutofit/>
          </a:bodyPr>
          <a:lstStyle>
            <a:lvl1pPr indent="-317500" lvl="0" marL="457200">
              <a:spcBef>
                <a:spcPts val="0"/>
              </a:spcBef>
              <a:spcAft>
                <a:spcPts val="0"/>
              </a:spcAft>
              <a:buSzPts val="1400"/>
              <a:buFont typeface="Lato"/>
              <a:buChar char="●"/>
              <a:defRPr>
                <a:latin typeface="Lato"/>
                <a:ea typeface="Lato"/>
                <a:cs typeface="Lato"/>
                <a:sym typeface="Lato"/>
              </a:defRPr>
            </a:lvl1pPr>
            <a:lvl2pPr indent="-228600" lvl="1" marL="914400" marR="0" rtl="0" algn="l">
              <a:lnSpc>
                <a:spcPct val="100000"/>
              </a:lnSpc>
              <a:spcBef>
                <a:spcPts val="0"/>
              </a:spcBef>
              <a:spcAft>
                <a:spcPts val="0"/>
              </a:spcAft>
              <a:buClr>
                <a:schemeClr val="dk1"/>
              </a:buClr>
              <a:buSzPts val="1100"/>
              <a:buFont typeface="Arial"/>
              <a:buNone/>
              <a:defRPr sz="1600">
                <a:solidFill>
                  <a:srgbClr val="1B2738"/>
                </a:solidFill>
                <a:latin typeface="Lato"/>
                <a:ea typeface="Lato"/>
                <a:cs typeface="Lato"/>
                <a:sym typeface="Lato"/>
              </a:defRPr>
            </a:lvl2pPr>
            <a:lvl3pPr indent="-317500" lvl="2" marL="1371600">
              <a:spcBef>
                <a:spcPts val="0"/>
              </a:spcBef>
              <a:spcAft>
                <a:spcPts val="0"/>
              </a:spcAft>
              <a:buSzPts val="1400"/>
              <a:buFont typeface="Lato"/>
              <a:buChar char="■"/>
              <a:defRPr>
                <a:latin typeface="Lato"/>
                <a:ea typeface="Lato"/>
                <a:cs typeface="Lato"/>
                <a:sym typeface="Lato"/>
              </a:defRPr>
            </a:lvl3pPr>
            <a:lvl4pPr indent="-317500" lvl="3" marL="1828800">
              <a:spcBef>
                <a:spcPts val="0"/>
              </a:spcBef>
              <a:spcAft>
                <a:spcPts val="0"/>
              </a:spcAft>
              <a:buSzPts val="1400"/>
              <a:buFont typeface="Lato"/>
              <a:buChar char="●"/>
              <a:defRPr>
                <a:latin typeface="Lato"/>
                <a:ea typeface="Lato"/>
                <a:cs typeface="Lato"/>
                <a:sym typeface="Lato"/>
              </a:defRPr>
            </a:lvl4pPr>
            <a:lvl5pPr indent="-317500" lvl="4" marL="2286000">
              <a:spcBef>
                <a:spcPts val="0"/>
              </a:spcBef>
              <a:spcAft>
                <a:spcPts val="0"/>
              </a:spcAft>
              <a:buSzPts val="1400"/>
              <a:buFont typeface="Lato"/>
              <a:buChar char="○"/>
              <a:defRPr>
                <a:latin typeface="Lato"/>
                <a:ea typeface="Lato"/>
                <a:cs typeface="Lato"/>
                <a:sym typeface="Lato"/>
              </a:defRPr>
            </a:lvl5pPr>
            <a:lvl6pPr indent="-317500" lvl="5" marL="2743200">
              <a:spcBef>
                <a:spcPts val="0"/>
              </a:spcBef>
              <a:spcAft>
                <a:spcPts val="0"/>
              </a:spcAft>
              <a:buSzPts val="1400"/>
              <a:buFont typeface="Lato"/>
              <a:buChar char="■"/>
              <a:defRPr>
                <a:latin typeface="Lato"/>
                <a:ea typeface="Lato"/>
                <a:cs typeface="Lato"/>
                <a:sym typeface="Lato"/>
              </a:defRPr>
            </a:lvl6pPr>
            <a:lvl7pPr indent="-317500" lvl="6" marL="3200400">
              <a:spcBef>
                <a:spcPts val="0"/>
              </a:spcBef>
              <a:spcAft>
                <a:spcPts val="0"/>
              </a:spcAft>
              <a:buSzPts val="1400"/>
              <a:buFont typeface="Lato"/>
              <a:buChar char="●"/>
              <a:defRPr>
                <a:latin typeface="Lato"/>
                <a:ea typeface="Lato"/>
                <a:cs typeface="Lato"/>
                <a:sym typeface="Lato"/>
              </a:defRPr>
            </a:lvl7pPr>
            <a:lvl8pPr indent="-317500" lvl="7" marL="3657600">
              <a:spcBef>
                <a:spcPts val="0"/>
              </a:spcBef>
              <a:spcAft>
                <a:spcPts val="0"/>
              </a:spcAft>
              <a:buSzPts val="1400"/>
              <a:buFont typeface="Lato"/>
              <a:buChar char="○"/>
              <a:defRPr>
                <a:latin typeface="Lato"/>
                <a:ea typeface="Lato"/>
                <a:cs typeface="Lato"/>
                <a:sym typeface="Lato"/>
              </a:defRPr>
            </a:lvl8pPr>
            <a:lvl9pPr indent="-317500" lvl="8" marL="4114800">
              <a:spcBef>
                <a:spcPts val="0"/>
              </a:spcBef>
              <a:spcAft>
                <a:spcPts val="0"/>
              </a:spcAft>
              <a:buSzPts val="1400"/>
              <a:buFont typeface="Lato"/>
              <a:buChar char="■"/>
              <a:defRPr>
                <a:latin typeface="Lato"/>
                <a:ea typeface="Lato"/>
                <a:cs typeface="Lato"/>
                <a:sym typeface="Lato"/>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CUSTOM_1_2">
    <p:bg>
      <p:bgPr>
        <a:blipFill>
          <a:blip r:embed="rId2">
            <a:alphaModFix/>
          </a:blip>
          <a:stretch>
            <a:fillRect/>
          </a:stretch>
        </a:blipFill>
      </p:bgPr>
    </p:bg>
    <p:spTree>
      <p:nvGrpSpPr>
        <p:cNvPr id="20" name="Shape 20"/>
        <p:cNvGrpSpPr/>
        <p:nvPr/>
      </p:nvGrpSpPr>
      <p:grpSpPr>
        <a:xfrm>
          <a:off x="0" y="0"/>
          <a:ext cx="0" cy="0"/>
          <a:chOff x="0" y="0"/>
          <a:chExt cx="0" cy="0"/>
        </a:xfrm>
      </p:grpSpPr>
      <p:sp>
        <p:nvSpPr>
          <p:cNvPr id="21" name="Google Shape;21;g3fba80d6a72_0_52"/>
          <p:cNvSpPr/>
          <p:nvPr/>
        </p:nvSpPr>
        <p:spPr>
          <a:xfrm>
            <a:off x="548640" y="1078992"/>
            <a:ext cx="640200" cy="54900"/>
          </a:xfrm>
          <a:prstGeom prst="rect">
            <a:avLst/>
          </a:prstGeom>
          <a:solidFill>
            <a:srgbClr val="74AAD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 name="Google Shape;22;g3fba80d6a72_0_52"/>
          <p:cNvSpPr txBox="1"/>
          <p:nvPr>
            <p:ph idx="1" type="subTitle"/>
          </p:nvPr>
        </p:nvSpPr>
        <p:spPr>
          <a:xfrm>
            <a:off x="452438" y="488075"/>
            <a:ext cx="8489100" cy="5433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1B2738"/>
              </a:buClr>
              <a:buSzPts val="3200"/>
              <a:buFont typeface="Lato"/>
              <a:buNone/>
              <a:defRPr b="1" sz="3200">
                <a:solidFill>
                  <a:srgbClr val="1B2738"/>
                </a:solidFill>
                <a:latin typeface="Lato"/>
                <a:ea typeface="Lato"/>
                <a:cs typeface="Lato"/>
                <a:sym typeface="Lat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g3fba80d6a72_0_52"/>
          <p:cNvSpPr txBox="1"/>
          <p:nvPr>
            <p:ph idx="2" type="body"/>
          </p:nvPr>
        </p:nvSpPr>
        <p:spPr>
          <a:xfrm>
            <a:off x="571550" y="1524000"/>
            <a:ext cx="8250900" cy="4167300"/>
          </a:xfrm>
          <a:prstGeom prst="rect">
            <a:avLst/>
          </a:prstGeom>
          <a:noFill/>
          <a:ln>
            <a:noFill/>
          </a:ln>
        </p:spPr>
        <p:txBody>
          <a:bodyPr anchorCtr="0" anchor="ctr" bIns="91425" lIns="91425" spcFirstLastPara="1" rIns="91425" wrap="square" tIns="91425">
            <a:noAutofit/>
          </a:bodyPr>
          <a:lstStyle>
            <a:lvl1pPr indent="-393700" lvl="0" marL="457200">
              <a:spcBef>
                <a:spcPts val="0"/>
              </a:spcBef>
              <a:spcAft>
                <a:spcPts val="0"/>
              </a:spcAft>
              <a:buSzPts val="2600"/>
              <a:buChar char="●"/>
              <a:defRPr sz="2600"/>
            </a:lvl1pPr>
            <a:lvl2pPr indent="-228600" lvl="1" marL="914400" marR="0" algn="l">
              <a:lnSpc>
                <a:spcPct val="100000"/>
              </a:lnSpc>
              <a:spcBef>
                <a:spcPts val="0"/>
              </a:spcBef>
              <a:spcAft>
                <a:spcPts val="0"/>
              </a:spcAft>
              <a:buNone/>
              <a:defRPr sz="2800">
                <a:solidFill>
                  <a:srgbClr val="1B2738"/>
                </a:solidFill>
                <a:latin typeface="Lato"/>
                <a:ea typeface="Lato"/>
                <a:cs typeface="Lato"/>
                <a:sym typeface="Lato"/>
              </a:defRPr>
            </a:lvl2pPr>
            <a:lvl3pPr indent="-393700" lvl="2" marL="1371600">
              <a:spcBef>
                <a:spcPts val="0"/>
              </a:spcBef>
              <a:spcAft>
                <a:spcPts val="0"/>
              </a:spcAft>
              <a:buSzPts val="2600"/>
              <a:buChar char="■"/>
              <a:defRPr sz="2600"/>
            </a:lvl3pPr>
            <a:lvl4pPr indent="-393700" lvl="3" marL="1828800">
              <a:spcBef>
                <a:spcPts val="0"/>
              </a:spcBef>
              <a:spcAft>
                <a:spcPts val="0"/>
              </a:spcAft>
              <a:buSzPts val="2600"/>
              <a:buChar char="●"/>
              <a:defRPr sz="2600"/>
            </a:lvl4pPr>
            <a:lvl5pPr indent="-393700" lvl="4" marL="2286000">
              <a:spcBef>
                <a:spcPts val="0"/>
              </a:spcBef>
              <a:spcAft>
                <a:spcPts val="0"/>
              </a:spcAft>
              <a:buSzPts val="2600"/>
              <a:buChar char="○"/>
              <a:defRPr sz="2600"/>
            </a:lvl5pPr>
            <a:lvl6pPr indent="-393700" lvl="5" marL="2743200">
              <a:spcBef>
                <a:spcPts val="0"/>
              </a:spcBef>
              <a:spcAft>
                <a:spcPts val="0"/>
              </a:spcAft>
              <a:buSzPts val="2600"/>
              <a:buChar char="■"/>
              <a:defRPr sz="2600"/>
            </a:lvl6pPr>
            <a:lvl7pPr indent="-393700" lvl="6" marL="3200400">
              <a:spcBef>
                <a:spcPts val="0"/>
              </a:spcBef>
              <a:spcAft>
                <a:spcPts val="0"/>
              </a:spcAft>
              <a:buSzPts val="2600"/>
              <a:buChar char="●"/>
              <a:defRPr sz="2600"/>
            </a:lvl7pPr>
            <a:lvl8pPr indent="-393700" lvl="7" marL="3657600">
              <a:spcBef>
                <a:spcPts val="0"/>
              </a:spcBef>
              <a:spcAft>
                <a:spcPts val="0"/>
              </a:spcAft>
              <a:buSzPts val="2600"/>
              <a:buChar char="○"/>
              <a:defRPr sz="2600"/>
            </a:lvl8pPr>
            <a:lvl9pPr indent="-393700" lvl="8" marL="4114800">
              <a:spcBef>
                <a:spcPts val="0"/>
              </a:spcBef>
              <a:spcAft>
                <a:spcPts val="0"/>
              </a:spcAft>
              <a:buSzPts val="2600"/>
              <a:buChar char="■"/>
              <a:defRPr sz="2600"/>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g3fba80d6a72_0_44"/>
          <p:cNvSpPr txBox="1"/>
          <p:nvPr>
            <p:ph type="title"/>
          </p:nvPr>
        </p:nvSpPr>
        <p:spPr>
          <a:xfrm>
            <a:off x="773900" y="1571625"/>
            <a:ext cx="7143900" cy="1809600"/>
          </a:xfrm>
          <a:prstGeom prst="rect">
            <a:avLst/>
          </a:prstGeom>
          <a:noFill/>
          <a:ln>
            <a:noFill/>
          </a:ln>
        </p:spPr>
        <p:txBody>
          <a:bodyPr anchorCtr="0" anchor="ctr" bIns="91425" lIns="91425" spcFirstLastPara="1" rIns="91425" wrap="square" tIns="91425">
            <a:noAutofit/>
          </a:bodyPr>
          <a:lstStyle>
            <a:lvl1pPr indent="0" lvl="0" marL="0" marR="0" algn="l">
              <a:lnSpc>
                <a:spcPct val="100000"/>
              </a:lnSpc>
              <a:spcBef>
                <a:spcPts val="0"/>
              </a:spcBef>
              <a:spcAft>
                <a:spcPts val="0"/>
              </a:spcAft>
              <a:buClr>
                <a:srgbClr val="1B2738"/>
              </a:buClr>
              <a:buSzPts val="6400"/>
              <a:buFont typeface="Lato"/>
              <a:buNone/>
              <a:defRPr b="1" sz="6400">
                <a:solidFill>
                  <a:srgbClr val="1B2738"/>
                </a:solidFill>
                <a:latin typeface="Lato"/>
                <a:ea typeface="Lato"/>
                <a:cs typeface="Lato"/>
                <a:sym typeface="Lat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 name="Google Shape;11;g3fba80d6a72_0_44"/>
          <p:cNvSpPr txBox="1"/>
          <p:nvPr>
            <p:ph idx="2" type="title"/>
          </p:nvPr>
        </p:nvSpPr>
        <p:spPr>
          <a:xfrm>
            <a:off x="773900" y="3381225"/>
            <a:ext cx="9786900" cy="1193100"/>
          </a:xfrm>
          <a:prstGeom prst="rect">
            <a:avLst/>
          </a:prstGeom>
          <a:noFill/>
          <a:ln>
            <a:noFill/>
          </a:ln>
        </p:spPr>
        <p:txBody>
          <a:bodyPr anchorCtr="0" anchor="ctr" bIns="91425" lIns="91425" spcFirstLastPara="1" rIns="91425" wrap="square" tIns="91425">
            <a:noAutofit/>
          </a:bodyPr>
          <a:lstStyle>
            <a:lvl1pPr indent="0" lvl="0" marL="0" marR="0" algn="l">
              <a:lnSpc>
                <a:spcPct val="100000"/>
              </a:lnSpc>
              <a:spcBef>
                <a:spcPts val="0"/>
              </a:spcBef>
              <a:spcAft>
                <a:spcPts val="0"/>
              </a:spcAft>
              <a:buClr>
                <a:srgbClr val="C39A00"/>
              </a:buClr>
              <a:buSzPts val="5600"/>
              <a:buFont typeface="Lato"/>
              <a:buNone/>
              <a:defRPr b="1" i="1" sz="5600">
                <a:solidFill>
                  <a:srgbClr val="FFCC01"/>
                </a:solidFill>
                <a:latin typeface="Lato"/>
                <a:ea typeface="Lato"/>
                <a:cs typeface="Lato"/>
                <a:sym typeface="Lat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 name="Google Shape;12;g3fba80d6a72_0_44"/>
          <p:cNvSpPr txBox="1"/>
          <p:nvPr>
            <p:ph idx="1" type="body"/>
          </p:nvPr>
        </p:nvSpPr>
        <p:spPr>
          <a:xfrm>
            <a:off x="773900" y="5572150"/>
            <a:ext cx="8250900" cy="488100"/>
          </a:xfrm>
          <a:prstGeom prst="rect">
            <a:avLst/>
          </a:prstGeom>
          <a:noFill/>
          <a:ln>
            <a:noFill/>
          </a:ln>
        </p:spPr>
        <p:txBody>
          <a:bodyPr anchorCtr="0" anchor="ctr" bIns="91425" lIns="91425" spcFirstLastPara="1" rIns="91425" wrap="square" tIns="91425">
            <a:noAutofit/>
          </a:bodyPr>
          <a:lstStyle>
            <a:lvl1pPr indent="-317500" lvl="0" marL="457200">
              <a:spcBef>
                <a:spcPts val="0"/>
              </a:spcBef>
              <a:spcAft>
                <a:spcPts val="0"/>
              </a:spcAft>
              <a:buSzPts val="1400"/>
              <a:buChar char="●"/>
              <a:defRPr/>
            </a:lvl1pPr>
            <a:lvl2pPr indent="-228600" lvl="1" marL="914400" marR="0" algn="l">
              <a:lnSpc>
                <a:spcPct val="100000"/>
              </a:lnSpc>
              <a:spcBef>
                <a:spcPts val="0"/>
              </a:spcBef>
              <a:spcAft>
                <a:spcPts val="0"/>
              </a:spcAft>
              <a:buClr>
                <a:schemeClr val="dk1"/>
              </a:buClr>
              <a:buSzPts val="1100"/>
              <a:buFont typeface="Arial"/>
              <a:buNone/>
              <a:defRPr sz="1600">
                <a:solidFill>
                  <a:srgbClr val="1B2738"/>
                </a:solidFill>
                <a:latin typeface="Lato"/>
                <a:ea typeface="Lato"/>
                <a:cs typeface="Lato"/>
                <a:sym typeface="Lato"/>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Lst>
  <mc:AlternateContent>
    <mc:Choice Requires="p14">
      <p:transition p14:dur="200">
        <p:fade thruBlk="1"/>
      </p:transition>
    </mc:Choice>
    <mc:Fallback>
      <p:transition>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6.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7.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8.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9.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0.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1.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2.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3.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4.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5.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6.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7.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8.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9.png"/><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0.png"/><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1.png"/><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2.png"/><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3.png"/><Relationship Id="rId3" Type="http://schemas.openxmlformats.org/officeDocument/2006/relationships/notesSlide" Target="../notesSlides/notesSlide50.xml"/></Relationships>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773900" y="1200000"/>
            <a:ext cx="10900000" cy="2400000"/>
          </a:xfrm>
        </p:spPr>
        <p:txBody>
          <a:bodyPr wrap="square"/>
          <a:lstStyle/>
          <a:p>
            <a:r>
              <a:rPr sz="4800" b="1">
                <a:solidFill>
                  <a:srgbClr val="1B2738"/>
                </a:solidFill>
                <a:latin typeface="Lato"/>
              </a:rPr>
              <a:t>Bearer token al infinito y más allá</a:t>
            </a:r>
          </a:p>
        </p:txBody>
      </p:sp>
      <p:sp>
        <p:nvSpPr>
          <p:cNvPr id="3" name="Title 2"/>
          <p:cNvSpPr>
            <a:spLocks noGrp="1"/>
          </p:cNvSpPr>
          <p:nvPr>
            <p:ph type="title" idx="2"/>
          </p:nvPr>
        </p:nvSpPr>
        <p:spPr>
          <a:xfrm>
            <a:off x="773900" y="3720000"/>
            <a:ext cx="10900000" cy="1200000"/>
          </a:xfrm>
        </p:spPr>
        <p:txBody>
          <a:bodyPr wrap="square"/>
          <a:lstStyle/>
          <a:p>
            <a:r>
              <a:rPr sz="3000" b="1" i="0">
                <a:solidFill>
                  <a:srgbClr val="2E6DA4"/>
                </a:solidFill>
                <a:latin typeface="Lato"/>
              </a:rPr>
              <a:t>La falsa sensación de seguridad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El conflicto</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2200" b="1">
                <a:solidFill>
                  <a:srgbClr val="1B2738"/>
                </a:solidFill>
                <a:latin typeface="Lato"/>
              </a:rPr>
              <a:t>Basic: </a:t>
            </a:r>
            <a:r>
              <a:rPr sz="2200" b="0">
                <a:solidFill>
                  <a:srgbClr val="1B2738"/>
                </a:solidFill>
                <a:latin typeface="Lato"/>
              </a:rPr>
              <a:t>resuelve autenticación, no resuelve robo.</a:t>
            </a:r>
          </a:p>
          <a:p>
            <a:pPr>
              <a:lnSpc>
                <a:spcPct val="102000"/>
              </a:lnSpc>
              <a:spcAft>
                <a:spcPts val="400"/>
              </a:spcAft>
            </a:pPr>
            <a:r>
              <a:rPr sz="2200" b="1">
                <a:solidFill>
                  <a:srgbClr val="1B2738"/>
                </a:solidFill>
                <a:latin typeface="Lato"/>
              </a:rPr>
              <a:t>Cookies: </a:t>
            </a:r>
            <a:r>
              <a:rPr sz="2200" b="0">
                <a:solidFill>
                  <a:srgbClr val="1B2738"/>
                </a:solidFill>
                <a:latin typeface="Lato"/>
              </a:rPr>
              <a:t>resuelve estado, no resuelve CSRF.</a:t>
            </a:r>
          </a:p>
          <a:p>
            <a:pPr>
              <a:lnSpc>
                <a:spcPct val="102000"/>
              </a:lnSpc>
              <a:spcAft>
                <a:spcPts val="400"/>
              </a:spcAft>
            </a:pPr>
            <a:r>
              <a:rPr sz="2200" b="1">
                <a:solidFill>
                  <a:srgbClr val="1B2738"/>
                </a:solidFill>
                <a:latin typeface="Lato"/>
              </a:rPr>
              <a:t>OAuth 2.0: </a:t>
            </a:r>
            <a:r>
              <a:rPr sz="2200" b="0">
                <a:solidFill>
                  <a:srgbClr val="1B2738"/>
                </a:solidFill>
                <a:latin typeface="Lato"/>
              </a:rPr>
              <a:t>resuelve delegación, no resuelve posesión.</a:t>
            </a:r>
          </a:p>
          <a:p>
            <a:pPr>
              <a:lnSpc>
                <a:spcPct val="102000"/>
              </a:lnSpc>
              <a:spcAft>
                <a:spcPts val="400"/>
              </a:spcAft>
            </a:pPr>
            <a:r>
              <a:rPr sz="2200" b="1">
                <a:solidFill>
                  <a:srgbClr val="1B2738"/>
                </a:solidFill>
                <a:latin typeface="Lato"/>
              </a:rPr>
              <a:t>La pregunta: </a:t>
            </a:r>
            <a:r>
              <a:rPr sz="2200" b="0">
                <a:solidFill>
                  <a:srgbClr val="1B2738"/>
                </a:solidFill>
                <a:latin typeface="Lato"/>
              </a:rPr>
              <a:t>¿qué problema resuelve y qué no?</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CONFLICTO</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RFC 2617; RFC 6265; RFC 6749.</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2 / 46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HTTP Basic (1999)</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2200" b="1">
                <a:solidFill>
                  <a:srgbClr val="1B2738"/>
                </a:solidFill>
                <a:latin typeface="Lato"/>
              </a:rPr>
              <a:t>Qué resuelve: </a:t>
            </a:r>
            <a:r>
              <a:rPr sz="2200" b="0">
                <a:solidFill>
                  <a:srgbClr val="1B2738"/>
                </a:solidFill>
                <a:latin typeface="Lato"/>
              </a:rPr>
              <a:t>autenticación mínima sin estado.</a:t>
            </a:r>
          </a:p>
          <a:p>
            <a:pPr>
              <a:lnSpc>
                <a:spcPct val="102000"/>
              </a:lnSpc>
              <a:spcAft>
                <a:spcPts val="400"/>
              </a:spcAft>
            </a:pPr>
            <a:r>
              <a:rPr sz="2200" b="1">
                <a:solidFill>
                  <a:srgbClr val="1B2738"/>
                </a:solidFill>
                <a:latin typeface="Lato"/>
              </a:rPr>
              <a:t>Qué no resuelve: </a:t>
            </a:r>
            <a:r>
              <a:rPr sz="2200" b="0">
                <a:solidFill>
                  <a:srgbClr val="1B2738"/>
                </a:solidFill>
                <a:latin typeface="Lato"/>
              </a:rPr>
              <a:t>credencial viaja en cada request.</a:t>
            </a:r>
          </a:p>
          <a:p>
            <a:pPr>
              <a:lnSpc>
                <a:spcPct val="102000"/>
              </a:lnSpc>
              <a:spcAft>
                <a:spcPts val="400"/>
              </a:spcAft>
            </a:pPr>
            <a:r>
              <a:rPr sz="2200" b="1">
                <a:solidFill>
                  <a:srgbClr val="1B2738"/>
                </a:solidFill>
                <a:latin typeface="Lato"/>
              </a:rPr>
              <a:t>Base64 no es cifrado: </a:t>
            </a:r>
            <a:r>
              <a:rPr sz="2200" b="0">
                <a:solidFill>
                  <a:srgbClr val="1B2738"/>
                </a:solidFill>
                <a:latin typeface="Lato"/>
              </a:rPr>
              <a:t>está codificado, cualquiera lo lee.</a:t>
            </a:r>
          </a:p>
          <a:p>
            <a:pPr>
              <a:lnSpc>
                <a:spcPct val="102000"/>
              </a:lnSpc>
              <a:spcAft>
                <a:spcPts val="400"/>
              </a:spcAft>
            </a:pPr>
            <a:r>
              <a:rPr sz="2200" b="1">
                <a:solidFill>
                  <a:srgbClr val="1B2738"/>
                </a:solidFill>
                <a:latin typeface="Lato"/>
              </a:rPr>
              <a:t>Se sigue usando: </a:t>
            </a:r>
            <a:r>
              <a:rPr sz="2200" b="0">
                <a:solidFill>
                  <a:srgbClr val="1B2738"/>
                </a:solidFill>
                <a:latin typeface="Lato"/>
              </a:rPr>
              <a:t>sistemas internos, client_secret_basic.</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ANTES DEL BEARER</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RFC 2617 (1999); RFC 7616 (2015).</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3 / 46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HTTP Digest (2015)</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2200" b="1">
                <a:solidFill>
                  <a:srgbClr val="1B2738"/>
                </a:solidFill>
                <a:latin typeface="Lato"/>
              </a:rPr>
              <a:t>Qué resuelve: </a:t>
            </a:r>
            <a:r>
              <a:rPr sz="2200" b="0">
                <a:solidFill>
                  <a:srgbClr val="1B2738"/>
                </a:solidFill>
                <a:latin typeface="Lato"/>
              </a:rPr>
              <a:t>no mandar la contraseña en claro.</a:t>
            </a:r>
          </a:p>
          <a:p>
            <a:pPr>
              <a:lnSpc>
                <a:spcPct val="102000"/>
              </a:lnSpc>
              <a:spcAft>
                <a:spcPts val="400"/>
              </a:spcAft>
            </a:pPr>
            <a:r>
              <a:rPr sz="2200" b="1">
                <a:solidFill>
                  <a:srgbClr val="1B2738"/>
                </a:solidFill>
                <a:latin typeface="Lato"/>
              </a:rPr>
              <a:t>Qué no resuelve: </a:t>
            </a:r>
            <a:r>
              <a:rPr sz="2200" b="0">
                <a:solidFill>
                  <a:srgbClr val="1B2738"/>
                </a:solidFill>
                <a:latin typeface="Lato"/>
              </a:rPr>
              <a:t>el modelo de credencial en cada request.</a:t>
            </a:r>
          </a:p>
          <a:p>
            <a:pPr>
              <a:lnSpc>
                <a:spcPct val="102000"/>
              </a:lnSpc>
              <a:spcAft>
                <a:spcPts val="400"/>
              </a:spcAft>
            </a:pPr>
            <a:r>
              <a:rPr sz="2200" b="1">
                <a:solidFill>
                  <a:srgbClr val="1B2738"/>
                </a:solidFill>
                <a:latin typeface="Lato"/>
              </a:rPr>
              <a:t>Hash con nonce: </a:t>
            </a:r>
            <a:r>
              <a:rPr sz="2200" b="0">
                <a:solidFill>
                  <a:srgbClr val="1B2738"/>
                </a:solidFill>
                <a:latin typeface="Lato"/>
              </a:rPr>
              <a:t>mejora el secreto, no el modelo.</a:t>
            </a:r>
          </a:p>
          <a:p>
            <a:pPr>
              <a:lnSpc>
                <a:spcPct val="102000"/>
              </a:lnSpc>
              <a:spcAft>
                <a:spcPts val="400"/>
              </a:spcAft>
            </a:pPr>
            <a:r>
              <a:rPr sz="2200" b="1">
                <a:solidFill>
                  <a:srgbClr val="1B2738"/>
                </a:solidFill>
                <a:latin typeface="Lato"/>
              </a:rPr>
              <a:t>Se sigue usando: </a:t>
            </a:r>
            <a:r>
              <a:rPr sz="2200" b="0">
                <a:solidFill>
                  <a:srgbClr val="1B2738"/>
                </a:solidFill>
                <a:latin typeface="Lato"/>
              </a:rPr>
              <a:t>prácticamente en desuso.</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ANTES DEL BEARER</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RFC 7616 (2015).</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4 / 46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Cookies (1996-2011)</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2200" b="1">
                <a:solidFill>
                  <a:srgbClr val="1B2738"/>
                </a:solidFill>
                <a:latin typeface="Lato"/>
              </a:rPr>
              <a:t>Qué resuelve: </a:t>
            </a:r>
            <a:r>
              <a:rPr sz="2200" b="0">
                <a:solidFill>
                  <a:srgbClr val="1B2738"/>
                </a:solidFill>
                <a:latin typeface="Lato"/>
              </a:rPr>
              <a:t>recordar quién sos sin repetir la contraseña.</a:t>
            </a:r>
          </a:p>
          <a:p>
            <a:pPr>
              <a:lnSpc>
                <a:spcPct val="102000"/>
              </a:lnSpc>
              <a:spcAft>
                <a:spcPts val="400"/>
              </a:spcAft>
            </a:pPr>
            <a:r>
              <a:rPr sz="2200" b="1">
                <a:solidFill>
                  <a:srgbClr val="1B2738"/>
                </a:solidFill>
                <a:latin typeface="Lato"/>
              </a:rPr>
              <a:t>Qué no resuelve: </a:t>
            </a:r>
            <a:r>
              <a:rPr sz="2200" b="0">
                <a:solidFill>
                  <a:srgbClr val="1B2738"/>
                </a:solidFill>
                <a:latin typeface="Lato"/>
              </a:rPr>
              <a:t>CSRF, robo por XSS, fijación de sesión.</a:t>
            </a:r>
          </a:p>
          <a:p>
            <a:pPr>
              <a:lnSpc>
                <a:spcPct val="102000"/>
              </a:lnSpc>
              <a:spcAft>
                <a:spcPts val="400"/>
              </a:spcAft>
            </a:pPr>
            <a:r>
              <a:rPr sz="2200" b="1">
                <a:solidFill>
                  <a:srgbClr val="1B2738"/>
                </a:solidFill>
                <a:latin typeface="Lato"/>
              </a:rPr>
              <a:t>Atributos: </a:t>
            </a:r>
            <a:r>
              <a:rPr sz="2200" b="0">
                <a:solidFill>
                  <a:srgbClr val="1B2738"/>
                </a:solidFill>
                <a:latin typeface="Lato"/>
              </a:rPr>
              <a:t>HttpOnly, Secure, SameSite.</a:t>
            </a:r>
          </a:p>
          <a:p>
            <a:pPr>
              <a:lnSpc>
                <a:spcPct val="102000"/>
              </a:lnSpc>
              <a:spcAft>
                <a:spcPts val="400"/>
              </a:spcAft>
            </a:pPr>
            <a:r>
              <a:rPr sz="2200" b="1">
                <a:solidFill>
                  <a:srgbClr val="1B2738"/>
                </a:solidFill>
                <a:latin typeface="Lato"/>
              </a:rPr>
              <a:t>Se sigue usando: </a:t>
            </a:r>
            <a:r>
              <a:rPr sz="2200" b="0">
                <a:solidFill>
                  <a:srgbClr val="1B2738"/>
                </a:solidFill>
                <a:latin typeface="Lato"/>
              </a:rPr>
              <a:t>en navegadores web.</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ANTES DEL BEARER</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RFC 6265 (2011).</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5 / 46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API keys (2006)</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2200" b="1">
                <a:solidFill>
                  <a:srgbClr val="1B2738"/>
                </a:solidFill>
                <a:latin typeface="Lato"/>
              </a:rPr>
              <a:t>Qué resuelve: </a:t>
            </a:r>
            <a:r>
              <a:rPr sz="2200" b="0">
                <a:solidFill>
                  <a:srgbClr val="1B2738"/>
                </a:solidFill>
                <a:latin typeface="Lato"/>
              </a:rPr>
              <a:t>identificar aplicaciones sin servidor de identidad.</a:t>
            </a:r>
          </a:p>
          <a:p>
            <a:pPr>
              <a:lnSpc>
                <a:spcPct val="102000"/>
              </a:lnSpc>
              <a:spcAft>
                <a:spcPts val="400"/>
              </a:spcAft>
            </a:pPr>
            <a:r>
              <a:rPr sz="2200" b="1">
                <a:solidFill>
                  <a:srgbClr val="1B2738"/>
                </a:solidFill>
                <a:latin typeface="Lato"/>
              </a:rPr>
              <a:t>Qué no resuelve: </a:t>
            </a:r>
            <a:r>
              <a:rPr sz="2200" b="0">
                <a:solidFill>
                  <a:srgbClr val="1B2738"/>
                </a:solidFill>
                <a:latin typeface="Lato"/>
              </a:rPr>
              <a:t>no expira, no distingue permisos.</a:t>
            </a:r>
          </a:p>
          <a:p>
            <a:pPr>
              <a:lnSpc>
                <a:spcPct val="102000"/>
              </a:lnSpc>
              <a:spcAft>
                <a:spcPts val="400"/>
              </a:spcAft>
            </a:pPr>
            <a:r>
              <a:rPr sz="2200" b="1">
                <a:solidFill>
                  <a:srgbClr val="1B2738"/>
                </a:solidFill>
                <a:latin typeface="Lato"/>
              </a:rPr>
              <a:t>Si se filtra: </a:t>
            </a:r>
            <a:r>
              <a:rPr sz="2200" b="0">
                <a:solidFill>
                  <a:srgbClr val="1B2738"/>
                </a:solidFill>
                <a:latin typeface="Lato"/>
              </a:rPr>
              <a:t>impersonación directa.</a:t>
            </a:r>
          </a:p>
          <a:p>
            <a:pPr>
              <a:lnSpc>
                <a:spcPct val="102000"/>
              </a:lnSpc>
              <a:spcAft>
                <a:spcPts val="400"/>
              </a:spcAft>
            </a:pPr>
            <a:r>
              <a:rPr sz="2200" b="1">
                <a:solidFill>
                  <a:srgbClr val="1B2738"/>
                </a:solidFill>
                <a:latin typeface="Lato"/>
              </a:rPr>
              <a:t>Se sigue usando: </a:t>
            </a:r>
            <a:r>
              <a:rPr sz="2200" b="0">
                <a:solidFill>
                  <a:srgbClr val="1B2738"/>
                </a:solidFill>
                <a:latin typeface="Lato"/>
              </a:rPr>
              <a:t>servicios internos, APIs de terceros.</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ANTES DEL BEARER</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AWS API keys (2006).</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6 / 46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SAML 2.0 (2005)</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2400" b="1">
                <a:solidFill>
                  <a:srgbClr val="1B2738"/>
                </a:solidFill>
                <a:latin typeface="Lato"/>
              </a:rPr>
              <a:t>Qué resuelve: </a:t>
            </a:r>
            <a:r>
              <a:rPr sz="2400" b="0">
                <a:solidFill>
                  <a:srgbClr val="1B2738"/>
                </a:solidFill>
                <a:latin typeface="Lato"/>
              </a:rPr>
              <a:t>SSO, identidad federada, firmas.</a:t>
            </a:r>
          </a:p>
          <a:p>
            <a:pPr>
              <a:lnSpc>
                <a:spcPct val="102000"/>
              </a:lnSpc>
              <a:spcAft>
                <a:spcPts val="400"/>
              </a:spcAft>
            </a:pPr>
            <a:r>
              <a:rPr sz="2400" b="1">
                <a:solidFill>
                  <a:srgbClr val="1B2738"/>
                </a:solidFill>
                <a:latin typeface="Lato"/>
              </a:rPr>
              <a:t>Qué no resuelve: </a:t>
            </a:r>
            <a:r>
              <a:rPr sz="2400" b="0">
                <a:solidFill>
                  <a:srgbClr val="1B2738"/>
                </a:solidFill>
                <a:latin typeface="Lato"/>
              </a:rPr>
              <a:t>XML pesado, difícil en móviles.</a:t>
            </a:r>
          </a:p>
          <a:p>
            <a:pPr>
              <a:lnSpc>
                <a:spcPct val="102000"/>
              </a:lnSpc>
              <a:spcAft>
                <a:spcPts val="400"/>
              </a:spcAft>
            </a:pPr>
            <a:r>
              <a:rPr sz="2400" b="1">
                <a:solidFill>
                  <a:srgbClr val="1B2738"/>
                </a:solidFill>
                <a:latin typeface="Lato"/>
              </a:rPr>
              <a:t>Se sigue usando: </a:t>
            </a:r>
            <a:r>
              <a:rPr sz="2400" b="0">
                <a:solidFill>
                  <a:srgbClr val="1B2738"/>
                </a:solidFill>
                <a:latin typeface="Lato"/>
              </a:rPr>
              <a:t>banca, gobierno, SaaS corporativo.</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ANTES DEL BEARER</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SAML 2.0 (OASIS, 2005).</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7 / 46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OAuth 1.0 (2010)</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2200" b="1">
                <a:solidFill>
                  <a:srgbClr val="1B2738"/>
                </a:solidFill>
                <a:latin typeface="Lato"/>
              </a:rPr>
              <a:t>Qué resuelve: </a:t>
            </a:r>
            <a:r>
              <a:rPr sz="2200" b="0">
                <a:solidFill>
                  <a:srgbClr val="1B2738"/>
                </a:solidFill>
                <a:latin typeface="Lato"/>
              </a:rPr>
              <a:t>request robado no se puede reutilizar.</a:t>
            </a:r>
          </a:p>
          <a:p>
            <a:pPr>
              <a:lnSpc>
                <a:spcPct val="102000"/>
              </a:lnSpc>
              <a:spcAft>
                <a:spcPts val="400"/>
              </a:spcAft>
            </a:pPr>
            <a:r>
              <a:rPr sz="2200" b="1">
                <a:solidFill>
                  <a:srgbClr val="1B2738"/>
                </a:solidFill>
                <a:latin typeface="Lato"/>
              </a:rPr>
              <a:t>Qué no resuelve: </a:t>
            </a:r>
            <a:r>
              <a:rPr sz="2200" b="0">
                <a:solidFill>
                  <a:srgbClr val="1B2738"/>
                </a:solidFill>
                <a:latin typeface="Lato"/>
              </a:rPr>
              <a:t>muy difícil de implementar bien.</a:t>
            </a:r>
          </a:p>
          <a:p>
            <a:pPr>
              <a:lnSpc>
                <a:spcPct val="102000"/>
              </a:lnSpc>
              <a:spcAft>
                <a:spcPts val="400"/>
              </a:spcAft>
            </a:pPr>
            <a:r>
              <a:rPr sz="2200" b="1">
                <a:solidFill>
                  <a:srgbClr val="1B2738"/>
                </a:solidFill>
                <a:latin typeface="Lato"/>
              </a:rPr>
              <a:t>Firmaba cada request: </a:t>
            </a:r>
            <a:r>
              <a:rPr sz="2200" b="0">
                <a:solidFill>
                  <a:srgbClr val="1B2738"/>
                </a:solidFill>
                <a:latin typeface="Lato"/>
              </a:rPr>
              <a:t>HMAC-SHA1 con nonce y timestamp.</a:t>
            </a:r>
          </a:p>
          <a:p>
            <a:pPr>
              <a:lnSpc>
                <a:spcPct val="102000"/>
              </a:lnSpc>
              <a:spcAft>
                <a:spcPts val="400"/>
              </a:spcAft>
            </a:pPr>
            <a:r>
              <a:rPr sz="2200" b="1">
                <a:solidFill>
                  <a:srgbClr val="1B2738"/>
                </a:solidFill>
                <a:latin typeface="Lato"/>
              </a:rPr>
              <a:t>Se sigue usando: </a:t>
            </a:r>
            <a:r>
              <a:rPr sz="2200" b="0">
                <a:solidFill>
                  <a:srgbClr val="1B2738"/>
                </a:solidFill>
                <a:latin typeface="Lato"/>
              </a:rPr>
              <a:t>prácticamente abandonado.</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ANTES DEL BEARER</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RFC 5849 (2010).</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8 / 46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Bearer (2012)</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2400" b="1">
                <a:solidFill>
                  <a:srgbClr val="1B2738"/>
                </a:solidFill>
                <a:latin typeface="Lato"/>
              </a:rPr>
              <a:t>Qué resuelve: </a:t>
            </a:r>
            <a:r>
              <a:rPr sz="2400" b="0">
                <a:solidFill>
                  <a:srgbClr val="1B2738"/>
                </a:solidFill>
                <a:latin typeface="Lato"/>
              </a:rPr>
              <a:t>simplicidad, no firmar cada request.</a:t>
            </a:r>
          </a:p>
          <a:p>
            <a:pPr>
              <a:lnSpc>
                <a:spcPct val="102000"/>
              </a:lnSpc>
              <a:spcAft>
                <a:spcPts val="400"/>
              </a:spcAft>
            </a:pPr>
            <a:r>
              <a:rPr sz="2400" b="1">
                <a:solidFill>
                  <a:srgbClr val="1B2738"/>
                </a:solidFill>
                <a:latin typeface="Lato"/>
              </a:rPr>
              <a:t>Qué no resuelve: </a:t>
            </a:r>
            <a:r>
              <a:rPr sz="2400" b="0">
                <a:solidFill>
                  <a:srgbClr val="1B2738"/>
                </a:solidFill>
                <a:latin typeface="Lato"/>
              </a:rPr>
              <a:t>quien tiene el token, lo usa.</a:t>
            </a:r>
          </a:p>
          <a:p>
            <a:pPr>
              <a:lnSpc>
                <a:spcPct val="102000"/>
              </a:lnSpc>
              <a:spcAft>
                <a:spcPts val="400"/>
              </a:spcAft>
            </a:pPr>
            <a:r>
              <a:rPr sz="2400" b="1">
                <a:solidFill>
                  <a:srgbClr val="1B2738"/>
                </a:solidFill>
                <a:latin typeface="Lato"/>
              </a:rPr>
              <a:t>La falsa sensación: </a:t>
            </a:r>
            <a:r>
              <a:rPr sz="2400" b="0">
                <a:solidFill>
                  <a:srgbClr val="1B2738"/>
                </a:solidFill>
                <a:latin typeface="Lato"/>
              </a:rPr>
              <a:t>bearer no significa seguro, significa portador.</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EL BEARER</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RFC 6749; RFC 6750 (2012).</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9 / 46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La falsa sensación de seguridad</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2200" b="1">
                <a:solidFill>
                  <a:srgbClr val="1B2738"/>
                </a:solidFill>
                <a:latin typeface="Lato"/>
              </a:rPr>
              <a:t>Bearer resuelve: </a:t>
            </a:r>
            <a:r>
              <a:rPr sz="2200" b="0">
                <a:solidFill>
                  <a:srgbClr val="1B2738"/>
                </a:solidFill>
                <a:latin typeface="Lato"/>
              </a:rPr>
              <a:t>delegación de autorización.</a:t>
            </a:r>
          </a:p>
          <a:p>
            <a:pPr>
              <a:lnSpc>
                <a:spcPct val="102000"/>
              </a:lnSpc>
              <a:spcAft>
                <a:spcPts val="400"/>
              </a:spcAft>
            </a:pPr>
            <a:r>
              <a:rPr sz="2200" b="1">
                <a:solidFill>
                  <a:srgbClr val="1B2738"/>
                </a:solidFill>
                <a:latin typeface="Lato"/>
              </a:rPr>
              <a:t>Bearer no resuelve: </a:t>
            </a:r>
            <a:r>
              <a:rPr sz="2200" b="0">
                <a:solidFill>
                  <a:srgbClr val="1B2738"/>
                </a:solidFill>
                <a:latin typeface="Lato"/>
              </a:rPr>
              <a:t>autorización, cifrado, anti-replay, MFA.</a:t>
            </a:r>
          </a:p>
          <a:p>
            <a:pPr>
              <a:lnSpc>
                <a:spcPct val="102000"/>
              </a:lnSpc>
              <a:spcAft>
                <a:spcPts val="400"/>
              </a:spcAft>
            </a:pPr>
            <a:r>
              <a:rPr sz="2200" b="1">
                <a:solidFill>
                  <a:srgbClr val="1B2738"/>
                </a:solidFill>
                <a:latin typeface="Lato"/>
              </a:rPr>
              <a:t>Authorization: Bearer </a:t>
            </a:r>
            <a:r>
              <a:rPr sz="2200" b="0">
                <a:solidFill>
                  <a:srgbClr val="1B2738"/>
                </a:solidFill>
                <a:latin typeface="Lato"/>
              </a:rPr>
              <a:t>no significa que la API sea segura.</a:t>
            </a:r>
          </a:p>
          <a:p>
            <a:pPr>
              <a:lnSpc>
                <a:spcPct val="102000"/>
              </a:lnSpc>
              <a:spcAft>
                <a:spcPts val="400"/>
              </a:spcAft>
            </a:pPr>
            <a:r>
              <a:rPr sz="2200" b="1">
                <a:solidFill>
                  <a:srgbClr val="1B2738"/>
                </a:solidFill>
                <a:latin typeface="Lato"/>
              </a:rPr>
              <a:t>Significa: </a:t>
            </a:r>
            <a:r>
              <a:rPr sz="2200" b="0">
                <a:solidFill>
                  <a:srgbClr val="1B2738"/>
                </a:solidFill>
                <a:latin typeface="Lato"/>
              </a:rPr>
              <a:t>quien tiene el token, entra.</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LA TESIS</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RFC 6749 §10.3 (2012).</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10 / 46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Qué no cubre el bearer</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2200" b="1">
                <a:solidFill>
                  <a:srgbClr val="1B2738"/>
                </a:solidFill>
                <a:latin typeface="Lato"/>
              </a:rPr>
              <a:t>No cifra: </a:t>
            </a:r>
            <a:r>
              <a:rPr sz="2200" b="0">
                <a:solidFill>
                  <a:srgbClr val="1B2738"/>
                </a:solidFill>
                <a:latin typeface="Lato"/>
              </a:rPr>
              <a:t>JWT es base64, no cifrado.</a:t>
            </a:r>
          </a:p>
          <a:p>
            <a:pPr>
              <a:lnSpc>
                <a:spcPct val="102000"/>
              </a:lnSpc>
              <a:spcAft>
                <a:spcPts val="400"/>
              </a:spcAft>
            </a:pPr>
            <a:r>
              <a:rPr sz="2200" b="1">
                <a:solidFill>
                  <a:srgbClr val="1B2738"/>
                </a:solidFill>
                <a:latin typeface="Lato"/>
              </a:rPr>
              <a:t>No autoriza: </a:t>
            </a:r>
            <a:r>
              <a:rPr sz="2200" b="0">
                <a:solidFill>
                  <a:srgbClr val="1B2738"/>
                </a:solidFill>
                <a:latin typeface="Lato"/>
              </a:rPr>
              <a:t>es otro capítulo.</a:t>
            </a:r>
          </a:p>
          <a:p>
            <a:pPr>
              <a:lnSpc>
                <a:spcPct val="102000"/>
              </a:lnSpc>
              <a:spcAft>
                <a:spcPts val="400"/>
              </a:spcAft>
            </a:pPr>
            <a:r>
              <a:rPr sz="2200" b="1">
                <a:solidFill>
                  <a:srgbClr val="1B2738"/>
                </a:solidFill>
                <a:latin typeface="Lato"/>
              </a:rPr>
              <a:t>No previene replay: </a:t>
            </a:r>
            <a:r>
              <a:rPr sz="2200" b="0">
                <a:solidFill>
                  <a:srgbClr val="1B2738"/>
                </a:solidFill>
                <a:latin typeface="Lato"/>
              </a:rPr>
              <a:t>interceptado = reutilizado.</a:t>
            </a:r>
          </a:p>
          <a:p>
            <a:pPr>
              <a:lnSpc>
                <a:spcPct val="102000"/>
              </a:lnSpc>
              <a:spcAft>
                <a:spcPts val="400"/>
              </a:spcAft>
            </a:pPr>
            <a:r>
              <a:rPr sz="2200" b="1">
                <a:solidFill>
                  <a:srgbClr val="1B2738"/>
                </a:solidFill>
                <a:latin typeface="Lato"/>
              </a:rPr>
              <a:t>No es MFA: </a:t>
            </a:r>
            <a:r>
              <a:rPr sz="2200" b="0">
                <a:solidFill>
                  <a:srgbClr val="1B2738"/>
                </a:solidFill>
                <a:latin typeface="Lato"/>
              </a:rPr>
              <a:t>la autenticación ya pasó.</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LA TESIS</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RFC 6749 §10.3 (2012).</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11 / 46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JWT (2015)</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2400" b="1">
                <a:solidFill>
                  <a:srgbClr val="1B2738"/>
                </a:solidFill>
                <a:latin typeface="Lato"/>
              </a:rPr>
              <a:t>Qué resuelve: </a:t>
            </a:r>
            <a:r>
              <a:rPr sz="2400" b="0">
                <a:solidFill>
                  <a:srgbClr val="1B2738"/>
                </a:solidFill>
                <a:latin typeface="Lato"/>
              </a:rPr>
              <a:t>claims autenticables sin estado.</a:t>
            </a:r>
          </a:p>
          <a:p>
            <a:pPr>
              <a:lnSpc>
                <a:spcPct val="102000"/>
              </a:lnSpc>
              <a:spcAft>
                <a:spcPts val="400"/>
              </a:spcAft>
            </a:pPr>
            <a:r>
              <a:rPr sz="2400" b="1">
                <a:solidFill>
                  <a:srgbClr val="1B2738"/>
                </a:solidFill>
                <a:latin typeface="Lato"/>
              </a:rPr>
              <a:t>Qué no resuelve: </a:t>
            </a:r>
            <a:r>
              <a:rPr sz="2400" b="0">
                <a:solidFill>
                  <a:srgbClr val="1B2738"/>
                </a:solidFill>
                <a:latin typeface="Lato"/>
              </a:rPr>
              <a:t>payload no está cifrado.</a:t>
            </a:r>
          </a:p>
          <a:p>
            <a:pPr>
              <a:lnSpc>
                <a:spcPct val="102000"/>
              </a:lnSpc>
              <a:spcAft>
                <a:spcPts val="400"/>
              </a:spcAft>
            </a:pPr>
            <a:r>
              <a:rPr sz="2400" b="1">
                <a:solidFill>
                  <a:srgbClr val="1B2738"/>
                </a:solidFill>
                <a:latin typeface="Lato"/>
              </a:rPr>
              <a:t>La trampa: </a:t>
            </a:r>
            <a:r>
              <a:rPr sz="2400" b="0">
                <a:solidFill>
                  <a:srgbClr val="1B2738"/>
                </a:solidFill>
                <a:latin typeface="Lato"/>
              </a:rPr>
              <a:t>si el validador confía en el alg del token, el atacante elige.</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JWT</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RFC 7519 (2015); RFC 8725 (2020).</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12 / 46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Base64: no es cifrado</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2000" b="1">
                <a:solidFill>
                  <a:srgbClr val="1B2738"/>
                </a:solidFill>
                <a:latin typeface="Lato"/>
              </a:rPr>
              <a:t>El problema: </a:t>
            </a:r>
            <a:r>
              <a:rPr sz="2000" b="0">
                <a:solidFill>
                  <a:srgbClr val="1B2738"/>
                </a:solidFill>
                <a:latin typeface="Lato"/>
              </a:rPr>
              <a:t>HTTP, SMTP y XML transportan texto de 7 bits (ASCII).</a:t>
            </a:r>
          </a:p>
          <a:p>
            <a:pPr>
              <a:lnSpc>
                <a:spcPct val="102000"/>
              </a:lnSpc>
              <a:spcAft>
                <a:spcPts val="400"/>
              </a:spcAft>
            </a:pPr>
            <a:r>
              <a:rPr sz="2000" b="1">
                <a:solidFill>
                  <a:srgbClr val="1B2738"/>
                </a:solidFill>
                <a:latin typeface="Lato"/>
              </a:rPr>
              <a:t>La solución: </a:t>
            </a:r>
            <a:r>
              <a:rPr sz="2000" b="0">
                <a:solidFill>
                  <a:srgbClr val="1B2738"/>
                </a:solidFill>
                <a:latin typeface="Lato"/>
              </a:rPr>
              <a:t>Base64 convierte bytes arbitrarios en texto ASCII.</a:t>
            </a:r>
          </a:p>
          <a:p>
            <a:pPr>
              <a:lnSpc>
                <a:spcPct val="102000"/>
              </a:lnSpc>
              <a:spcAft>
                <a:spcPts val="400"/>
              </a:spcAft>
            </a:pPr>
            <a:r>
              <a:rPr sz="2000" b="1">
                <a:solidFill>
                  <a:srgbClr val="1B2738"/>
                </a:solidFill>
                <a:latin typeface="Lato"/>
              </a:rPr>
              <a:t>Cómo funciona: </a:t>
            </a:r>
            <a:r>
              <a:rPr sz="2000" b="0">
                <a:solidFill>
                  <a:srgbClr val="1B2738"/>
                </a:solidFill>
                <a:latin typeface="Lato"/>
              </a:rPr>
              <a:t>3 bytes → 4 grupos de 6 bits → caracteres Base64.</a:t>
            </a:r>
          </a:p>
          <a:p>
            <a:pPr>
              <a:lnSpc>
                <a:spcPct val="102000"/>
              </a:lnSpc>
              <a:spcAft>
                <a:spcPts val="400"/>
              </a:spcAft>
            </a:pPr>
            <a:r>
              <a:rPr sz="2000" b="1">
                <a:solidFill>
                  <a:srgbClr val="1B2738"/>
                </a:solidFill>
                <a:latin typeface="Lato"/>
              </a:rPr>
              <a:t>La diferencia: </a:t>
            </a:r>
            <a:r>
              <a:rPr sz="2000" b="0">
                <a:solidFill>
                  <a:srgbClr val="1B2738"/>
                </a:solidFill>
                <a:latin typeface="Lato"/>
              </a:rPr>
              <a:t>cifrado oculta y requiere clave; codificación no.</a:t>
            </a:r>
          </a:p>
          <a:p>
            <a:pPr>
              <a:lnSpc>
                <a:spcPct val="102000"/>
              </a:lnSpc>
              <a:spcAft>
                <a:spcPts val="400"/>
              </a:spcAft>
            </a:pPr>
            <a:r>
              <a:rPr sz="2000" b="1">
                <a:solidFill>
                  <a:srgbClr val="1B2738"/>
                </a:solidFill>
                <a:latin typeface="Lato"/>
              </a:rPr>
              <a:t>La regla: </a:t>
            </a:r>
            <a:r>
              <a:rPr sz="2000" b="0">
                <a:solidFill>
                  <a:srgbClr val="1B2738"/>
                </a:solidFill>
                <a:latin typeface="Lato"/>
              </a:rPr>
              <a:t>Base64 es un sobre transparente: cambia presentación, no contenido.</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BASE64</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RFC 4648 (2006).</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13 / 46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La línea de tiempo</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LÍNEA DE TIEMPO</a:t>
            </a:r>
          </a:p>
        </p:txBody>
      </p:sp>
      <p:pic>
        <p:nvPicPr>
          <p:cNvPr id="5" name="Picture 4" descr="01_timeline.png"/>
          <p:cNvPicPr>
            <a:picLocks noChangeAspect="1"/>
          </p:cNvPicPr>
          <p:nvPr/>
        </p:nvPicPr>
        <p:blipFill>
          <a:blip r:embed="rId2"/>
          <a:stretch>
            <a:fillRect/>
          </a:stretch>
        </p:blipFill>
        <p:spPr>
          <a:xfrm>
            <a:off x="2911732" y="1524000"/>
            <a:ext cx="3570536" cy="4167300"/>
          </a:xfrm>
          <a:prstGeom prst="rect">
            <a:avLst/>
          </a:prstGeom>
        </p:spPr>
      </p:pic>
      <p:sp>
        <p:nvSpPr>
          <p:cNvPr id="6" name="TextBox 5"/>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OWASP; IETF; OASIS.</a:t>
            </a:r>
          </a:p>
        </p:txBody>
      </p:sp>
      <p:sp>
        <p:nvSpPr>
          <p:cNvPr id="7" name="TextBox 6"/>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14 / 46</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Seguridad dinámica: Step-Up</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2400" b="1">
                <a:solidFill>
                  <a:srgbClr val="1B2738"/>
                </a:solidFill>
                <a:latin typeface="Lato"/>
              </a:rPr>
              <a:t>La autenticación no es binaria: </a:t>
            </a:r>
            <a:r>
              <a:rPr sz="2400" b="0">
                <a:solidFill>
                  <a:srgbClr val="1B2738"/>
                </a:solidFill>
                <a:latin typeface="Lato"/>
              </a:rPr>
              <a:t>es un flujo continuo.</a:t>
            </a:r>
          </a:p>
          <a:p>
            <a:pPr>
              <a:lnSpc>
                <a:spcPct val="102000"/>
              </a:lnSpc>
              <a:spcAft>
                <a:spcPts val="400"/>
              </a:spcAft>
            </a:pPr>
            <a:r>
              <a:rPr sz="2400" b="1">
                <a:solidFill>
                  <a:srgbClr val="1B2738"/>
                </a:solidFill>
                <a:latin typeface="Lato"/>
              </a:rPr>
              <a:t>Operaciones sensibles: </a:t>
            </a:r>
            <a:r>
              <a:rPr sz="2400" b="0">
                <a:solidFill>
                  <a:srgbClr val="1B2738"/>
                </a:solidFill>
                <a:latin typeface="Lato"/>
              </a:rPr>
              <a:t>exigen re-autenticación.</a:t>
            </a:r>
          </a:p>
          <a:p>
            <a:pPr>
              <a:lnSpc>
                <a:spcPct val="102000"/>
              </a:lnSpc>
              <a:spcAft>
                <a:spcPts val="400"/>
              </a:spcAft>
            </a:pPr>
            <a:r>
              <a:rPr sz="2400" b="1">
                <a:solidFill>
                  <a:srgbClr val="1B2738"/>
                </a:solidFill>
                <a:latin typeface="Lato"/>
              </a:rPr>
              <a:t>Mecanismo: </a:t>
            </a:r>
            <a:r>
              <a:rPr sz="2400" b="0">
                <a:solidFill>
                  <a:srgbClr val="1B2738"/>
                </a:solidFill>
                <a:latin typeface="Lato"/>
              </a:rPr>
              <a:t>RFC 9470, Step-Up Authentication Challenge.</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ACTO II</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RFC 9470 (2023).</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15 / 46</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Step-Up: flujo 401 y reintento</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2200" b="1">
                <a:solidFill>
                  <a:srgbClr val="1B2738"/>
                </a:solidFill>
                <a:latin typeface="Lato"/>
              </a:rPr>
              <a:t>1. La API evalúa: </a:t>
            </a:r>
            <a:r>
              <a:rPr sz="2200" b="0">
                <a:solidFill>
                  <a:srgbClr val="1B2738"/>
                </a:solidFill>
                <a:latin typeface="Lato"/>
              </a:rPr>
              <a:t>transacción sensible, acr insuficiente.</a:t>
            </a:r>
          </a:p>
          <a:p>
            <a:pPr>
              <a:lnSpc>
                <a:spcPct val="102000"/>
              </a:lnSpc>
              <a:spcAft>
                <a:spcPts val="400"/>
              </a:spcAft>
            </a:pPr>
            <a:r>
              <a:rPr sz="2200" b="1">
                <a:solidFill>
                  <a:srgbClr val="1B2738"/>
                </a:solidFill>
                <a:latin typeface="Lato"/>
              </a:rPr>
              <a:t>2. Responde 401: </a:t>
            </a:r>
            <a:r>
              <a:rPr sz="2200" b="0">
                <a:solidFill>
                  <a:srgbClr val="1B2738"/>
                </a:solidFill>
                <a:latin typeface="Lato"/>
              </a:rPr>
              <a:t>WWW-Authenticate con acr_values.</a:t>
            </a:r>
          </a:p>
          <a:p>
            <a:pPr>
              <a:lnSpc>
                <a:spcPct val="102000"/>
              </a:lnSpc>
              <a:spcAft>
                <a:spcPts val="400"/>
              </a:spcAft>
            </a:pPr>
            <a:r>
              <a:rPr sz="2200" b="1">
                <a:solidFill>
                  <a:srgbClr val="1B2738"/>
                </a:solidFill>
                <a:latin typeface="Lato"/>
              </a:rPr>
              <a:t>3. El frontend redirige al IdP </a:t>
            </a:r>
            <a:r>
              <a:rPr sz="2200" b="0">
                <a:solidFill>
                  <a:srgbClr val="1B2738"/>
                </a:solidFill>
                <a:latin typeface="Lato"/>
              </a:rPr>
              <a:t>para segundo factor.</a:t>
            </a:r>
          </a:p>
          <a:p>
            <a:pPr>
              <a:lnSpc>
                <a:spcPct val="102000"/>
              </a:lnSpc>
              <a:spcAft>
                <a:spcPts val="400"/>
              </a:spcAft>
            </a:pPr>
            <a:r>
              <a:rPr sz="2200" b="1">
                <a:solidFill>
                  <a:srgbClr val="1B2738"/>
                </a:solidFill>
                <a:latin typeface="Lato"/>
              </a:rPr>
              <a:t>4. Nuevo token con acr actualizado. </a:t>
            </a:r>
            <a:r>
              <a:rPr sz="2200" b="0">
                <a:solidFill>
                  <a:srgbClr val="1B2738"/>
                </a:solidFill>
                <a:latin typeface="Lato"/>
              </a:rPr>
              <a:t>Reintento exitoso.</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ACTO II</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RFC 9470 (2023).</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16 / 46</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M2M: sin factorizar</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2400" b="1">
                <a:solidFill>
                  <a:srgbClr val="1B2738"/>
                </a:solidFill>
                <a:latin typeface="Lato"/>
              </a:rPr>
              <a:t>El invocador es un microservicio </a:t>
            </a:r>
            <a:r>
              <a:rPr sz="2400" b="0">
                <a:solidFill>
                  <a:srgbClr val="1B2738"/>
                </a:solidFill>
                <a:latin typeface="Lato"/>
              </a:rPr>
              <a:t>o job de CI.</a:t>
            </a:r>
          </a:p>
          <a:p>
            <a:pPr>
              <a:lnSpc>
                <a:spcPct val="102000"/>
              </a:lnSpc>
              <a:spcAft>
                <a:spcPts val="400"/>
              </a:spcAft>
            </a:pPr>
            <a:r>
              <a:rPr sz="2400" b="1">
                <a:solidFill>
                  <a:srgbClr val="1B2738"/>
                </a:solidFill>
                <a:latin typeface="Lato"/>
              </a:rPr>
              <a:t>No hay segundo factor: </a:t>
            </a:r>
            <a:r>
              <a:rPr sz="2400" b="0">
                <a:solidFill>
                  <a:srgbClr val="1B2738"/>
                </a:solidFill>
                <a:latin typeface="Lato"/>
              </a:rPr>
              <a:t>el equivalente es mTLS.</a:t>
            </a:r>
          </a:p>
          <a:p>
            <a:pPr>
              <a:lnSpc>
                <a:spcPct val="102000"/>
              </a:lnSpc>
              <a:spcAft>
                <a:spcPts val="400"/>
              </a:spcAft>
            </a:pPr>
            <a:r>
              <a:rPr sz="2400" b="1">
                <a:solidFill>
                  <a:srgbClr val="1B2738"/>
                </a:solidFill>
                <a:latin typeface="Lato"/>
              </a:rPr>
              <a:t>Certificados X.509 </a:t>
            </a:r>
            <a:r>
              <a:rPr sz="2400" b="0">
                <a:solidFill>
                  <a:srgbClr val="1B2738"/>
                </a:solidFill>
                <a:latin typeface="Lato"/>
              </a:rPr>
              <a:t>o Private Key JWT para firmado de peticiones.</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ACTO II</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RFC 8705 (2020); RFC 7523 (2015).</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17 / 46</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Apps modificadas</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2400" b="1">
                <a:solidFill>
                  <a:srgbClr val="1B2738"/>
                </a:solidFill>
                <a:latin typeface="Lato"/>
              </a:rPr>
              <a:t>Las apps están en manos del atacante: </a:t>
            </a:r>
            <a:r>
              <a:rPr sz="2400" b="0">
                <a:solidFill>
                  <a:srgbClr val="1B2738"/>
                </a:solidFill>
                <a:latin typeface="Lato"/>
              </a:rPr>
              <a:t>modificables, descompilables.</a:t>
            </a:r>
          </a:p>
          <a:p>
            <a:pPr>
              <a:lnSpc>
                <a:spcPct val="102000"/>
              </a:lnSpc>
              <a:spcAft>
                <a:spcPts val="400"/>
              </a:spcAft>
            </a:pPr>
            <a:r>
              <a:rPr sz="2400" b="1">
                <a:solidFill>
                  <a:srgbClr val="1B2738"/>
                </a:solidFill>
                <a:latin typeface="Lato"/>
              </a:rPr>
              <a:t>Riesgo: </a:t>
            </a:r>
            <a:r>
              <a:rPr sz="2400" b="0">
                <a:solidFill>
                  <a:srgbClr val="1B2738"/>
                </a:solidFill>
                <a:latin typeface="Lato"/>
              </a:rPr>
              <a:t>cliente Frankenstein que simula ser la app legítima.</a:t>
            </a:r>
          </a:p>
          <a:p>
            <a:pPr>
              <a:lnSpc>
                <a:spcPct val="102000"/>
              </a:lnSpc>
              <a:spcAft>
                <a:spcPts val="400"/>
              </a:spcAft>
            </a:pPr>
            <a:r>
              <a:rPr sz="2400" b="1">
                <a:solidFill>
                  <a:srgbClr val="1B2738"/>
                </a:solidFill>
                <a:latin typeface="Lato"/>
              </a:rPr>
              <a:t>Desactivan SSL pinning, </a:t>
            </a:r>
            <a:r>
              <a:rPr sz="2400" b="0">
                <a:solidFill>
                  <a:srgbClr val="1B2738"/>
                </a:solidFill>
                <a:latin typeface="Lato"/>
              </a:rPr>
              <a:t>extraen secretos, llaman a la API.</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ACTO III</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OWASP Mobile Top 10 (2024).</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18 / 46</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PKCE: candado del código</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2200" b="1">
                <a:solidFill>
                  <a:srgbClr val="1B2738"/>
                </a:solidFill>
                <a:latin typeface="Lato"/>
              </a:rPr>
              <a:t>code_verifier: </a:t>
            </a:r>
            <a:r>
              <a:rPr sz="2200" b="0">
                <a:solidFill>
                  <a:srgbClr val="1B2738"/>
                </a:solidFill>
                <a:latin typeface="Lato"/>
              </a:rPr>
              <a:t>string aleatorio generado por el cliente.</a:t>
            </a:r>
          </a:p>
          <a:p>
            <a:pPr>
              <a:lnSpc>
                <a:spcPct val="102000"/>
              </a:lnSpc>
              <a:spcAft>
                <a:spcPts val="400"/>
              </a:spcAft>
            </a:pPr>
            <a:r>
              <a:rPr sz="2200" b="1">
                <a:solidFill>
                  <a:srgbClr val="1B2738"/>
                </a:solidFill>
                <a:latin typeface="Lato"/>
              </a:rPr>
              <a:t>code_challenge: </a:t>
            </a:r>
            <a:r>
              <a:rPr sz="2200" b="0">
                <a:solidFill>
                  <a:srgbClr val="1B2738"/>
                </a:solidFill>
                <a:latin typeface="Lato"/>
              </a:rPr>
              <a:t>hash del verifier, enviado al pedir el código.</a:t>
            </a:r>
          </a:p>
          <a:p>
            <a:pPr>
              <a:lnSpc>
                <a:spcPct val="102000"/>
              </a:lnSpc>
              <a:spcAft>
                <a:spcPts val="400"/>
              </a:spcAft>
            </a:pPr>
            <a:r>
              <a:rPr sz="2200" b="1">
                <a:solidFill>
                  <a:srgbClr val="1B2738"/>
                </a:solidFill>
                <a:latin typeface="Lato"/>
              </a:rPr>
              <a:t>Al canjear: </a:t>
            </a:r>
            <a:r>
              <a:rPr sz="2200" b="0">
                <a:solidFill>
                  <a:srgbClr val="1B2738"/>
                </a:solidFill>
                <a:latin typeface="Lato"/>
              </a:rPr>
              <a:t>el verifier prueba la posesión.</a:t>
            </a:r>
          </a:p>
          <a:p>
            <a:pPr>
              <a:lnSpc>
                <a:spcPct val="102000"/>
              </a:lnSpc>
              <a:spcAft>
                <a:spcPts val="400"/>
              </a:spcAft>
            </a:pPr>
            <a:r>
              <a:rPr sz="2200" b="1">
                <a:solidFill>
                  <a:srgbClr val="1B2738"/>
                </a:solidFill>
                <a:latin typeface="Lato"/>
              </a:rPr>
              <a:t>Obligatorio hoy </a:t>
            </a:r>
            <a:r>
              <a:rPr sz="2200" b="0">
                <a:solidFill>
                  <a:srgbClr val="1B2738"/>
                </a:solidFill>
                <a:latin typeface="Lato"/>
              </a:rPr>
              <a:t>en clientes públicos (RFC 9700).</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ACTO III</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RFC 7636 (2015); RFC 9700 (2025).</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19 / 46</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App Attestation</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2200" b="1">
                <a:solidFill>
                  <a:srgbClr val="1B2738"/>
                </a:solidFill>
                <a:latin typeface="Lato"/>
              </a:rPr>
              <a:t>Android: </a:t>
            </a:r>
            <a:r>
              <a:rPr sz="2200" b="0">
                <a:solidFill>
                  <a:srgbClr val="1B2738"/>
                </a:solidFill>
                <a:latin typeface="Lato"/>
              </a:rPr>
              <a:t>Play Integrity API.</a:t>
            </a:r>
          </a:p>
          <a:p>
            <a:pPr>
              <a:lnSpc>
                <a:spcPct val="102000"/>
              </a:lnSpc>
              <a:spcAft>
                <a:spcPts val="400"/>
              </a:spcAft>
            </a:pPr>
            <a:r>
              <a:rPr sz="2200" b="1">
                <a:solidFill>
                  <a:srgbClr val="1B2738"/>
                </a:solidFill>
                <a:latin typeface="Lato"/>
              </a:rPr>
              <a:t>iOS: </a:t>
            </a:r>
            <a:r>
              <a:rPr sz="2200" b="0">
                <a:solidFill>
                  <a:srgbClr val="1B2738"/>
                </a:solidFill>
                <a:latin typeface="Lato"/>
              </a:rPr>
              <a:t>DeviceCheck / App Attest.</a:t>
            </a:r>
          </a:p>
          <a:p>
            <a:pPr>
              <a:lnSpc>
                <a:spcPct val="102000"/>
              </a:lnSpc>
              <a:spcAft>
                <a:spcPts val="400"/>
              </a:spcAft>
            </a:pPr>
            <a:r>
              <a:rPr sz="2200" b="1">
                <a:solidFill>
                  <a:srgbClr val="1B2738"/>
                </a:solidFill>
                <a:latin typeface="Lato"/>
              </a:rPr>
              <a:t>Verifica el binario no fue modificado </a:t>
            </a:r>
            <a:r>
              <a:rPr sz="2200" b="0">
                <a:solidFill>
                  <a:srgbClr val="1B2738"/>
                </a:solidFill>
                <a:latin typeface="Lato"/>
              </a:rPr>
              <a:t>y emite token de attestation.</a:t>
            </a:r>
          </a:p>
          <a:p>
            <a:pPr>
              <a:lnSpc>
                <a:spcPct val="102000"/>
              </a:lnSpc>
              <a:spcAft>
                <a:spcPts val="400"/>
              </a:spcAft>
            </a:pPr>
            <a:r>
              <a:rPr sz="2200" b="1">
                <a:solidFill>
                  <a:srgbClr val="1B2738"/>
                </a:solidFill>
                <a:latin typeface="Lato"/>
              </a:rPr>
              <a:t>La API lo verifica </a:t>
            </a:r>
            <a:r>
              <a:rPr sz="2200" b="0">
                <a:solidFill>
                  <a:srgbClr val="1B2738"/>
                </a:solidFill>
                <a:latin typeface="Lato"/>
              </a:rPr>
              <a:t>antes de operaciones sensibles.</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ACTO III</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Google Play Integrity; Apple DeviceCheck.</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20 / 46</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Mobile: tres capas</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2200" b="1">
                <a:solidFill>
                  <a:srgbClr val="1B2738"/>
                </a:solidFill>
                <a:latin typeface="Lato"/>
              </a:rPr>
              <a:t>App Attestation: </a:t>
            </a:r>
            <a:r>
              <a:rPr sz="2200" b="0">
                <a:solidFill>
                  <a:srgbClr val="1B2738"/>
                </a:solidFill>
                <a:latin typeface="Lato"/>
              </a:rPr>
              <a:t>el binario es legítimo.</a:t>
            </a:r>
          </a:p>
          <a:p>
            <a:pPr>
              <a:lnSpc>
                <a:spcPct val="102000"/>
              </a:lnSpc>
              <a:spcAft>
                <a:spcPts val="400"/>
              </a:spcAft>
            </a:pPr>
            <a:r>
              <a:rPr sz="2200" b="1">
                <a:solidFill>
                  <a:srgbClr val="1B2738"/>
                </a:solidFill>
                <a:latin typeface="Lato"/>
              </a:rPr>
              <a:t>PKCE: </a:t>
            </a:r>
            <a:r>
              <a:rPr sz="2200" b="0">
                <a:solidFill>
                  <a:srgbClr val="1B2738"/>
                </a:solidFill>
                <a:latin typeface="Lato"/>
              </a:rPr>
              <a:t>el código no se puede reutilizar.</a:t>
            </a:r>
          </a:p>
          <a:p>
            <a:pPr>
              <a:lnSpc>
                <a:spcPct val="102000"/>
              </a:lnSpc>
              <a:spcAft>
                <a:spcPts val="400"/>
              </a:spcAft>
            </a:pPr>
            <a:r>
              <a:rPr sz="2200" b="1">
                <a:solidFill>
                  <a:srgbClr val="1B2738"/>
                </a:solidFill>
                <a:latin typeface="Lato"/>
              </a:rPr>
              <a:t>DPoP: </a:t>
            </a:r>
            <a:r>
              <a:rPr sz="2200" b="0">
                <a:solidFill>
                  <a:srgbClr val="1B2738"/>
                </a:solidFill>
                <a:latin typeface="Lato"/>
              </a:rPr>
              <a:t>el token no sirve en otro dispositivo.</a:t>
            </a:r>
          </a:p>
          <a:p>
            <a:pPr>
              <a:lnSpc>
                <a:spcPct val="102000"/>
              </a:lnSpc>
              <a:spcAft>
                <a:spcPts val="400"/>
              </a:spcAft>
            </a:pPr>
            <a:r>
              <a:rPr sz="2200" b="1">
                <a:solidFill>
                  <a:srgbClr val="1B2738"/>
                </a:solidFill>
                <a:latin typeface="Lato"/>
              </a:rPr>
              <a:t>Cliente Frankenstein: </a:t>
            </a:r>
            <a:r>
              <a:rPr sz="2200" b="0">
                <a:solidFill>
                  <a:srgbClr val="1B2738"/>
                </a:solidFill>
                <a:latin typeface="Lato"/>
              </a:rPr>
              <a:t>sin binario legítimo, sin PKCE, sin DPoP.</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ACTO III</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Google; Apple; RFC 7636; RFC 9449.</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21 / 46</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DPoP vs mTLS</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COMPARATIVA</a:t>
            </a:r>
          </a:p>
        </p:txBody>
      </p:sp>
      <p:graphicFrame>
        <p:nvGraphicFramePr>
          <p:cNvPr id="5" name="Table 4"/>
          <p:cNvGraphicFramePr>
            <a:graphicFrameLocks noGrp="1"/>
          </p:cNvGraphicFramePr>
          <p:nvPr/>
        </p:nvGraphicFramePr>
        <p:xfrm>
          <a:off x="571550" y="1724000"/>
          <a:ext cx="8250899" cy="3767300"/>
        </p:xfrm>
        <a:graphic>
          <a:graphicData uri="http://schemas.openxmlformats.org/drawingml/2006/table">
            <a:tbl>
              <a:tblPr firstRow="1">
                <a:tableStyleId>{5C22544A-7EE6-4342-B048-85BDC9FD1C3A}</a:tableStyleId>
              </a:tblPr>
              <a:tblGrid>
                <a:gridCol w="2605547"/>
                <a:gridCol w="2822676"/>
                <a:gridCol w="2822676"/>
              </a:tblGrid>
              <a:tr h="753460">
                <a:tc>
                  <a:txBody>
                    <a:bodyPr wrap="square"/>
                    <a:lstStyle/>
                    <a:p>
                      <a:r>
                        <a:rPr sz="1300" b="1">
                          <a:solidFill>
                            <a:srgbClr val="FFFFFF"/>
                          </a:solidFill>
                          <a:latin typeface="Lato"/>
                        </a:rPr>
                        <a:t>Característica</a:t>
                      </a:r>
                    </a:p>
                  </a:txBody>
                  <a:tcPr anchor="ctr" marL="80000" marR="60000" marT="20000" marB="20000">
                    <a:solidFill>
                      <a:srgbClr val="1B2738"/>
                    </a:solidFill>
                  </a:tcPr>
                </a:tc>
                <a:tc>
                  <a:txBody>
                    <a:bodyPr wrap="square"/>
                    <a:lstStyle/>
                    <a:p>
                      <a:r>
                        <a:rPr sz="1300" b="1">
                          <a:solidFill>
                            <a:srgbClr val="FFFFFF"/>
                          </a:solidFill>
                          <a:latin typeface="Lato"/>
                        </a:rPr>
                        <a:t>mTLS</a:t>
                      </a:r>
                    </a:p>
                  </a:txBody>
                  <a:tcPr anchor="ctr" marL="80000" marR="60000" marT="20000" marB="20000">
                    <a:solidFill>
                      <a:srgbClr val="1B2738"/>
                    </a:solidFill>
                  </a:tcPr>
                </a:tc>
                <a:tc>
                  <a:txBody>
                    <a:bodyPr wrap="square"/>
                    <a:lstStyle/>
                    <a:p>
                      <a:r>
                        <a:rPr sz="1300" b="1">
                          <a:solidFill>
                            <a:srgbClr val="FFFFFF"/>
                          </a:solidFill>
                          <a:latin typeface="Lato"/>
                        </a:rPr>
                        <a:t>DPoP</a:t>
                      </a:r>
                    </a:p>
                  </a:txBody>
                  <a:tcPr anchor="ctr" marL="80000" marR="60000" marT="20000" marB="20000">
                    <a:solidFill>
                      <a:srgbClr val="1B2738"/>
                    </a:solidFill>
                  </a:tcPr>
                </a:tc>
              </a:tr>
              <a:tr h="753460">
                <a:tc>
                  <a:txBody>
                    <a:bodyPr wrap="square"/>
                    <a:lstStyle/>
                    <a:p>
                      <a:r>
                        <a:rPr sz="1300" b="1">
                          <a:solidFill>
                            <a:srgbClr val="1B2738"/>
                          </a:solidFill>
                          <a:latin typeface="Lato"/>
                        </a:rPr>
                        <a:t>Capa OSI</a:t>
                      </a:r>
                    </a:p>
                  </a:txBody>
                  <a:tcPr anchor="ctr" marL="80000" marR="60000" marT="20000" marB="20000">
                    <a:solidFill>
                      <a:srgbClr val="FFFFFF"/>
                    </a:solidFill>
                  </a:tcPr>
                </a:tc>
                <a:tc>
                  <a:txBody>
                    <a:bodyPr wrap="square"/>
                    <a:lstStyle/>
                    <a:p>
                      <a:r>
                        <a:rPr sz="1300" b="0">
                          <a:solidFill>
                            <a:srgbClr val="1B2738"/>
                          </a:solidFill>
                          <a:latin typeface="Lato"/>
                        </a:rPr>
                        <a:t>Capa 4 (Transporte)</a:t>
                      </a:r>
                    </a:p>
                  </a:txBody>
                  <a:tcPr anchor="ctr" marL="80000" marR="60000" marT="20000" marB="20000">
                    <a:solidFill>
                      <a:srgbClr val="FFFFFF"/>
                    </a:solidFill>
                  </a:tcPr>
                </a:tc>
                <a:tc>
                  <a:txBody>
                    <a:bodyPr wrap="square"/>
                    <a:lstStyle/>
                    <a:p>
                      <a:r>
                        <a:rPr sz="1300" b="0">
                          <a:solidFill>
                            <a:srgbClr val="1B2738"/>
                          </a:solidFill>
                          <a:latin typeface="Lato"/>
                        </a:rPr>
                        <a:t>Capa 7 (Aplicación)</a:t>
                      </a:r>
                    </a:p>
                  </a:txBody>
                  <a:tcPr anchor="ctr" marL="80000" marR="60000" marT="20000" marB="20000">
                    <a:solidFill>
                      <a:srgbClr val="FFFFFF"/>
                    </a:solidFill>
                  </a:tcPr>
                </a:tc>
              </a:tr>
              <a:tr h="753460">
                <a:tc>
                  <a:txBody>
                    <a:bodyPr wrap="square"/>
                    <a:lstStyle/>
                    <a:p>
                      <a:r>
                        <a:rPr sz="1300" b="1">
                          <a:solidFill>
                            <a:srgbClr val="1B2738"/>
                          </a:solidFill>
                          <a:latin typeface="Lato"/>
                        </a:rPr>
                        <a:t>Mecanismo</a:t>
                      </a:r>
                    </a:p>
                  </a:txBody>
                  <a:tcPr anchor="ctr" marL="80000" marR="60000" marT="20000" marB="20000">
                    <a:solidFill>
                      <a:srgbClr val="EAF2FB"/>
                    </a:solidFill>
                  </a:tcPr>
                </a:tc>
                <a:tc>
                  <a:txBody>
                    <a:bodyPr wrap="square"/>
                    <a:lstStyle/>
                    <a:p>
                      <a:r>
                        <a:rPr sz="1300" b="0">
                          <a:solidFill>
                            <a:srgbClr val="1B2738"/>
                          </a:solidFill>
                          <a:latin typeface="Lato"/>
                        </a:rPr>
                        <a:t>Certificado X.509 en TLS</a:t>
                      </a:r>
                    </a:p>
                  </a:txBody>
                  <a:tcPr anchor="ctr" marL="80000" marR="60000" marT="20000" marB="20000">
                    <a:solidFill>
                      <a:srgbClr val="EAF2FB"/>
                    </a:solidFill>
                  </a:tcPr>
                </a:tc>
                <a:tc>
                  <a:txBody>
                    <a:bodyPr wrap="square"/>
                    <a:lstStyle/>
                    <a:p>
                      <a:r>
                        <a:rPr sz="1300" b="0">
                          <a:solidFill>
                            <a:srgbClr val="1B2738"/>
                          </a:solidFill>
                          <a:latin typeface="Lato"/>
                        </a:rPr>
                        <a:t>JWT firmado en header HTTP</a:t>
                      </a:r>
                    </a:p>
                  </a:txBody>
                  <a:tcPr anchor="ctr" marL="80000" marR="60000" marT="20000" marB="20000">
                    <a:solidFill>
                      <a:srgbClr val="EAF2FB"/>
                    </a:solidFill>
                  </a:tcPr>
                </a:tc>
              </a:tr>
              <a:tr h="753460">
                <a:tc>
                  <a:txBody>
                    <a:bodyPr wrap="square"/>
                    <a:lstStyle/>
                    <a:p>
                      <a:r>
                        <a:rPr sz="1300" b="1">
                          <a:solidFill>
                            <a:srgbClr val="1B2738"/>
                          </a:solidFill>
                          <a:latin typeface="Lato"/>
                        </a:rPr>
                        <a:t>Gestión de claves</a:t>
                      </a:r>
                    </a:p>
                  </a:txBody>
                  <a:tcPr anchor="ctr" marL="80000" marR="60000" marT="20000" marB="20000">
                    <a:solidFill>
                      <a:srgbClr val="FFFFFF"/>
                    </a:solidFill>
                  </a:tcPr>
                </a:tc>
                <a:tc>
                  <a:txBody>
                    <a:bodyPr wrap="square"/>
                    <a:lstStyle/>
                    <a:p>
                      <a:r>
                        <a:rPr sz="1300" b="0">
                          <a:solidFill>
                            <a:srgbClr val="1B2738"/>
                          </a:solidFill>
                          <a:latin typeface="Lato"/>
                        </a:rPr>
                        <a:t>Compleja (PKI)</a:t>
                      </a:r>
                    </a:p>
                  </a:txBody>
                  <a:tcPr anchor="ctr" marL="80000" marR="60000" marT="20000" marB="20000">
                    <a:solidFill>
                      <a:srgbClr val="FFFFFF"/>
                    </a:solidFill>
                  </a:tcPr>
                </a:tc>
                <a:tc>
                  <a:txBody>
                    <a:bodyPr wrap="square"/>
                    <a:lstStyle/>
                    <a:p>
                      <a:r>
                        <a:rPr sz="1300" b="0">
                          <a:solidFill>
                            <a:srgbClr val="1B2738"/>
                          </a:solidFill>
                          <a:latin typeface="Lato"/>
                        </a:rPr>
                        <a:t>Sin PKI, par dinámico</a:t>
                      </a:r>
                    </a:p>
                  </a:txBody>
                  <a:tcPr anchor="ctr" marL="80000" marR="60000" marT="20000" marB="20000">
                    <a:solidFill>
                      <a:srgbClr val="FFFFFF"/>
                    </a:solidFill>
                  </a:tcPr>
                </a:tc>
              </a:tr>
              <a:tr h="753460">
                <a:tc>
                  <a:txBody>
                    <a:bodyPr wrap="square"/>
                    <a:lstStyle/>
                    <a:p>
                      <a:r>
                        <a:rPr sz="1300" b="1">
                          <a:solidFill>
                            <a:srgbClr val="1B2738"/>
                          </a:solidFill>
                          <a:latin typeface="Lato"/>
                        </a:rPr>
                        <a:t>Ideal para</a:t>
                      </a:r>
                    </a:p>
                  </a:txBody>
                  <a:tcPr anchor="ctr" marL="80000" marR="60000" marT="20000" marB="20000">
                    <a:solidFill>
                      <a:srgbClr val="EAF2FB"/>
                    </a:solidFill>
                  </a:tcPr>
                </a:tc>
                <a:tc>
                  <a:txBody>
                    <a:bodyPr wrap="square"/>
                    <a:lstStyle/>
                    <a:p>
                      <a:r>
                        <a:rPr sz="1300" b="0">
                          <a:solidFill>
                            <a:srgbClr val="1B2738"/>
                          </a:solidFill>
                          <a:latin typeface="Lato"/>
                        </a:rPr>
                        <a:t>M2M, microservicios</a:t>
                      </a:r>
                    </a:p>
                  </a:txBody>
                  <a:tcPr anchor="ctr" marL="80000" marR="60000" marT="20000" marB="20000">
                    <a:solidFill>
                      <a:srgbClr val="EAF2FB"/>
                    </a:solidFill>
                  </a:tcPr>
                </a:tc>
                <a:tc>
                  <a:txBody>
                    <a:bodyPr wrap="square"/>
                    <a:lstStyle/>
                    <a:p>
                      <a:r>
                        <a:rPr sz="1300" b="0">
                          <a:solidFill>
                            <a:srgbClr val="1B2738"/>
                          </a:solidFill>
                          <a:latin typeface="Lato"/>
                        </a:rPr>
                        <a:t>SPAs, móviles</a:t>
                      </a:r>
                    </a:p>
                  </a:txBody>
                  <a:tcPr anchor="ctr" marL="80000" marR="60000" marT="20000" marB="20000">
                    <a:solidFill>
                      <a:srgbClr val="EAF2FB"/>
                    </a:solidFill>
                  </a:tcPr>
                </a:tc>
              </a:tr>
            </a:tbl>
          </a:graphicData>
        </a:graphic>
      </p:graphicFrame>
      <p:sp>
        <p:nvSpPr>
          <p:cNvPr id="6" name="TextBox 5"/>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RFC 8705 (2020); RFC 9449 (2023).</a:t>
            </a:r>
          </a:p>
        </p:txBody>
      </p:sp>
      <p:sp>
        <p:nvSpPr>
          <p:cNvPr id="7" name="TextBox 6"/>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22 / 46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DPoP: prueba en HTTP</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2200" b="1">
                <a:solidFill>
                  <a:srgbClr val="1B2738"/>
                </a:solidFill>
                <a:latin typeface="Lato"/>
              </a:rPr>
              <a:t>Par de claves dinámico: </a:t>
            </a:r>
            <a:r>
              <a:rPr sz="2200" b="0">
                <a:solidFill>
                  <a:srgbClr val="1B2738"/>
                </a:solidFill>
                <a:latin typeface="Lato"/>
              </a:rPr>
              <a:t>generado en el momento.</a:t>
            </a:r>
          </a:p>
          <a:p>
            <a:pPr>
              <a:lnSpc>
                <a:spcPct val="102000"/>
              </a:lnSpc>
              <a:spcAft>
                <a:spcPts val="400"/>
              </a:spcAft>
            </a:pPr>
            <a:r>
              <a:rPr sz="2200" b="1">
                <a:solidFill>
                  <a:srgbClr val="1B2738"/>
                </a:solidFill>
                <a:latin typeface="Lato"/>
              </a:rPr>
              <a:t>Token atado a la clave pública. </a:t>
            </a:r>
            <a:r>
              <a:rPr sz="2200" b="0">
                <a:solidFill>
                  <a:srgbClr val="1B2738"/>
                </a:solidFill>
                <a:latin typeface="Lato"/>
              </a:rPr>
              <a:t>La privada permanece en el dispositivo.</a:t>
            </a:r>
          </a:p>
          <a:p>
            <a:pPr>
              <a:lnSpc>
                <a:spcPct val="102000"/>
              </a:lnSpc>
              <a:spcAft>
                <a:spcPts val="400"/>
              </a:spcAft>
            </a:pPr>
            <a:r>
              <a:rPr sz="2200" b="1">
                <a:solidFill>
                  <a:srgbClr val="1B2738"/>
                </a:solidFill>
                <a:latin typeface="Lato"/>
              </a:rPr>
              <a:t>Header DPoP en cada request: </a:t>
            </a:r>
            <a:r>
              <a:rPr sz="2200" b="0">
                <a:solidFill>
                  <a:srgbClr val="1B2738"/>
                </a:solidFill>
                <a:latin typeface="Lato"/>
              </a:rPr>
              <a:t>JWT firmado con método y URL.</a:t>
            </a:r>
          </a:p>
          <a:p>
            <a:pPr>
              <a:lnSpc>
                <a:spcPct val="102000"/>
              </a:lnSpc>
              <a:spcAft>
                <a:spcPts val="400"/>
              </a:spcAft>
            </a:pPr>
            <a:r>
              <a:rPr sz="2200" b="1">
                <a:solidFill>
                  <a:srgbClr val="1B2738"/>
                </a:solidFill>
                <a:latin typeface="Lato"/>
              </a:rPr>
              <a:t>Funciona a través de proxies, WAFs </a:t>
            </a:r>
            <a:r>
              <a:rPr sz="2200" b="0">
                <a:solidFill>
                  <a:srgbClr val="1B2738"/>
                </a:solidFill>
                <a:latin typeface="Lato"/>
              </a:rPr>
              <a:t>y terminaciones TLS.</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COMPARATIVA</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RFC 9449 (2023).</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23 / 46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TLS, Gateway, Zero Trust</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ARQUITECTURA</a:t>
            </a:r>
          </a:p>
        </p:txBody>
      </p:sp>
      <p:pic>
        <p:nvPicPr>
          <p:cNvPr id="5" name="Picture 4" descr="13_circles.png"/>
          <p:cNvPicPr>
            <a:picLocks noChangeAspect="1"/>
          </p:cNvPicPr>
          <p:nvPr/>
        </p:nvPicPr>
        <p:blipFill>
          <a:blip r:embed="rId2"/>
          <a:stretch>
            <a:fillRect/>
          </a:stretch>
        </p:blipFill>
        <p:spPr>
          <a:xfrm>
            <a:off x="2601133" y="1524000"/>
            <a:ext cx="4191733" cy="4167300"/>
          </a:xfrm>
          <a:prstGeom prst="rect">
            <a:avLst/>
          </a:prstGeom>
        </p:spPr>
      </p:pic>
      <p:sp>
        <p:nvSpPr>
          <p:cNvPr id="6" name="TextBox 5"/>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OWASP API Security Top 10 (2023); NIST SP 800-207 (2020).</a:t>
            </a:r>
          </a:p>
        </p:txBody>
      </p:sp>
      <p:sp>
        <p:nvSpPr>
          <p:cNvPr id="7" name="TextBox 6"/>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24 / 46</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ID Uruguay</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2400" b="1">
                <a:solidFill>
                  <a:srgbClr val="1B2738"/>
                </a:solidFill>
                <a:latin typeface="Lato"/>
              </a:rPr>
              <a:t>OIDC con bearer tokens: </a:t>
            </a:r>
            <a:r>
              <a:rPr sz="2400" b="0">
                <a:solidFill>
                  <a:srgbClr val="1B2738"/>
                </a:solidFill>
                <a:latin typeface="Lato"/>
              </a:rPr>
              <a:t>tokens de larga vida sin rotación.</a:t>
            </a:r>
          </a:p>
          <a:p>
            <a:pPr>
              <a:lnSpc>
                <a:spcPct val="102000"/>
              </a:lnSpc>
              <a:spcAft>
                <a:spcPts val="400"/>
              </a:spcAft>
            </a:pPr>
            <a:r>
              <a:rPr sz="2400" b="1">
                <a:solidFill>
                  <a:srgbClr val="1B2738"/>
                </a:solidFill>
                <a:latin typeface="Lato"/>
              </a:rPr>
              <a:t>SPAs con token en localStorage: </a:t>
            </a:r>
            <a:r>
              <a:rPr sz="2400" b="0">
                <a:solidFill>
                  <a:srgbClr val="1B2738"/>
                </a:solidFill>
                <a:latin typeface="Lato"/>
              </a:rPr>
              <a:t>robo por XSS.</a:t>
            </a:r>
          </a:p>
          <a:p>
            <a:pPr>
              <a:lnSpc>
                <a:spcPct val="102000"/>
              </a:lnSpc>
              <a:spcAft>
                <a:spcPts val="400"/>
              </a:spcAft>
            </a:pPr>
            <a:r>
              <a:rPr sz="2400" b="1">
                <a:solidFill>
                  <a:srgbClr val="1B2738"/>
                </a:solidFill>
                <a:latin typeface="Lato"/>
              </a:rPr>
              <a:t>Mitigaciones: </a:t>
            </a:r>
            <a:r>
              <a:rPr sz="2400" b="0">
                <a:solidFill>
                  <a:srgbClr val="1B2738"/>
                </a:solidFill>
                <a:latin typeface="Lato"/>
              </a:rPr>
              <a:t>DPoP, PKCE, Step-Up para operaciones sensibles.</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CASO URUGUAY</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AGESIC / ID Uruguay; OWASP.</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25 / 46</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El token se acaba. El riesgo no.</a:t>
            </a:r>
          </a:p>
        </p:txBody>
      </p:sp>
      <p:sp>
        <p:nvSpPr>
          <p:cNvPr id="3" name="Text Placeholder 2"/>
          <p:cNvSpPr>
            <a:spLocks noGrp="1"/>
          </p:cNvSpPr>
          <p:nvPr>
            <p:ph type="body" idx="2"/>
          </p:nvPr>
        </p:nvSpPr>
        <p:spPr/>
        <p:txBody>
          <a:bodyPr wrap="square">
            <a:noAutofit/>
          </a:bodyPr>
          <a:lstStyle/>
          <a:p>
            <a:pPr>
              <a:lnSpc>
                <a:spcPct val="102000"/>
              </a:lnSpc>
              <a:spcAft>
                <a:spcPts val="400"/>
              </a:spcAft>
            </a:pPr>
            <a:r>
              <a:rPr sz="2400" b="1">
                <a:solidFill>
                  <a:srgbClr val="1B2738"/>
                </a:solidFill>
                <a:latin typeface="Lato"/>
              </a:rPr>
              <a:t>La falsa sensación de seguridad: </a:t>
            </a:r>
            <a:r>
              <a:rPr sz="2400" b="0">
                <a:solidFill>
                  <a:srgbClr val="1B2738"/>
                </a:solidFill>
                <a:latin typeface="Lato"/>
              </a:rPr>
              <a:t>pensar que bearer significa seguro.</a:t>
            </a:r>
          </a:p>
          <a:p>
            <a:pPr>
              <a:lnSpc>
                <a:spcPct val="102000"/>
              </a:lnSpc>
              <a:spcAft>
                <a:spcPts val="400"/>
              </a:spcAft>
            </a:pPr>
            <a:r>
              <a:rPr sz="2400" b="1">
                <a:solidFill>
                  <a:srgbClr val="1B2738"/>
                </a:solidFill>
                <a:latin typeface="Lato"/>
              </a:rPr>
              <a:t>Bearer significa: </a:t>
            </a:r>
            <a:r>
              <a:rPr sz="2400" b="0">
                <a:solidFill>
                  <a:srgbClr val="1B2738"/>
                </a:solidFill>
                <a:latin typeface="Lato"/>
              </a:rPr>
              <a:t>portador.</a:t>
            </a:r>
          </a:p>
          <a:p>
            <a:pPr>
              <a:lnSpc>
                <a:spcPct val="102000"/>
              </a:lnSpc>
              <a:spcAft>
                <a:spcPts val="400"/>
              </a:spcAft>
            </a:pPr>
            <a:r>
              <a:rPr sz="2400" b="1">
                <a:solidFill>
                  <a:srgbClr val="1B2738"/>
                </a:solidFill>
                <a:latin typeface="Lato"/>
              </a:rPr>
              <a:t>La seguridad está en el sistema: </a:t>
            </a:r>
            <a:r>
              <a:rPr sz="2400" b="0">
                <a:solidFill>
                  <a:srgbClr val="1B2738"/>
                </a:solidFill>
                <a:latin typeface="Lato"/>
              </a:rPr>
              <a:t>autorización, cifrado, anti-replay, MFA.</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CIERRE</a:t>
            </a:r>
          </a:p>
        </p:txBody>
      </p:sp>
      <p:sp>
        <p:nvSpPr>
          <p:cNvPr id="5" name="TextBox 4"/>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OWASP; RFC 9449; RFC 9700.</a:t>
            </a:r>
          </a:p>
        </p:txBody>
      </p:sp>
      <p:sp>
        <p:nvSpPr>
          <p:cNvPr id="6" name="TextBox 5"/>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26 / 46</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La familia de tokens</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DETALLE</a:t>
            </a:r>
          </a:p>
        </p:txBody>
      </p:sp>
      <p:pic>
        <p:nvPicPr>
          <p:cNvPr id="5" name="Picture 4" descr="02_token_family.png"/>
          <p:cNvPicPr>
            <a:picLocks noChangeAspect="1"/>
          </p:cNvPicPr>
          <p:nvPr/>
        </p:nvPicPr>
        <p:blipFill>
          <a:blip r:embed="rId2"/>
          <a:stretch>
            <a:fillRect/>
          </a:stretch>
        </p:blipFill>
        <p:spPr>
          <a:xfrm>
            <a:off x="1477308" y="1524000"/>
            <a:ext cx="6439384" cy="4167300"/>
          </a:xfrm>
          <a:prstGeom prst="rect">
            <a:avLst/>
          </a:prstGeom>
        </p:spPr>
      </p:pic>
      <p:sp>
        <p:nvSpPr>
          <p:cNvPr id="6" name="TextBox 5"/>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RFC 6749 §4.1 y §5 (2012); OIDC Core (2014).</a:t>
            </a:r>
          </a:p>
        </p:txBody>
      </p:sp>
      <p:sp>
        <p:nvSpPr>
          <p:cNvPr id="7" name="TextBox 6"/>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27 / 46</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Anatomía de un JWT</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DETALLE</a:t>
            </a:r>
          </a:p>
        </p:txBody>
      </p:sp>
      <p:pic>
        <p:nvPicPr>
          <p:cNvPr id="5" name="Picture 4" descr="03_jwt_anatomy.png"/>
          <p:cNvPicPr>
            <a:picLocks noChangeAspect="1"/>
          </p:cNvPicPr>
          <p:nvPr/>
        </p:nvPicPr>
        <p:blipFill>
          <a:blip r:embed="rId2"/>
          <a:stretch>
            <a:fillRect/>
          </a:stretch>
        </p:blipFill>
        <p:spPr>
          <a:xfrm>
            <a:off x="571550" y="1652879"/>
            <a:ext cx="8250900" cy="3909542"/>
          </a:xfrm>
          <a:prstGeom prst="rect">
            <a:avLst/>
          </a:prstGeom>
        </p:spPr>
      </p:pic>
      <p:sp>
        <p:nvSpPr>
          <p:cNvPr id="6" name="TextBox 5"/>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RFC 7519 (2015); RFC 8725 (2020).</a:t>
            </a:r>
          </a:p>
        </p:txBody>
      </p:sp>
      <p:sp>
        <p:nvSpPr>
          <p:cNvPr id="7" name="TextBox 6"/>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28 / 46</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Dónde viaja el token</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DETALLE</a:t>
            </a:r>
          </a:p>
        </p:txBody>
      </p:sp>
      <p:pic>
        <p:nvPicPr>
          <p:cNvPr id="5" name="Picture 4" descr="04_transport.png"/>
          <p:cNvPicPr>
            <a:picLocks noChangeAspect="1"/>
          </p:cNvPicPr>
          <p:nvPr/>
        </p:nvPicPr>
        <p:blipFill>
          <a:blip r:embed="rId2"/>
          <a:stretch>
            <a:fillRect/>
          </a:stretch>
        </p:blipFill>
        <p:spPr>
          <a:xfrm>
            <a:off x="596617" y="1524000"/>
            <a:ext cx="8200766" cy="4167300"/>
          </a:xfrm>
          <a:prstGeom prst="rect">
            <a:avLst/>
          </a:prstGeom>
        </p:spPr>
      </p:pic>
      <p:sp>
        <p:nvSpPr>
          <p:cNvPr id="6" name="TextBox 5"/>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RFC 6750 §2 (2012); RFC 9700 (enero 2025).</a:t>
            </a:r>
          </a:p>
        </p:txBody>
      </p:sp>
      <p:sp>
        <p:nvSpPr>
          <p:cNvPr id="7" name="TextBox 6"/>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29 / 46</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La MFA protege un instante</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DETALLE</a:t>
            </a:r>
          </a:p>
        </p:txBody>
      </p:sp>
      <p:pic>
        <p:nvPicPr>
          <p:cNvPr id="5" name="Picture 4" descr="05_mfa_timeline.png"/>
          <p:cNvPicPr>
            <a:picLocks noChangeAspect="1"/>
          </p:cNvPicPr>
          <p:nvPr/>
        </p:nvPicPr>
        <p:blipFill>
          <a:blip r:embed="rId2"/>
          <a:stretch>
            <a:fillRect/>
          </a:stretch>
        </p:blipFill>
        <p:spPr>
          <a:xfrm>
            <a:off x="571550" y="1940755"/>
            <a:ext cx="8250900" cy="3333790"/>
          </a:xfrm>
          <a:prstGeom prst="rect">
            <a:avLst/>
          </a:prstGeom>
        </p:spPr>
      </p:pic>
      <p:sp>
        <p:nvSpPr>
          <p:cNvPr id="6" name="TextBox 5"/>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NIST SP 800-63-4 (julio 2025); OIDC Core (2014).</a:t>
            </a:r>
          </a:p>
        </p:txBody>
      </p:sp>
      <p:sp>
        <p:nvSpPr>
          <p:cNvPr id="7" name="TextBox 6"/>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30 / 46</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Persona y sistema</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DETALLE</a:t>
            </a:r>
          </a:p>
        </p:txBody>
      </p:sp>
      <p:pic>
        <p:nvPicPr>
          <p:cNvPr id="5" name="Picture 4" descr="06_person_vs_system.png"/>
          <p:cNvPicPr>
            <a:picLocks noChangeAspect="1"/>
          </p:cNvPicPr>
          <p:nvPr/>
        </p:nvPicPr>
        <p:blipFill>
          <a:blip r:embed="rId2"/>
          <a:stretch>
            <a:fillRect/>
          </a:stretch>
        </p:blipFill>
        <p:spPr>
          <a:xfrm>
            <a:off x="979484" y="1524000"/>
            <a:ext cx="7435032" cy="4167299"/>
          </a:xfrm>
          <a:prstGeom prst="rect">
            <a:avLst/>
          </a:prstGeom>
        </p:spPr>
      </p:pic>
      <p:sp>
        <p:nvSpPr>
          <p:cNvPr id="6" name="TextBox 5"/>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NIST SP 800-63-4 (2025); GitGuardian (2026).</a:t>
            </a:r>
          </a:p>
        </p:txBody>
      </p:sp>
      <p:sp>
        <p:nvSpPr>
          <p:cNvPr id="7" name="TextBox 6"/>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31 / 46</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Del bearer al sender-constrained</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DETALLE</a:t>
            </a:r>
          </a:p>
        </p:txBody>
      </p:sp>
      <p:pic>
        <p:nvPicPr>
          <p:cNvPr id="5" name="Picture 4" descr="07_sender_constrained.png"/>
          <p:cNvPicPr>
            <a:picLocks noChangeAspect="1"/>
          </p:cNvPicPr>
          <p:nvPr/>
        </p:nvPicPr>
        <p:blipFill>
          <a:blip r:embed="rId2"/>
          <a:stretch>
            <a:fillRect/>
          </a:stretch>
        </p:blipFill>
        <p:spPr>
          <a:xfrm>
            <a:off x="571550" y="1583231"/>
            <a:ext cx="8250900" cy="4048837"/>
          </a:xfrm>
          <a:prstGeom prst="rect">
            <a:avLst/>
          </a:prstGeom>
        </p:spPr>
      </p:pic>
      <p:sp>
        <p:nvSpPr>
          <p:cNvPr id="6" name="TextBox 5"/>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RFC 8471-8473 (2018); RFC 8705 (2020); RFC 9449 (2023).</a:t>
            </a:r>
          </a:p>
        </p:txBody>
      </p:sp>
      <p:sp>
        <p:nvSpPr>
          <p:cNvPr id="7" name="TextBox 6"/>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32 / 46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Los flujos de OAuth</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DETALLE</a:t>
            </a:r>
          </a:p>
        </p:txBody>
      </p:sp>
      <p:pic>
        <p:nvPicPr>
          <p:cNvPr id="5" name="Picture 4" descr="08_oauth_flows.png"/>
          <p:cNvPicPr>
            <a:picLocks noChangeAspect="1"/>
          </p:cNvPicPr>
          <p:nvPr/>
        </p:nvPicPr>
        <p:blipFill>
          <a:blip r:embed="rId2"/>
          <a:stretch>
            <a:fillRect/>
          </a:stretch>
        </p:blipFill>
        <p:spPr>
          <a:xfrm>
            <a:off x="732711" y="1524000"/>
            <a:ext cx="7928578" cy="4167299"/>
          </a:xfrm>
          <a:prstGeom prst="rect">
            <a:avLst/>
          </a:prstGeom>
        </p:spPr>
      </p:pic>
      <p:sp>
        <p:nvSpPr>
          <p:cNvPr id="6" name="TextBox 5"/>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RFC 6749 (2012); RFC 7636 (2015).</a:t>
            </a:r>
          </a:p>
        </p:txBody>
      </p:sp>
      <p:sp>
        <p:nvSpPr>
          <p:cNvPr id="7" name="TextBox 6"/>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33 / 46</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La pila de protocolos</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DETALLE</a:t>
            </a:r>
          </a:p>
        </p:txBody>
      </p:sp>
      <p:pic>
        <p:nvPicPr>
          <p:cNvPr id="5" name="Picture 4" descr="09_protocol_stack.png"/>
          <p:cNvPicPr>
            <a:picLocks noChangeAspect="1"/>
          </p:cNvPicPr>
          <p:nvPr/>
        </p:nvPicPr>
        <p:blipFill>
          <a:blip r:embed="rId2"/>
          <a:stretch>
            <a:fillRect/>
          </a:stretch>
        </p:blipFill>
        <p:spPr>
          <a:xfrm>
            <a:off x="732711" y="1524000"/>
            <a:ext cx="7928578" cy="4167299"/>
          </a:xfrm>
          <a:prstGeom prst="rect">
            <a:avLst/>
          </a:prstGeom>
        </p:spPr>
      </p:pic>
      <p:sp>
        <p:nvSpPr>
          <p:cNvPr id="6" name="TextBox 5"/>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OWASP; IETF.</a:t>
            </a:r>
          </a:p>
        </p:txBody>
      </p:sp>
      <p:sp>
        <p:nvSpPr>
          <p:cNvPr id="7" name="TextBox 6"/>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34 / 46</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El ciclo de vida del token</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DETALLE</a:t>
            </a:r>
          </a:p>
        </p:txBody>
      </p:sp>
      <p:pic>
        <p:nvPicPr>
          <p:cNvPr id="5" name="Picture 4" descr="10_lifecycle.png"/>
          <p:cNvPicPr>
            <a:picLocks noChangeAspect="1"/>
          </p:cNvPicPr>
          <p:nvPr/>
        </p:nvPicPr>
        <p:blipFill>
          <a:blip r:embed="rId2"/>
          <a:stretch>
            <a:fillRect/>
          </a:stretch>
        </p:blipFill>
        <p:spPr>
          <a:xfrm>
            <a:off x="2601280" y="1524000"/>
            <a:ext cx="4191440" cy="4167300"/>
          </a:xfrm>
          <a:prstGeom prst="rect">
            <a:avLst/>
          </a:prstGeom>
        </p:spPr>
      </p:pic>
      <p:sp>
        <p:nvSpPr>
          <p:cNvPr id="6" name="TextBox 5"/>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RFC 6749; RFC 7009; RFC 9700.</a:t>
            </a:r>
          </a:p>
        </p:txBody>
      </p:sp>
      <p:sp>
        <p:nvSpPr>
          <p:cNvPr id="7" name="TextBox 6"/>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35 / 46</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OWASP API Top 10</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DETALLE</a:t>
            </a:r>
          </a:p>
        </p:txBody>
      </p:sp>
      <p:pic>
        <p:nvPicPr>
          <p:cNvPr id="5" name="Picture 4" descr="11_owasp_top10.png"/>
          <p:cNvPicPr>
            <a:picLocks noChangeAspect="1"/>
          </p:cNvPicPr>
          <p:nvPr/>
        </p:nvPicPr>
        <p:blipFill>
          <a:blip r:embed="rId2"/>
          <a:stretch>
            <a:fillRect/>
          </a:stretch>
        </p:blipFill>
        <p:spPr>
          <a:xfrm>
            <a:off x="1259074" y="1524000"/>
            <a:ext cx="6875851" cy="4167300"/>
          </a:xfrm>
          <a:prstGeom prst="rect">
            <a:avLst/>
          </a:prstGeom>
        </p:spPr>
      </p:pic>
      <p:sp>
        <p:nvSpPr>
          <p:cNvPr id="6" name="TextBox 5"/>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OWASP API Security Top 10, edición 2023.</a:t>
            </a:r>
          </a:p>
        </p:txBody>
      </p:sp>
      <p:sp>
        <p:nvSpPr>
          <p:cNvPr id="7" name="TextBox 6"/>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36 / 46</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Arquitectura de referencia</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DETALLE</a:t>
            </a:r>
          </a:p>
        </p:txBody>
      </p:sp>
      <p:pic>
        <p:nvPicPr>
          <p:cNvPr id="5" name="Picture 4" descr="12_reference_arch.png"/>
          <p:cNvPicPr>
            <a:picLocks noChangeAspect="1"/>
          </p:cNvPicPr>
          <p:nvPr/>
        </p:nvPicPr>
        <p:blipFill>
          <a:blip r:embed="rId2"/>
          <a:stretch>
            <a:fillRect/>
          </a:stretch>
        </p:blipFill>
        <p:spPr>
          <a:xfrm>
            <a:off x="979484" y="1524000"/>
            <a:ext cx="7435032" cy="4167299"/>
          </a:xfrm>
          <a:prstGeom prst="rect">
            <a:avLst/>
          </a:prstGeom>
        </p:spPr>
      </p:pic>
      <p:sp>
        <p:nvSpPr>
          <p:cNvPr id="6" name="TextBox 5"/>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OWASP; NIST SP 800-207.</a:t>
            </a:r>
          </a:p>
        </p:txBody>
      </p:sp>
      <p:sp>
        <p:nvSpPr>
          <p:cNvPr id="7" name="TextBox 6"/>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37 / 46</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El ecosistema completo</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DETALLE</a:t>
            </a:r>
          </a:p>
        </p:txBody>
      </p:sp>
      <p:pic>
        <p:nvPicPr>
          <p:cNvPr id="5" name="Picture 4" descr="13_circles.png"/>
          <p:cNvPicPr>
            <a:picLocks noChangeAspect="1"/>
          </p:cNvPicPr>
          <p:nvPr/>
        </p:nvPicPr>
        <p:blipFill>
          <a:blip r:embed="rId2"/>
          <a:stretch>
            <a:fillRect/>
          </a:stretch>
        </p:blipFill>
        <p:spPr>
          <a:xfrm>
            <a:off x="2601133" y="1524000"/>
            <a:ext cx="4191733" cy="4167300"/>
          </a:xfrm>
          <a:prstGeom prst="rect">
            <a:avLst/>
          </a:prstGeom>
        </p:spPr>
      </p:pic>
      <p:sp>
        <p:nvSpPr>
          <p:cNvPr id="6" name="TextBox 5"/>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OWASP API Security Top 10 (2023).</a:t>
            </a:r>
          </a:p>
        </p:txBody>
      </p:sp>
      <p:sp>
        <p:nvSpPr>
          <p:cNvPr id="7" name="TextBox 6"/>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38 / 46</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El ecosistema en detalle</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DETALLE</a:t>
            </a:r>
          </a:p>
        </p:txBody>
      </p:sp>
      <p:pic>
        <p:nvPicPr>
          <p:cNvPr id="5" name="Picture 4" descr="d_circles.png"/>
          <p:cNvPicPr>
            <a:picLocks noChangeAspect="1"/>
          </p:cNvPicPr>
          <p:nvPr/>
        </p:nvPicPr>
        <p:blipFill>
          <a:blip r:embed="rId2"/>
          <a:stretch>
            <a:fillRect/>
          </a:stretch>
        </p:blipFill>
        <p:spPr>
          <a:xfrm>
            <a:off x="1958532" y="1524000"/>
            <a:ext cx="5476936" cy="4167300"/>
          </a:xfrm>
          <a:prstGeom prst="rect">
            <a:avLst/>
          </a:prstGeom>
        </p:spPr>
      </p:pic>
      <p:sp>
        <p:nvSpPr>
          <p:cNvPr id="6" name="TextBox 5"/>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OWASP API Security Top 10 (2023).</a:t>
            </a:r>
          </a:p>
        </p:txBody>
      </p:sp>
      <p:sp>
        <p:nvSpPr>
          <p:cNvPr id="7" name="TextBox 6"/>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39 / 46</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La familia de tokens en detalle</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DETALLE</a:t>
            </a:r>
          </a:p>
        </p:txBody>
      </p:sp>
      <p:pic>
        <p:nvPicPr>
          <p:cNvPr id="5" name="Picture 4" descr="d_family.png"/>
          <p:cNvPicPr>
            <a:picLocks noChangeAspect="1"/>
          </p:cNvPicPr>
          <p:nvPr/>
        </p:nvPicPr>
        <p:blipFill>
          <a:blip r:embed="rId2"/>
          <a:stretch>
            <a:fillRect/>
          </a:stretch>
        </p:blipFill>
        <p:spPr>
          <a:xfrm>
            <a:off x="571550" y="1533043"/>
            <a:ext cx="8250899" cy="4149214"/>
          </a:xfrm>
          <a:prstGeom prst="rect">
            <a:avLst/>
          </a:prstGeom>
        </p:spPr>
      </p:pic>
      <p:sp>
        <p:nvSpPr>
          <p:cNvPr id="6" name="TextBox 5"/>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RFC 6749 §4.1 y §5 (2012); OIDC Core (2014).</a:t>
            </a:r>
          </a:p>
        </p:txBody>
      </p:sp>
      <p:sp>
        <p:nvSpPr>
          <p:cNvPr id="7" name="TextBox 6"/>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40 / 46</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JWT en detalle</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DETALLE</a:t>
            </a:r>
          </a:p>
        </p:txBody>
      </p:sp>
      <p:pic>
        <p:nvPicPr>
          <p:cNvPr id="5" name="Picture 4" descr="d_jwt.png"/>
          <p:cNvPicPr>
            <a:picLocks noChangeAspect="1"/>
          </p:cNvPicPr>
          <p:nvPr/>
        </p:nvPicPr>
        <p:blipFill>
          <a:blip r:embed="rId2"/>
          <a:stretch>
            <a:fillRect/>
          </a:stretch>
        </p:blipFill>
        <p:spPr>
          <a:xfrm>
            <a:off x="571550" y="1527050"/>
            <a:ext cx="8250899" cy="4161199"/>
          </a:xfrm>
          <a:prstGeom prst="rect">
            <a:avLst/>
          </a:prstGeom>
        </p:spPr>
      </p:pic>
      <p:sp>
        <p:nvSpPr>
          <p:cNvPr id="6" name="TextBox 5"/>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RFC 7519 (2015); RFC 8725 (2020).</a:t>
            </a:r>
          </a:p>
        </p:txBody>
      </p:sp>
      <p:sp>
        <p:nvSpPr>
          <p:cNvPr id="7" name="TextBox 6"/>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41 / 46</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MFA en detalle</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DETALLE</a:t>
            </a:r>
          </a:p>
        </p:txBody>
      </p:sp>
      <p:pic>
        <p:nvPicPr>
          <p:cNvPr id="5" name="Picture 4" descr="d_mfa.png"/>
          <p:cNvPicPr>
            <a:picLocks noChangeAspect="1"/>
          </p:cNvPicPr>
          <p:nvPr/>
        </p:nvPicPr>
        <p:blipFill>
          <a:blip r:embed="rId2"/>
          <a:stretch>
            <a:fillRect/>
          </a:stretch>
        </p:blipFill>
        <p:spPr>
          <a:xfrm>
            <a:off x="571550" y="1689113"/>
            <a:ext cx="8250899" cy="3837073"/>
          </a:xfrm>
          <a:prstGeom prst="rect">
            <a:avLst/>
          </a:prstGeom>
        </p:spPr>
      </p:pic>
      <p:sp>
        <p:nvSpPr>
          <p:cNvPr id="6" name="TextBox 5"/>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NIST SP 800-63-4 (julio 2025); OIDC Core (2014).</a:t>
            </a:r>
          </a:p>
        </p:txBody>
      </p:sp>
      <p:sp>
        <p:nvSpPr>
          <p:cNvPr id="7" name="TextBox 6"/>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42 / 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OWASP Top 10 en detalle</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DETALLE</a:t>
            </a:r>
          </a:p>
        </p:txBody>
      </p:sp>
      <p:pic>
        <p:nvPicPr>
          <p:cNvPr id="5" name="Picture 4" descr="d_owasp.png"/>
          <p:cNvPicPr>
            <a:picLocks noChangeAspect="1"/>
          </p:cNvPicPr>
          <p:nvPr/>
        </p:nvPicPr>
        <p:blipFill>
          <a:blip r:embed="rId2"/>
          <a:stretch>
            <a:fillRect/>
          </a:stretch>
        </p:blipFill>
        <p:spPr>
          <a:xfrm>
            <a:off x="997720" y="1524000"/>
            <a:ext cx="7398560" cy="4167299"/>
          </a:xfrm>
          <a:prstGeom prst="rect">
            <a:avLst/>
          </a:prstGeom>
        </p:spPr>
      </p:pic>
      <p:sp>
        <p:nvSpPr>
          <p:cNvPr id="6" name="TextBox 5"/>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OWASP API Security Top 10, edición 2023.</a:t>
            </a:r>
          </a:p>
        </p:txBody>
      </p:sp>
      <p:sp>
        <p:nvSpPr>
          <p:cNvPr id="7" name="TextBox 6"/>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43 / 46</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DPoP en detalle</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DETALLE</a:t>
            </a:r>
          </a:p>
        </p:txBody>
      </p:sp>
      <p:pic>
        <p:nvPicPr>
          <p:cNvPr id="5" name="Picture 4" descr="d_pop.png"/>
          <p:cNvPicPr>
            <a:picLocks noChangeAspect="1"/>
          </p:cNvPicPr>
          <p:nvPr/>
        </p:nvPicPr>
        <p:blipFill>
          <a:blip r:embed="rId2"/>
          <a:stretch>
            <a:fillRect/>
          </a:stretch>
        </p:blipFill>
        <p:spPr>
          <a:xfrm>
            <a:off x="571550" y="1527050"/>
            <a:ext cx="8250899" cy="4161199"/>
          </a:xfrm>
          <a:prstGeom prst="rect">
            <a:avLst/>
          </a:prstGeom>
        </p:spPr>
      </p:pic>
      <p:sp>
        <p:nvSpPr>
          <p:cNvPr id="6" name="TextBox 5"/>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RFC 9449 (2023).</a:t>
            </a:r>
          </a:p>
        </p:txBody>
      </p:sp>
      <p:sp>
        <p:nvSpPr>
          <p:cNvPr id="7" name="TextBox 6"/>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44 / 46</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Refresh token en detalle</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DETALLE</a:t>
            </a:r>
          </a:p>
        </p:txBody>
      </p:sp>
      <p:pic>
        <p:nvPicPr>
          <p:cNvPr id="5" name="Picture 4" descr="d_refresh.png"/>
          <p:cNvPicPr>
            <a:picLocks noChangeAspect="1"/>
          </p:cNvPicPr>
          <p:nvPr/>
        </p:nvPicPr>
        <p:blipFill>
          <a:blip r:embed="rId2"/>
          <a:stretch>
            <a:fillRect/>
          </a:stretch>
        </p:blipFill>
        <p:spPr>
          <a:xfrm>
            <a:off x="571550" y="1527050"/>
            <a:ext cx="8250899" cy="4161199"/>
          </a:xfrm>
          <a:prstGeom prst="rect">
            <a:avLst/>
          </a:prstGeom>
        </p:spPr>
      </p:pic>
      <p:sp>
        <p:nvSpPr>
          <p:cNvPr id="6" name="TextBox 5"/>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RFC 6749 §10.4 (2012); RFC 7009 (2013); RFC 9700 (2025).</a:t>
            </a:r>
          </a:p>
        </p:txBody>
      </p:sp>
      <p:sp>
        <p:nvSpPr>
          <p:cNvPr id="7" name="TextBox 6"/>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45 / 46</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wrap="square"/>
          <a:lstStyle/>
          <a:p>
            <a:r>
              <a:rPr sz="3200" b="1">
                <a:solidFill>
                  <a:srgbClr val="1B2738"/>
                </a:solidFill>
                <a:latin typeface="Lato"/>
              </a:rPr>
              <a:t>Transporte del token en detalle</a:t>
            </a:r>
          </a:p>
        </p:txBody>
      </p:sp>
      <p:sp>
        <p:nvSpPr>
          <p:cNvPr id="4" name="TextBox 3"/>
          <p:cNvSpPr txBox="1"/>
          <p:nvPr/>
        </p:nvSpPr>
        <p:spPr>
          <a:xfrm>
            <a:off x="452438" y="205000"/>
            <a:ext cx="7600000" cy="260000"/>
          </a:xfrm>
          <a:prstGeom prst="rect">
            <a:avLst/>
          </a:prstGeom>
          <a:noFill/>
        </p:spPr>
        <p:txBody>
          <a:bodyPr wrap="none">
            <a:spAutoFit/>
          </a:bodyPr>
          <a:lstStyle/>
          <a:p>
            <a:r>
              <a:rPr sz="1250" b="1">
                <a:solidFill>
                  <a:srgbClr val="2E6DA4"/>
                </a:solidFill>
                <a:latin typeface="Lato"/>
              </a:rPr>
              <a:t>DETALLE</a:t>
            </a:r>
          </a:p>
        </p:txBody>
      </p:sp>
      <p:pic>
        <p:nvPicPr>
          <p:cNvPr id="5" name="Picture 4" descr="d_transport.png"/>
          <p:cNvPicPr>
            <a:picLocks noChangeAspect="1"/>
          </p:cNvPicPr>
          <p:nvPr/>
        </p:nvPicPr>
        <p:blipFill>
          <a:blip r:embed="rId2"/>
          <a:stretch>
            <a:fillRect/>
          </a:stretch>
        </p:blipFill>
        <p:spPr>
          <a:xfrm>
            <a:off x="571550" y="1527050"/>
            <a:ext cx="8250899" cy="4161199"/>
          </a:xfrm>
          <a:prstGeom prst="rect">
            <a:avLst/>
          </a:prstGeom>
        </p:spPr>
      </p:pic>
      <p:sp>
        <p:nvSpPr>
          <p:cNvPr id="6" name="TextBox 5"/>
          <p:cNvSpPr txBox="1"/>
          <p:nvPr/>
        </p:nvSpPr>
        <p:spPr>
          <a:xfrm>
            <a:off x="452438" y="5830000"/>
            <a:ext cx="8600000" cy="240000"/>
          </a:xfrm>
          <a:prstGeom prst="rect">
            <a:avLst/>
          </a:prstGeom>
          <a:noFill/>
        </p:spPr>
        <p:txBody>
          <a:bodyPr wrap="none">
            <a:spAutoFit/>
          </a:bodyPr>
          <a:lstStyle/>
          <a:p>
            <a:r>
              <a:rPr sz="900">
                <a:solidFill>
                  <a:srgbClr val="7A7A7A"/>
                </a:solidFill>
                <a:latin typeface="Lato"/>
              </a:rPr>
              <a:t>Fuente: RFC 6750 §2 (2012); RFC 9700 (enero 2025).</a:t>
            </a:r>
          </a:p>
        </p:txBody>
      </p:sp>
      <p:sp>
        <p:nvSpPr>
          <p:cNvPr id="7" name="TextBox 6"/>
          <p:cNvSpPr txBox="1"/>
          <p:nvPr/>
        </p:nvSpPr>
        <p:spPr>
          <a:xfrm>
            <a:off x="11000000" y="5830000"/>
            <a:ext cx="900000" cy="240000"/>
          </a:xfrm>
          <a:prstGeom prst="rect">
            <a:avLst/>
          </a:prstGeom>
          <a:noFill/>
        </p:spPr>
        <p:txBody>
          <a:bodyPr wrap="none">
            <a:spAutoFit/>
          </a:bodyPr>
          <a:lstStyle/>
          <a:p>
            <a:pPr algn="r"/>
            <a:r>
              <a:rPr sz="900">
                <a:solidFill>
                  <a:srgbClr val="7A7A7A"/>
                </a:solidFill>
                <a:latin typeface="Lato"/>
              </a:rPr>
              <a:t>46 / 46</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WASP Uruguay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2026-05-21T00:46:05Z</dcterms:created>
  <dc:creator>Sebastián Passaro (duraznito)</dc:creator>
</cp:coreProperties>
</file>