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Lst>
  <p:sldSz cy="6858000" cx="12192000"/>
  <p:notesSz cx="6858000" cy="12192000"/>
  <p:embeddedFontLst>
    <p:embeddedFont>
      <p:font typeface="La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F+HbnaMg0VhR1Dmmezqh6geL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0" Type="http://schemas.openxmlformats.org/officeDocument/2006/relationships/font" Target="fonts/Lato-bold.fntdata"/><Relationship Id="rId11" Type="http://schemas.openxmlformats.org/officeDocument/2006/relationships/font" Target="fonts/Lato-italic.fntdata"/><Relationship Id="rId12" Type="http://schemas.openxmlformats.org/officeDocument/2006/relationships/font" Target="fonts/Lato-boldItalic.fntdata"/><Relationship Id="rId13" Type="http://customschemas.google.com/relationships/presentationmetadata" Target="metadata"/><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Buenas tardes. El título es «Bearer token al infinito y más allá». El infinito es lo que viene después del bearer. El más allá es la seguridad completa. El tema central: la falsa sensación de seguridad. Tener un endpoint con Authorization: Bearer no significa que seas seguro. Vamos a ver por qué, desde el principio.</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conflicto. Cada tecnología resolvió algo y dejó algo abierto. Basic resolvió la autenticación mínima pero la credencial viaja en cada request. Cookies resolvieron el estado pero trajeron CSRF y XSS. OAuth 2.0 resolvió la delegación pero creó el bearer. La pregunta no es si el token es seguro, sino qué problema resuelve y qué no.</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HTTP Basic: RFC 2617, junio de 1999. Manda usuario y contraseña en Base64 en cada petición. Base64 no es cifrado: está codificado. Resuelve: autenticación mínima sin estado. No resuelve: la credencial viaja en cada request, no hay logout, no hay revocación. Se sigue usando: en sistemas internos y como client_secret_basic en OAuth.</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HTTP Digest: RFC 7616, agosto de 2015. Manda un hash con un nonce en lugar de la contraseña en claro. Resuelve: no mandar la contraseña en claro. No resuelve: el modelo sigue siendo credencial en cada request, no hay forma limpia de delegar. Se sigue usando: prácticamente en desuso.</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Cookies: Netscape, 1996. RFC 6265, abril de 2011. Un identificador de sesión que el navegador guarda y reenvía. Resuelve: recordar quién sos sin repetir la contraseña. No resuelve: CSRF, robo de sesión por XSS, fijación de sesión. Se sigue usando: en navegadores, con HttpOnly, Secure y SameSite.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API keys: AWS, 2006. Un secreto estático que identifica al cliente. Resuelve: identificar aplicaciones sin un servidor de identidad. No resuelve: no expira, no distingue permisos, si se filtra es impersonación directa. Se sigue usando: en servicios internos y APIs de terceros.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SAML 2.0: OASIS, marzo de 2005. Aserciones XML firmadas para federación. Resuelve: SSO entre aplicaciones, identidad federada. No resuelve: XML pesado, difícil de implementar en móviles y SPAs. Se sigue usando: en banca, gobierno y SaaS corporativo.</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OAuth 1.0: RFC 5849, abril de 2010. Firmaba cada request con HMAC-SHA1. Resuelve: un request robado no se podía reutilizar. No resuelve: era muy difícil de implementar bien. Se sigue usando: prácticamente abandonado.</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Bearer token: RFC 6749 y RFC 6750, octubre de 2012. Un string que se presenta en la cabecera Authorization. Resuelve: simplicidad, no hay que firmar cada request. No resuelve: quien tiene el token, lo usa. La falsa sensación de seguridad nace aquí: bearer no significa seguro, significa portador.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falsa sensación de seguridad. El bearer token resuelve la delegación de autorización. No resuelve: autorización, cifrado, anti-replay, MFA, gestión de sesión. Tener Authorization: Bearer no significa que la API es seguridad. Significa que quien tiene el token, entra.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Qué no cubre el bearer. No cifra el payload. No autoriza por sí solo. No previene replay. No verifica dispositivo. No es MFA. No protege contra XSS. El token solo responde una pregunta: ¿es válido? Nada más.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JWT: RFC 7519, mayo de 2015. Tres partes en base64url: header, payload, signature. Resuelve: claims autenticables sin estado. No resuelve: el payload no está cifrado, cualquiera lo lee. Y guarda una trampa: si el validador confía en el alg del token, el atacante elige el algoritmo.</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línea de tiempo. Cada tecnología nació como respuesta a un problema. Basic, Digest, cookies, API keys, SAML, OAuth 1.0, bearer. Ninguna reemplazó a la anterior: se apilan. Cada capa sigue viva.</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 la seguridad dinámica. La autenticación no es un interruptor. Es un flujo continuo. El usuario entra con contraseña, pero para operaciones sensibles la API debe exigir más. Ahí entra MFA Step-Up.</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MFA Step-Up: RFC 9470. La API evalúa la transacción: es sensible, el token dice autenticación simple. Responde 401 con WWW-Authenticate y acr_values. El frontend redirige al IdP. El usuario pasa segundo factor. Nuevo token con acr actualizado. Reintento exitoso.</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Máquina a máquina: no hay humano para factorizar. Cuando el invocador es un microservicio, el equivalente es mTLS con certificados X.509 o firmado de peticiones con Private Key JWT.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III: el ecosistema mobile. Las apps están en manos del atacante. Pueden modificar el APK, desactivar SSL pinning, extraer secretos. El cliente Frankenstein simula ser la app legítima.</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PKCE: RFC 7636, agosto de 2015. El cliente genera un code_verifier, envía su hash como code_challenge, y prueba el verifier al canjear el código. Si un atacante intercepta el código, no lo puede canjear sin el verifier.</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App Attestation: Play Integrity API en Android, DeviceCheck en iOS. Verifica que el binario no fue modificado y emite un token de attestation. La API lo verifica antes de operaciones sensibles.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Mobile: las tres capas juntas. App Attestation verifica la integridad del binario. PKCE protege el código. DPoP ata el token a una clave privada del dispositivo. El cliente Frankenstein se queda fuera.</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contra mTLS. mTLS opera en capa 4: certificado X.509 en el handshake TLS. DPoP opera en capa 7: JWT firmado en un header HTTP. mTLS es ideal para M2M. DPoP es ideal para clientes públicos.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RFC 9449, octubre de 2023. El cliente genera un par de claves dinámicamente. El token se ata a la clave pública. Cada request incluye un JWT firmado con la clave privada. Sin PKI, funciona a través de proxies y WAFs.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Arquitectura: el token vive en el ecosistema. TLS protege en tránsito. Gateway valida firma, expiración y aud. Zero Trust: cada microservicio autoriza según su lógica de negocio.</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caso uruguayo. ID Uruguay usa OIDC con bearer tokens. Cualquier integración con tokens de larga vida sin rotación es un riesgo. Las mitigaciones de esta charla aplican igual: DPoP, PKCE, Step-Up.</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token se acaba. El riesgo no. La falsa sensación de seguridad es pensar que bearer significa seguro. Bearer significa portador. La seguridad está en el sistema: autorización, cifrado, anti-replay, MFA, gestión de sesión. Gracias.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familia de tokens. Authorization code, access token, refresh token e ID token. Cada uno con su destinatario y su vida.</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Anatomía de un JWT. Header, payload, signature. Todo en base64url. El payload no está cifrado: está firmado.</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Dónde viaja el token. Cabecera, cuerpo o query. RFC 9700 prohíbe tokens en URIs.</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MFA protege un instante. Después, el token vive solo. Step-Up, DPoP y App Attestation son las respuestas para el uso.</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Persona y sistema: dos preguntas distintas. Para la persona probamos que un humano se autenticó. Para el sistema probamos que un workload concreto pidió el token.</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Del bearer al sender-constrained. Token Binding (2018), mTLS (2020), DPoP (2023). La evolución es clara: atar el token a su portador.</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flujos de OAuth. Authorization Code con PKCE es el recomendado para clientes públicos. Client Credentials es para M2M.</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pila de protocolos. HTTP, TLS, OAuth/OIDC, JWT, JOSE. Cada capa resuelve un problema. Ninguna resuelve todos.</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ciclo de vida del token. Emisión, transporte, almacenamiento, uso, renovación, revocación, expiración. Defender una API es cubrir todas las etapas.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API Security Top 10. BOLA, Broken Authentication, BOPLA, Unrestricted Resource Consumption, BFLA, Sensitive Business Flows, SSRF, Misconfiguration, Improper Inventory, Unsafe Consumption.</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Arquitectura de referencia. Cliente, Gateway, IAM, Microservicios, Datos. Cada capa tiene su responsabilidad.</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Alrededor del token hay un sistema entero. Gateway, IAM, MFA, Rate Limiting, WAF, API Keys, OAuth/OIDC, JWT, Scopes, RBAC/ABAC, Secret Manager, mTLS/DPoP, Observabilidad, Zero Trust, BOLA.</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ecosistema completo. Cada círculo es un componente que puede fallar. La seguridad de la API es la suma de todas las piezas.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familia de tokens en detalle. Los cuatro artefactos con sus roles, vidas y destinos.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JWT en detalle. Validar todo: header, payload, signature. No solo la firma.</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MFA en detalle. El segundo factor protege el momento de la emisión. Después, el token vive solo.</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Top 10 en detalle. Cada riesgo con su forma de probarlo y su defensa.</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en detalle. El cliente firma cada request con su clave privada. El servidor valida la prueba y no acepta el token sin ella.</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Refresh token en detalle. Rotación: cada uso emite uno nuevo y el viejo se invalida.</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Transporte del token en detalle. Cabecera es el lugar correcto. Query está prohibido por RFC 9700.</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out logo on corner">
  <p:cSld name="DEFAULT">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g3fba80d6a72_0_45"/>
          <p:cNvPicPr preferRelativeResize="0"/>
          <p:nvPr/>
        </p:nvPicPr>
        <p:blipFill>
          <a:blip r:embed="rId3">
            <a:alphaModFix/>
          </a:blip>
          <a:stretch>
            <a:fillRect/>
          </a:stretch>
        </p:blipFill>
        <p:spPr>
          <a:xfrm>
            <a:off x="9677400" y="5086350"/>
            <a:ext cx="2514600" cy="1771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logo on corner">
  <p:cSld name="CUSTOM_1">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g3fba80d6a72_0_48"/>
          <p:cNvSpPr txBox="1"/>
          <p:nvPr>
            <p:ph type="title"/>
          </p:nvPr>
        </p:nvSpPr>
        <p:spPr>
          <a:xfrm>
            <a:off x="773900" y="1571625"/>
            <a:ext cx="7143900" cy="18096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3fba80d6a72_0_48"/>
          <p:cNvSpPr txBox="1"/>
          <p:nvPr>
            <p:ph idx="2" type="title"/>
          </p:nvPr>
        </p:nvSpPr>
        <p:spPr>
          <a:xfrm>
            <a:off x="773900" y="3381225"/>
            <a:ext cx="9786900" cy="11931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fba80d6a72_0_48"/>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Font typeface="Lato"/>
              <a:buChar char="●"/>
              <a:defRPr>
                <a:latin typeface="Lato"/>
                <a:ea typeface="Lato"/>
                <a:cs typeface="Lato"/>
                <a:sym typeface="Lato"/>
              </a:defRPr>
            </a:lvl1pPr>
            <a:lvl2pPr indent="-228600" lvl="1" marL="914400" marR="0" rtl="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2">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fba80d6a72_0_52"/>
          <p:cNvSpPr/>
          <p:nvPr/>
        </p:nvSpPr>
        <p:spPr>
          <a:xfrm>
            <a:off x="548640" y="1078992"/>
            <a:ext cx="640200" cy="54900"/>
          </a:xfrm>
          <a:prstGeom prst="rect">
            <a:avLst/>
          </a:prstGeom>
          <a:solidFill>
            <a:srgbClr val="74AA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ba80d6a72_0_52"/>
          <p:cNvSpPr txBox="1"/>
          <p:nvPr>
            <p:ph idx="1" type="subTitle"/>
          </p:nvPr>
        </p:nvSpPr>
        <p:spPr>
          <a:xfrm>
            <a:off x="452438" y="488075"/>
            <a:ext cx="8489100" cy="543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3200"/>
              <a:buFont typeface="Lato"/>
              <a:buNone/>
              <a:defRPr b="1" sz="32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3fba80d6a72_0_52"/>
          <p:cNvSpPr txBox="1"/>
          <p:nvPr>
            <p:ph idx="2" type="body"/>
          </p:nvPr>
        </p:nvSpPr>
        <p:spPr>
          <a:xfrm>
            <a:off x="571550" y="1524000"/>
            <a:ext cx="8250900" cy="4167300"/>
          </a:xfrm>
          <a:prstGeom prst="rect">
            <a:avLst/>
          </a:prstGeom>
          <a:noFill/>
          <a:ln>
            <a:noFill/>
          </a:ln>
        </p:spPr>
        <p:txBody>
          <a:bodyPr anchorCtr="0" anchor="ctr" bIns="91425" lIns="91425" spcFirstLastPara="1" rIns="91425" wrap="square" tIns="91425">
            <a:noAutofit/>
          </a:bodyPr>
          <a:lstStyle>
            <a:lvl1pPr indent="-393700" lvl="0" marL="457200">
              <a:spcBef>
                <a:spcPts val="0"/>
              </a:spcBef>
              <a:spcAft>
                <a:spcPts val="0"/>
              </a:spcAft>
              <a:buSzPts val="2600"/>
              <a:buChar char="●"/>
              <a:defRPr sz="2600"/>
            </a:lvl1pPr>
            <a:lvl2pPr indent="-228600" lvl="1" marL="914400" marR="0" algn="l">
              <a:lnSpc>
                <a:spcPct val="100000"/>
              </a:lnSpc>
              <a:spcBef>
                <a:spcPts val="0"/>
              </a:spcBef>
              <a:spcAft>
                <a:spcPts val="0"/>
              </a:spcAft>
              <a:buNone/>
              <a:defRPr sz="2800">
                <a:solidFill>
                  <a:srgbClr val="1B2738"/>
                </a:solidFill>
                <a:latin typeface="Lato"/>
                <a:ea typeface="Lato"/>
                <a:cs typeface="Lato"/>
                <a:sym typeface="Lato"/>
              </a:defRPr>
            </a:lvl2pPr>
            <a:lvl3pPr indent="-393700" lvl="2" marL="1371600">
              <a:spcBef>
                <a:spcPts val="0"/>
              </a:spcBef>
              <a:spcAft>
                <a:spcPts val="0"/>
              </a:spcAft>
              <a:buSzPts val="2600"/>
              <a:buChar char="■"/>
              <a:defRPr sz="2600"/>
            </a:lvl3pPr>
            <a:lvl4pPr indent="-393700" lvl="3" marL="1828800">
              <a:spcBef>
                <a:spcPts val="0"/>
              </a:spcBef>
              <a:spcAft>
                <a:spcPts val="0"/>
              </a:spcAft>
              <a:buSzPts val="2600"/>
              <a:buChar char="●"/>
              <a:defRPr sz="2600"/>
            </a:lvl4pPr>
            <a:lvl5pPr indent="-393700" lvl="4" marL="2286000">
              <a:spcBef>
                <a:spcPts val="0"/>
              </a:spcBef>
              <a:spcAft>
                <a:spcPts val="0"/>
              </a:spcAft>
              <a:buSzPts val="2600"/>
              <a:buChar char="○"/>
              <a:defRPr sz="2600"/>
            </a:lvl5pPr>
            <a:lvl6pPr indent="-393700" lvl="5" marL="2743200">
              <a:spcBef>
                <a:spcPts val="0"/>
              </a:spcBef>
              <a:spcAft>
                <a:spcPts val="0"/>
              </a:spcAft>
              <a:buSzPts val="2600"/>
              <a:buChar char="■"/>
              <a:defRPr sz="2600"/>
            </a:lvl6pPr>
            <a:lvl7pPr indent="-393700" lvl="6" marL="3200400">
              <a:spcBef>
                <a:spcPts val="0"/>
              </a:spcBef>
              <a:spcAft>
                <a:spcPts val="0"/>
              </a:spcAft>
              <a:buSzPts val="2600"/>
              <a:buChar char="●"/>
              <a:defRPr sz="2600"/>
            </a:lvl7pPr>
            <a:lvl8pPr indent="-393700" lvl="7" marL="3657600">
              <a:spcBef>
                <a:spcPts val="0"/>
              </a:spcBef>
              <a:spcAft>
                <a:spcPts val="0"/>
              </a:spcAft>
              <a:buSzPts val="2600"/>
              <a:buChar char="○"/>
              <a:defRPr sz="2600"/>
            </a:lvl8pPr>
            <a:lvl9pPr indent="-393700" lvl="8" marL="4114800">
              <a:spcBef>
                <a:spcPts val="0"/>
              </a:spcBef>
              <a:spcAft>
                <a:spcPts val="0"/>
              </a:spcAft>
              <a:buSzPts val="2600"/>
              <a:buChar char="■"/>
              <a:defRPr sz="2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fba80d6a72_0_44"/>
          <p:cNvSpPr txBox="1"/>
          <p:nvPr>
            <p:ph type="title"/>
          </p:nvPr>
        </p:nvSpPr>
        <p:spPr>
          <a:xfrm>
            <a:off x="773900" y="1571625"/>
            <a:ext cx="7143900" cy="1809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g3fba80d6a72_0_44"/>
          <p:cNvSpPr txBox="1"/>
          <p:nvPr>
            <p:ph idx="2" type="title"/>
          </p:nvPr>
        </p:nvSpPr>
        <p:spPr>
          <a:xfrm>
            <a:off x="773900" y="3381225"/>
            <a:ext cx="9786900" cy="11931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g3fba80d6a72_0_44"/>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228600" lvl="1" marL="914400" marR="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mc:AlternateContent>
    <mc:Choice Requires="p14">
      <p:transition p14:dur="2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notesSlide" Target="../notesSlides/notesSlide49.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3900" y="1200000"/>
            <a:ext cx="10900000" cy="2400000"/>
          </a:xfrm>
        </p:spPr>
        <p:txBody>
          <a:bodyPr wrap="square"/>
          <a:lstStyle/>
          <a:p>
            <a:r>
              <a:rPr sz="4800" b="1">
                <a:solidFill>
                  <a:srgbClr val="1B2738"/>
                </a:solidFill>
                <a:latin typeface="Lato"/>
              </a:rPr>
              <a:t>Bearer token al infinito y más allá</a:t>
            </a:r>
          </a:p>
        </p:txBody>
      </p:sp>
      <p:sp>
        <p:nvSpPr>
          <p:cNvPr id="3" name="Title 2"/>
          <p:cNvSpPr>
            <a:spLocks noGrp="1"/>
          </p:cNvSpPr>
          <p:nvPr>
            <p:ph type="title" idx="2"/>
          </p:nvPr>
        </p:nvSpPr>
        <p:spPr>
          <a:xfrm>
            <a:off x="773900" y="3720000"/>
            <a:ext cx="10900000" cy="1200000"/>
          </a:xfrm>
        </p:spPr>
        <p:txBody>
          <a:bodyPr wrap="square"/>
          <a:lstStyle/>
          <a:p>
            <a:r>
              <a:rPr sz="3000" b="1" i="0">
                <a:solidFill>
                  <a:srgbClr val="2E6DA4"/>
                </a:solidFill>
                <a:latin typeface="Lato"/>
              </a:rPr>
              <a:t>La falsa sensación de seguridad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conflicto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Basic: </a:t>
            </a:r>
            <a:r>
              <a:rPr sz="2200" b="0">
                <a:solidFill>
                  <a:srgbClr val="1B2738"/>
                </a:solidFill>
                <a:latin typeface="Lato"/>
              </a:rPr>
              <a:t>resuelve autenticación, no resuelve robo.</a:t>
            </a:r>
          </a:p>
          <a:p>
            <a:pPr>
              <a:lnSpc>
                <a:spcPct val="102000"/>
              </a:lnSpc>
              <a:spcAft>
                <a:spcPts val="400"/>
              </a:spcAft>
            </a:pPr>
            <a:r>
              <a:rPr sz="2200" b="1">
                <a:solidFill>
                  <a:srgbClr val="1B2738"/>
                </a:solidFill>
                <a:latin typeface="Lato"/>
              </a:rPr>
              <a:t>Cookies: </a:t>
            </a:r>
            <a:r>
              <a:rPr sz="2200" b="0">
                <a:solidFill>
                  <a:srgbClr val="1B2738"/>
                </a:solidFill>
                <a:latin typeface="Lato"/>
              </a:rPr>
              <a:t>resuelve estado, no resuelve CSRF.</a:t>
            </a:r>
          </a:p>
          <a:p>
            <a:pPr>
              <a:lnSpc>
                <a:spcPct val="102000"/>
              </a:lnSpc>
              <a:spcAft>
                <a:spcPts val="400"/>
              </a:spcAft>
            </a:pPr>
            <a:r>
              <a:rPr sz="2200" b="1">
                <a:solidFill>
                  <a:srgbClr val="1B2738"/>
                </a:solidFill>
                <a:latin typeface="Lato"/>
              </a:rPr>
              <a:t>OAuth 2.0: </a:t>
            </a:r>
            <a:r>
              <a:rPr sz="2200" b="0">
                <a:solidFill>
                  <a:srgbClr val="1B2738"/>
                </a:solidFill>
                <a:latin typeface="Lato"/>
              </a:rPr>
              <a:t>resuelve delegación, no resuelve posesión.</a:t>
            </a:r>
          </a:p>
          <a:p>
            <a:pPr>
              <a:lnSpc>
                <a:spcPct val="102000"/>
              </a:lnSpc>
              <a:spcAft>
                <a:spcPts val="400"/>
              </a:spcAft>
            </a:pPr>
            <a:r>
              <a:rPr sz="2200" b="1">
                <a:solidFill>
                  <a:srgbClr val="1B2738"/>
                </a:solidFill>
                <a:latin typeface="Lato"/>
              </a:rPr>
              <a:t>La pregunta: </a:t>
            </a:r>
            <a:r>
              <a:rPr sz="2200" b="0">
                <a:solidFill>
                  <a:srgbClr val="1B2738"/>
                </a:solidFill>
                <a:latin typeface="Lato"/>
              </a:rPr>
              <a:t>¿qué problema resuelve y qué no?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CONFLICTO</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RFC 6265; RFC 6749.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 /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HTTP Basic (1999)</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autenticación mínima sin estado.</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credencial viaja en cada request.</a:t>
            </a:r>
          </a:p>
          <a:p>
            <a:pPr>
              <a:lnSpc>
                <a:spcPct val="102000"/>
              </a:lnSpc>
              <a:spcAft>
                <a:spcPts val="400"/>
              </a:spcAft>
            </a:pPr>
            <a:r>
              <a:rPr sz="2200" b="1">
                <a:solidFill>
                  <a:srgbClr val="1B2738"/>
                </a:solidFill>
                <a:latin typeface="Lato"/>
              </a:rPr>
              <a:t>Base64 no es cifrado: </a:t>
            </a:r>
            <a:r>
              <a:rPr sz="2200" b="0">
                <a:solidFill>
                  <a:srgbClr val="1B2738"/>
                </a:solidFill>
                <a:latin typeface="Lato"/>
              </a:rPr>
              <a:t>está codificado, cualquiera lo lee.</a:t>
            </a:r>
          </a:p>
          <a:p>
            <a:pPr>
              <a:lnSpc>
                <a:spcPct val="102000"/>
              </a:lnSpc>
              <a:spcAft>
                <a:spcPts val="400"/>
              </a:spcAft>
            </a:pPr>
            <a:r>
              <a:rPr sz="2200" b="1">
                <a:solidFill>
                  <a:srgbClr val="1B2738"/>
                </a:solidFill>
                <a:latin typeface="Lato"/>
              </a:rPr>
              <a:t>Se sigue usando: </a:t>
            </a:r>
            <a:r>
              <a:rPr sz="2200" b="0">
                <a:solidFill>
                  <a:srgbClr val="1B2738"/>
                </a:solidFill>
                <a:latin typeface="Lato"/>
              </a:rPr>
              <a:t>sistemas internos, client_secret_basic.</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(1999); RFC 7616 (2015).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 / 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HTTP Digest (2015)</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no mandar la contraseña en claro.</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el modelo de credencial en cada request.</a:t>
            </a:r>
          </a:p>
          <a:p>
            <a:pPr>
              <a:lnSpc>
                <a:spcPct val="102000"/>
              </a:lnSpc>
              <a:spcAft>
                <a:spcPts val="400"/>
              </a:spcAft>
            </a:pPr>
            <a:r>
              <a:rPr sz="2200" b="1">
                <a:solidFill>
                  <a:srgbClr val="1B2738"/>
                </a:solidFill>
                <a:latin typeface="Lato"/>
              </a:rPr>
              <a:t>Hash con nonce: </a:t>
            </a:r>
            <a:r>
              <a:rPr sz="2200" b="0">
                <a:solidFill>
                  <a:srgbClr val="1B2738"/>
                </a:solidFill>
                <a:latin typeface="Lato"/>
              </a:rPr>
              <a:t>mejora el secreto, no el modelo.</a:t>
            </a:r>
          </a:p>
          <a:p>
            <a:pPr>
              <a:lnSpc>
                <a:spcPct val="102000"/>
              </a:lnSpc>
              <a:spcAft>
                <a:spcPts val="400"/>
              </a:spcAft>
            </a:pPr>
            <a:r>
              <a:rPr sz="2200" b="1">
                <a:solidFill>
                  <a:srgbClr val="1B2738"/>
                </a:solidFill>
                <a:latin typeface="Lato"/>
              </a:rPr>
              <a:t>Se sigue usando: </a:t>
            </a:r>
            <a:r>
              <a:rPr sz="2200" b="0">
                <a:solidFill>
                  <a:srgbClr val="1B2738"/>
                </a:solidFill>
                <a:latin typeface="Lato"/>
              </a:rPr>
              <a:t>prácticamente en desuso.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7616 (2015).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 / 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Cookies (1996-2011)</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recordar quién sos sin repetir la contraseña.</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CSRF, robo por XSS, fijación de sesión.</a:t>
            </a:r>
          </a:p>
          <a:p>
            <a:pPr>
              <a:lnSpc>
                <a:spcPct val="102000"/>
              </a:lnSpc>
              <a:spcAft>
                <a:spcPts val="400"/>
              </a:spcAft>
            </a:pPr>
            <a:r>
              <a:rPr sz="2200" b="1">
                <a:solidFill>
                  <a:srgbClr val="1B2738"/>
                </a:solidFill>
                <a:latin typeface="Lato"/>
              </a:rPr>
              <a:t>Atributos: </a:t>
            </a:r>
            <a:r>
              <a:rPr sz="2200" b="0">
                <a:solidFill>
                  <a:srgbClr val="1B2738"/>
                </a:solidFill>
                <a:latin typeface="Lato"/>
              </a:rPr>
              <a:t>HttpOnly, Secure, SameSite.</a:t>
            </a:r>
          </a:p>
          <a:p>
            <a:pPr>
              <a:lnSpc>
                <a:spcPct val="102000"/>
              </a:lnSpc>
              <a:spcAft>
                <a:spcPts val="400"/>
              </a:spcAft>
            </a:pPr>
            <a:r>
              <a:rPr sz="2200" b="1">
                <a:solidFill>
                  <a:srgbClr val="1B2738"/>
                </a:solidFill>
                <a:latin typeface="Lato"/>
              </a:rPr>
              <a:t>Se sigue usando: </a:t>
            </a:r>
            <a:r>
              <a:rPr sz="2200" b="0">
                <a:solidFill>
                  <a:srgbClr val="1B2738"/>
                </a:solidFill>
                <a:latin typeface="Lato"/>
              </a:rPr>
              <a:t>en navegadores web.</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6265 (2011).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5 / 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API keys (2006)</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identificar aplicaciones sin servidor de identidad.</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no expira, no distingue permisos.</a:t>
            </a:r>
          </a:p>
          <a:p>
            <a:pPr>
              <a:lnSpc>
                <a:spcPct val="102000"/>
              </a:lnSpc>
              <a:spcAft>
                <a:spcPts val="400"/>
              </a:spcAft>
            </a:pPr>
            <a:r>
              <a:rPr sz="2200" b="1">
                <a:solidFill>
                  <a:srgbClr val="1B2738"/>
                </a:solidFill>
                <a:latin typeface="Lato"/>
              </a:rPr>
              <a:t>Si se filtra: </a:t>
            </a:r>
            <a:r>
              <a:rPr sz="2200" b="0">
                <a:solidFill>
                  <a:srgbClr val="1B2738"/>
                </a:solidFill>
                <a:latin typeface="Lato"/>
              </a:rPr>
              <a:t>impersonación directa.</a:t>
            </a:r>
          </a:p>
          <a:p>
            <a:pPr>
              <a:lnSpc>
                <a:spcPct val="102000"/>
              </a:lnSpc>
              <a:spcAft>
                <a:spcPts val="400"/>
              </a:spcAft>
            </a:pPr>
            <a:r>
              <a:rPr sz="2200" b="1">
                <a:solidFill>
                  <a:srgbClr val="1B2738"/>
                </a:solidFill>
                <a:latin typeface="Lato"/>
              </a:rPr>
              <a:t>Se sigue usando: </a:t>
            </a:r>
            <a:r>
              <a:rPr sz="2200" b="0">
                <a:solidFill>
                  <a:srgbClr val="1B2738"/>
                </a:solidFill>
                <a:latin typeface="Lato"/>
              </a:rPr>
              <a:t>servicios internos, APIs de terceros.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AWS API keys (2006).</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6 / 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SAML 2.0 (2005)</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Qué resuelve: </a:t>
            </a:r>
            <a:r>
              <a:rPr sz="2400" b="0">
                <a:solidFill>
                  <a:srgbClr val="1B2738"/>
                </a:solidFill>
                <a:latin typeface="Lato"/>
              </a:rPr>
              <a:t>SSO, identidad federada, firmas.</a:t>
            </a:r>
          </a:p>
          <a:p>
            <a:pPr>
              <a:lnSpc>
                <a:spcPct val="102000"/>
              </a:lnSpc>
              <a:spcAft>
                <a:spcPts val="400"/>
              </a:spcAft>
            </a:pPr>
            <a:r>
              <a:rPr sz="2400" b="1">
                <a:solidFill>
                  <a:srgbClr val="1B2738"/>
                </a:solidFill>
                <a:latin typeface="Lato"/>
              </a:rPr>
              <a:t>Qué no resuelve: </a:t>
            </a:r>
            <a:r>
              <a:rPr sz="2400" b="0">
                <a:solidFill>
                  <a:srgbClr val="1B2738"/>
                </a:solidFill>
                <a:latin typeface="Lato"/>
              </a:rPr>
              <a:t>XML pesado, difícil en móviles.</a:t>
            </a:r>
          </a:p>
          <a:p>
            <a:pPr>
              <a:lnSpc>
                <a:spcPct val="102000"/>
              </a:lnSpc>
              <a:spcAft>
                <a:spcPts val="400"/>
              </a:spcAft>
            </a:pPr>
            <a:r>
              <a:rPr sz="2400" b="1">
                <a:solidFill>
                  <a:srgbClr val="1B2738"/>
                </a:solidFill>
                <a:latin typeface="Lato"/>
              </a:rPr>
              <a:t>Se sigue usando: </a:t>
            </a:r>
            <a:r>
              <a:rPr sz="2400" b="0">
                <a:solidFill>
                  <a:srgbClr val="1B2738"/>
                </a:solidFill>
                <a:latin typeface="Lato"/>
              </a:rPr>
              <a:t>banca, gobierno, SaaS corporativo.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SAML 2.0 (OASIS, 2005).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7 / 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OAuth 1.0 (2010)</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request robado no se puede reutilizar.</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muy difícil de implementar bien.</a:t>
            </a:r>
          </a:p>
          <a:p>
            <a:pPr>
              <a:lnSpc>
                <a:spcPct val="102000"/>
              </a:lnSpc>
              <a:spcAft>
                <a:spcPts val="400"/>
              </a:spcAft>
            </a:pPr>
            <a:r>
              <a:rPr sz="2200" b="1">
                <a:solidFill>
                  <a:srgbClr val="1B2738"/>
                </a:solidFill>
                <a:latin typeface="Lato"/>
              </a:rPr>
              <a:t>Firmaba cada request: </a:t>
            </a:r>
            <a:r>
              <a:rPr sz="2200" b="0">
                <a:solidFill>
                  <a:srgbClr val="1B2738"/>
                </a:solidFill>
                <a:latin typeface="Lato"/>
              </a:rPr>
              <a:t>HMAC-SHA1 con nonce y timestamp.</a:t>
            </a:r>
          </a:p>
          <a:p>
            <a:pPr>
              <a:lnSpc>
                <a:spcPct val="102000"/>
              </a:lnSpc>
              <a:spcAft>
                <a:spcPts val="400"/>
              </a:spcAft>
            </a:pPr>
            <a:r>
              <a:rPr sz="2200" b="1">
                <a:solidFill>
                  <a:srgbClr val="1B2738"/>
                </a:solidFill>
                <a:latin typeface="Lato"/>
              </a:rPr>
              <a:t>Se sigue usando: </a:t>
            </a:r>
            <a:r>
              <a:rPr sz="2200" b="0">
                <a:solidFill>
                  <a:srgbClr val="1B2738"/>
                </a:solidFill>
                <a:latin typeface="Lato"/>
              </a:rPr>
              <a:t>prácticamente abandonado.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5849 (2010).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8 / 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Bearer (2012)</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Qué resuelve: </a:t>
            </a:r>
            <a:r>
              <a:rPr sz="2400" b="0">
                <a:solidFill>
                  <a:srgbClr val="1B2738"/>
                </a:solidFill>
                <a:latin typeface="Lato"/>
              </a:rPr>
              <a:t>simplicidad, no firmar cada request.</a:t>
            </a:r>
          </a:p>
          <a:p>
            <a:pPr>
              <a:lnSpc>
                <a:spcPct val="102000"/>
              </a:lnSpc>
              <a:spcAft>
                <a:spcPts val="400"/>
              </a:spcAft>
            </a:pPr>
            <a:r>
              <a:rPr sz="2400" b="1">
                <a:solidFill>
                  <a:srgbClr val="1B2738"/>
                </a:solidFill>
                <a:latin typeface="Lato"/>
              </a:rPr>
              <a:t>Qué no resuelve: </a:t>
            </a:r>
            <a:r>
              <a:rPr sz="2400" b="0">
                <a:solidFill>
                  <a:srgbClr val="1B2738"/>
                </a:solidFill>
                <a:latin typeface="Lato"/>
              </a:rPr>
              <a:t>quien tiene el token, lo usa.</a:t>
            </a:r>
          </a:p>
          <a:p>
            <a:pPr>
              <a:lnSpc>
                <a:spcPct val="102000"/>
              </a:lnSpc>
              <a:spcAft>
                <a:spcPts val="400"/>
              </a:spcAft>
            </a:pPr>
            <a:r>
              <a:rPr sz="2400" b="1">
                <a:solidFill>
                  <a:srgbClr val="1B2738"/>
                </a:solidFill>
                <a:latin typeface="Lato"/>
              </a:rPr>
              <a:t>La falsa sensación: </a:t>
            </a:r>
            <a:r>
              <a:rPr sz="2400" b="0">
                <a:solidFill>
                  <a:srgbClr val="1B2738"/>
                </a:solidFill>
                <a:latin typeface="Lato"/>
              </a:rPr>
              <a:t>bearer no significa seguro, significa portador.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RFC 6750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9 / 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falsa sensación de seguridad</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Bearer resuelve: </a:t>
            </a:r>
            <a:r>
              <a:rPr sz="2200" b="0">
                <a:solidFill>
                  <a:srgbClr val="1B2738"/>
                </a:solidFill>
                <a:latin typeface="Lato"/>
              </a:rPr>
              <a:t>delegación de autorización.</a:t>
            </a:r>
          </a:p>
          <a:p>
            <a:pPr>
              <a:lnSpc>
                <a:spcPct val="102000"/>
              </a:lnSpc>
              <a:spcAft>
                <a:spcPts val="400"/>
              </a:spcAft>
            </a:pPr>
            <a:r>
              <a:rPr sz="2200" b="1">
                <a:solidFill>
                  <a:srgbClr val="1B2738"/>
                </a:solidFill>
                <a:latin typeface="Lato"/>
              </a:rPr>
              <a:t>Bearer no resuelve: </a:t>
            </a:r>
            <a:r>
              <a:rPr sz="2200" b="0">
                <a:solidFill>
                  <a:srgbClr val="1B2738"/>
                </a:solidFill>
                <a:latin typeface="Lato"/>
              </a:rPr>
              <a:t>autorización, cifrado, anti-replay, MFA.</a:t>
            </a:r>
          </a:p>
          <a:p>
            <a:pPr>
              <a:lnSpc>
                <a:spcPct val="102000"/>
              </a:lnSpc>
              <a:spcAft>
                <a:spcPts val="400"/>
              </a:spcAft>
            </a:pPr>
            <a:r>
              <a:rPr sz="2200" b="1">
                <a:solidFill>
                  <a:srgbClr val="1B2738"/>
                </a:solidFill>
                <a:latin typeface="Lato"/>
              </a:rPr>
              <a:t>Authorization: Bearer </a:t>
            </a:r>
            <a:r>
              <a:rPr sz="2200" b="0">
                <a:solidFill>
                  <a:srgbClr val="1B2738"/>
                </a:solidFill>
                <a:latin typeface="Lato"/>
              </a:rPr>
              <a:t>no significa que la API sea segura.</a:t>
            </a:r>
          </a:p>
          <a:p>
            <a:pPr>
              <a:lnSpc>
                <a:spcPct val="102000"/>
              </a:lnSpc>
              <a:spcAft>
                <a:spcPts val="400"/>
              </a:spcAft>
            </a:pPr>
            <a:r>
              <a:rPr sz="2200" b="1">
                <a:solidFill>
                  <a:srgbClr val="1B2738"/>
                </a:solidFill>
                <a:latin typeface="Lato"/>
              </a:rPr>
              <a:t>Significa: </a:t>
            </a:r>
            <a:r>
              <a:rPr sz="2200" b="0">
                <a:solidFill>
                  <a:srgbClr val="1B2738"/>
                </a:solidFill>
                <a:latin typeface="Lato"/>
              </a:rPr>
              <a:t>quien tiene el token, entra.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LA TESIS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§10.3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10 / 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Qué no cubre el bearer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No cifra: </a:t>
            </a:r>
            <a:r>
              <a:rPr sz="2200" b="0">
                <a:solidFill>
                  <a:srgbClr val="1B2738"/>
                </a:solidFill>
                <a:latin typeface="Lato"/>
              </a:rPr>
              <a:t>JWT es base64, no cifrado.</a:t>
            </a:r>
          </a:p>
          <a:p>
            <a:pPr>
              <a:lnSpc>
                <a:spcPct val="102000"/>
              </a:lnSpc>
              <a:spcAft>
                <a:spcPts val="400"/>
              </a:spcAft>
            </a:pPr>
            <a:r>
              <a:rPr sz="2200" b="1">
                <a:solidFill>
                  <a:srgbClr val="1B2738"/>
                </a:solidFill>
                <a:latin typeface="Lato"/>
              </a:rPr>
              <a:t>No autoriza: </a:t>
            </a:r>
            <a:r>
              <a:rPr sz="2200" b="0">
                <a:solidFill>
                  <a:srgbClr val="1B2738"/>
                </a:solidFill>
                <a:latin typeface="Lato"/>
              </a:rPr>
              <a:t>es otro capítulo.</a:t>
            </a:r>
          </a:p>
          <a:p>
            <a:pPr>
              <a:lnSpc>
                <a:spcPct val="102000"/>
              </a:lnSpc>
              <a:spcAft>
                <a:spcPts val="400"/>
              </a:spcAft>
            </a:pPr>
            <a:r>
              <a:rPr sz="2200" b="1">
                <a:solidFill>
                  <a:srgbClr val="1B2738"/>
                </a:solidFill>
                <a:latin typeface="Lato"/>
              </a:rPr>
              <a:t>No previene replay: </a:t>
            </a:r>
            <a:r>
              <a:rPr sz="2200" b="0">
                <a:solidFill>
                  <a:srgbClr val="1B2738"/>
                </a:solidFill>
                <a:latin typeface="Lato"/>
              </a:rPr>
              <a:t>interceptado = reutilizado.</a:t>
            </a:r>
          </a:p>
          <a:p>
            <a:pPr>
              <a:lnSpc>
                <a:spcPct val="102000"/>
              </a:lnSpc>
              <a:spcAft>
                <a:spcPts val="400"/>
              </a:spcAft>
            </a:pPr>
            <a:r>
              <a:rPr sz="2200" b="1">
                <a:solidFill>
                  <a:srgbClr val="1B2738"/>
                </a:solidFill>
                <a:latin typeface="Lato"/>
              </a:rPr>
              <a:t>No es MFA: </a:t>
            </a:r>
            <a:r>
              <a:rPr sz="2200" b="0">
                <a:solidFill>
                  <a:srgbClr val="1B2738"/>
                </a:solidFill>
                <a:latin typeface="Lato"/>
              </a:rPr>
              <a:t>la autenticación ya pasó.</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LA TESIS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§10.3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11 / 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JWT (2015)</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Qué resuelve: </a:t>
            </a:r>
            <a:r>
              <a:rPr sz="2400" b="0">
                <a:solidFill>
                  <a:srgbClr val="1B2738"/>
                </a:solidFill>
                <a:latin typeface="Lato"/>
              </a:rPr>
              <a:t>claims autenticables sin estado.</a:t>
            </a:r>
          </a:p>
          <a:p>
            <a:pPr>
              <a:lnSpc>
                <a:spcPct val="102000"/>
              </a:lnSpc>
              <a:spcAft>
                <a:spcPts val="400"/>
              </a:spcAft>
            </a:pPr>
            <a:r>
              <a:rPr sz="2400" b="1">
                <a:solidFill>
                  <a:srgbClr val="1B2738"/>
                </a:solidFill>
                <a:latin typeface="Lato"/>
              </a:rPr>
              <a:t>Qué no resuelve: </a:t>
            </a:r>
            <a:r>
              <a:rPr sz="2400" b="0">
                <a:solidFill>
                  <a:srgbClr val="1B2738"/>
                </a:solidFill>
                <a:latin typeface="Lato"/>
              </a:rPr>
              <a:t>payload no está cifrado.</a:t>
            </a:r>
          </a:p>
          <a:p>
            <a:pPr>
              <a:lnSpc>
                <a:spcPct val="102000"/>
              </a:lnSpc>
              <a:spcAft>
                <a:spcPts val="400"/>
              </a:spcAft>
            </a:pPr>
            <a:r>
              <a:rPr sz="2400" b="1">
                <a:solidFill>
                  <a:srgbClr val="1B2738"/>
                </a:solidFill>
                <a:latin typeface="Lato"/>
              </a:rPr>
              <a:t>La trampa: </a:t>
            </a:r>
            <a:r>
              <a:rPr sz="2400" b="0">
                <a:solidFill>
                  <a:srgbClr val="1B2738"/>
                </a:solidFill>
                <a:latin typeface="Lato"/>
              </a:rPr>
              <a:t>si el validador confía en el alg del token, el atacante elige.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JWT</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12 / 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línea de tiempo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LÍNEA DE TIEMPO</a:t>
            </a:r>
          </a:p>
        </p:txBody>
      </p:sp>
      <p:pic>
        <p:nvPicPr>
          <p:cNvPr id="5" name="Picture 4" descr="01_timeline.png"/>
          <p:cNvPicPr>
            <a:picLocks noChangeAspect="1"/>
          </p:cNvPicPr>
          <p:nvPr/>
        </p:nvPicPr>
        <p:blipFill>
          <a:blip r:embed="rId2"/>
          <a:stretch>
            <a:fillRect/>
          </a:stretch>
        </p:blipFill>
        <p:spPr>
          <a:xfrm>
            <a:off x="2911732" y="1524000"/>
            <a:ext cx="35705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IETF; OASIS.</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13 /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Seguridad dinámica: Step-Up</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 autenticación no es binaria: </a:t>
            </a:r>
            <a:r>
              <a:rPr sz="2400" b="0">
                <a:solidFill>
                  <a:srgbClr val="1B2738"/>
                </a:solidFill>
                <a:latin typeface="Lato"/>
              </a:rPr>
              <a:t>es un flujo continuo.</a:t>
            </a:r>
          </a:p>
          <a:p>
            <a:pPr>
              <a:lnSpc>
                <a:spcPct val="102000"/>
              </a:lnSpc>
              <a:spcAft>
                <a:spcPts val="400"/>
              </a:spcAft>
            </a:pPr>
            <a:r>
              <a:rPr sz="2400" b="1">
                <a:solidFill>
                  <a:srgbClr val="1B2738"/>
                </a:solidFill>
                <a:latin typeface="Lato"/>
              </a:rPr>
              <a:t>Operaciones sensibles: </a:t>
            </a:r>
            <a:r>
              <a:rPr sz="2400" b="0">
                <a:solidFill>
                  <a:srgbClr val="1B2738"/>
                </a:solidFill>
                <a:latin typeface="Lato"/>
              </a:rPr>
              <a:t>exigen re-autenticación.</a:t>
            </a:r>
          </a:p>
          <a:p>
            <a:pPr>
              <a:lnSpc>
                <a:spcPct val="102000"/>
              </a:lnSpc>
              <a:spcAft>
                <a:spcPts val="400"/>
              </a:spcAft>
            </a:pPr>
            <a:r>
              <a:rPr sz="2400" b="1">
                <a:solidFill>
                  <a:srgbClr val="1B2738"/>
                </a:solidFill>
                <a:latin typeface="Lato"/>
              </a:rPr>
              <a:t>Mecanismo: </a:t>
            </a:r>
            <a:r>
              <a:rPr sz="2400" b="0">
                <a:solidFill>
                  <a:srgbClr val="1B2738"/>
                </a:solidFill>
                <a:latin typeface="Lato"/>
              </a:rPr>
              <a:t>RFC 9470, Step-Up Authentication Challenge.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9470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14 / 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Step-Up: flujo 401 y reintento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1. La API evalúa: </a:t>
            </a:r>
            <a:r>
              <a:rPr sz="2200" b="0">
                <a:solidFill>
                  <a:srgbClr val="1B2738"/>
                </a:solidFill>
                <a:latin typeface="Lato"/>
              </a:rPr>
              <a:t>transacción sensible, acr insuficiente.</a:t>
            </a:r>
          </a:p>
          <a:p>
            <a:pPr>
              <a:lnSpc>
                <a:spcPct val="102000"/>
              </a:lnSpc>
              <a:spcAft>
                <a:spcPts val="400"/>
              </a:spcAft>
            </a:pPr>
            <a:r>
              <a:rPr sz="2200" b="1">
                <a:solidFill>
                  <a:srgbClr val="1B2738"/>
                </a:solidFill>
                <a:latin typeface="Lato"/>
              </a:rPr>
              <a:t>2. Responde 401: </a:t>
            </a:r>
            <a:r>
              <a:rPr sz="2200" b="0">
                <a:solidFill>
                  <a:srgbClr val="1B2738"/>
                </a:solidFill>
                <a:latin typeface="Lato"/>
              </a:rPr>
              <a:t>WWW-Authenticate con acr_values.</a:t>
            </a:r>
          </a:p>
          <a:p>
            <a:pPr>
              <a:lnSpc>
                <a:spcPct val="102000"/>
              </a:lnSpc>
              <a:spcAft>
                <a:spcPts val="400"/>
              </a:spcAft>
            </a:pPr>
            <a:r>
              <a:rPr sz="2200" b="1">
                <a:solidFill>
                  <a:srgbClr val="1B2738"/>
                </a:solidFill>
                <a:latin typeface="Lato"/>
              </a:rPr>
              <a:t>3. El frontend redirige al IdP </a:t>
            </a:r>
            <a:r>
              <a:rPr sz="2200" b="0">
                <a:solidFill>
                  <a:srgbClr val="1B2738"/>
                </a:solidFill>
                <a:latin typeface="Lato"/>
              </a:rPr>
              <a:t>para segundo factor.</a:t>
            </a:r>
          </a:p>
          <a:p>
            <a:pPr>
              <a:lnSpc>
                <a:spcPct val="102000"/>
              </a:lnSpc>
              <a:spcAft>
                <a:spcPts val="400"/>
              </a:spcAft>
            </a:pPr>
            <a:r>
              <a:rPr sz="2200" b="1">
                <a:solidFill>
                  <a:srgbClr val="1B2738"/>
                </a:solidFill>
                <a:latin typeface="Lato"/>
              </a:rPr>
              <a:t>4. Nuevo token con acr actualizado. </a:t>
            </a:r>
            <a:r>
              <a:rPr sz="2200" b="0">
                <a:solidFill>
                  <a:srgbClr val="1B2738"/>
                </a:solidFill>
                <a:latin typeface="Lato"/>
              </a:rPr>
              <a:t>Reintento exitoso.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9470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15 / 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M2M: sin factorizar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El invocador es un microservicio </a:t>
            </a:r>
            <a:r>
              <a:rPr sz="2400" b="0">
                <a:solidFill>
                  <a:srgbClr val="1B2738"/>
                </a:solidFill>
                <a:latin typeface="Lato"/>
              </a:rPr>
              <a:t>o job de CI.</a:t>
            </a:r>
          </a:p>
          <a:p>
            <a:pPr>
              <a:lnSpc>
                <a:spcPct val="102000"/>
              </a:lnSpc>
              <a:spcAft>
                <a:spcPts val="400"/>
              </a:spcAft>
            </a:pPr>
            <a:r>
              <a:rPr sz="2400" b="1">
                <a:solidFill>
                  <a:srgbClr val="1B2738"/>
                </a:solidFill>
                <a:latin typeface="Lato"/>
              </a:rPr>
              <a:t>No hay segundo factor: </a:t>
            </a:r>
            <a:r>
              <a:rPr sz="2400" b="0">
                <a:solidFill>
                  <a:srgbClr val="1B2738"/>
                </a:solidFill>
                <a:latin typeface="Lato"/>
              </a:rPr>
              <a:t>el equivalente es mTLS.</a:t>
            </a:r>
          </a:p>
          <a:p>
            <a:pPr>
              <a:lnSpc>
                <a:spcPct val="102000"/>
              </a:lnSpc>
              <a:spcAft>
                <a:spcPts val="400"/>
              </a:spcAft>
            </a:pPr>
            <a:r>
              <a:rPr sz="2400" b="1">
                <a:solidFill>
                  <a:srgbClr val="1B2738"/>
                </a:solidFill>
                <a:latin typeface="Lato"/>
              </a:rPr>
              <a:t>Certificados X.509 </a:t>
            </a:r>
            <a:r>
              <a:rPr sz="2400" b="0">
                <a:solidFill>
                  <a:srgbClr val="1B2738"/>
                </a:solidFill>
                <a:latin typeface="Lato"/>
              </a:rPr>
              <a:t>o Private Key JWT para firmado de peticiones.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7523 (2015).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16 / 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Apps modificadas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Las apps están en manos del atacante: </a:t>
            </a:r>
            <a:r>
              <a:rPr sz="2400" b="0">
                <a:solidFill>
                  <a:srgbClr val="1B2738"/>
                </a:solidFill>
                <a:latin typeface="Lato"/>
              </a:rPr>
              <a:t>modificables, descompilables.</a:t>
            </a:r>
          </a:p>
          <a:p>
            <a:pPr>
              <a:lnSpc>
                <a:spcPct val="102000"/>
              </a:lnSpc>
              <a:spcAft>
                <a:spcPts val="400"/>
              </a:spcAft>
            </a:pPr>
            <a:r>
              <a:rPr sz="2400" b="1">
                <a:solidFill>
                  <a:srgbClr val="1B2738"/>
                </a:solidFill>
                <a:latin typeface="Lato"/>
              </a:rPr>
              <a:t>Riesgo: </a:t>
            </a:r>
            <a:r>
              <a:rPr sz="2400" b="0">
                <a:solidFill>
                  <a:srgbClr val="1B2738"/>
                </a:solidFill>
                <a:latin typeface="Lato"/>
              </a:rPr>
              <a:t>cliente Frankenstein que simula ser la app legítima.</a:t>
            </a:r>
          </a:p>
          <a:p>
            <a:pPr>
              <a:lnSpc>
                <a:spcPct val="102000"/>
              </a:lnSpc>
              <a:spcAft>
                <a:spcPts val="400"/>
              </a:spcAft>
            </a:pPr>
            <a:r>
              <a:rPr sz="2400" b="1">
                <a:solidFill>
                  <a:srgbClr val="1B2738"/>
                </a:solidFill>
                <a:latin typeface="Lato"/>
              </a:rPr>
              <a:t>Desactivan SSL pinning, </a:t>
            </a:r>
            <a:r>
              <a:rPr sz="2400" b="0">
                <a:solidFill>
                  <a:srgbClr val="1B2738"/>
                </a:solidFill>
                <a:latin typeface="Lato"/>
              </a:rPr>
              <a:t>extraen secretos, llaman a la API.</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Mobile Top 10 (2024).</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17 / 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PKCE: candado del código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code_verifier: </a:t>
            </a:r>
            <a:r>
              <a:rPr sz="2200" b="0">
                <a:solidFill>
                  <a:srgbClr val="1B2738"/>
                </a:solidFill>
                <a:latin typeface="Lato"/>
              </a:rPr>
              <a:t>string aleatorio generado por el cliente.</a:t>
            </a:r>
          </a:p>
          <a:p>
            <a:pPr>
              <a:lnSpc>
                <a:spcPct val="102000"/>
              </a:lnSpc>
              <a:spcAft>
                <a:spcPts val="400"/>
              </a:spcAft>
            </a:pPr>
            <a:r>
              <a:rPr sz="2200" b="1">
                <a:solidFill>
                  <a:srgbClr val="1B2738"/>
                </a:solidFill>
                <a:latin typeface="Lato"/>
              </a:rPr>
              <a:t>code_challenge: </a:t>
            </a:r>
            <a:r>
              <a:rPr sz="2200" b="0">
                <a:solidFill>
                  <a:srgbClr val="1B2738"/>
                </a:solidFill>
                <a:latin typeface="Lato"/>
              </a:rPr>
              <a:t>hash del verifier, enviado al pedir el código.</a:t>
            </a:r>
          </a:p>
          <a:p>
            <a:pPr>
              <a:lnSpc>
                <a:spcPct val="102000"/>
              </a:lnSpc>
              <a:spcAft>
                <a:spcPts val="400"/>
              </a:spcAft>
            </a:pPr>
            <a:r>
              <a:rPr sz="2200" b="1">
                <a:solidFill>
                  <a:srgbClr val="1B2738"/>
                </a:solidFill>
                <a:latin typeface="Lato"/>
              </a:rPr>
              <a:t>Al canjear: </a:t>
            </a:r>
            <a:r>
              <a:rPr sz="2200" b="0">
                <a:solidFill>
                  <a:srgbClr val="1B2738"/>
                </a:solidFill>
                <a:latin typeface="Lato"/>
              </a:rPr>
              <a:t>el verifier prueba la posesión.</a:t>
            </a:r>
          </a:p>
          <a:p>
            <a:pPr>
              <a:lnSpc>
                <a:spcPct val="102000"/>
              </a:lnSpc>
              <a:spcAft>
                <a:spcPts val="400"/>
              </a:spcAft>
            </a:pPr>
            <a:r>
              <a:rPr sz="2200" b="1">
                <a:solidFill>
                  <a:srgbClr val="1B2738"/>
                </a:solidFill>
                <a:latin typeface="Lato"/>
              </a:rPr>
              <a:t>Obligatorio hoy </a:t>
            </a:r>
            <a:r>
              <a:rPr sz="2200" b="0">
                <a:solidFill>
                  <a:srgbClr val="1B2738"/>
                </a:solidFill>
                <a:latin typeface="Lato"/>
              </a:rPr>
              <a:t>en clientes públicos (RFC 9700).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7636 (2015); RFC 9700 (2025).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18 / 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App Attestation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Android: </a:t>
            </a:r>
            <a:r>
              <a:rPr sz="2200" b="0">
                <a:solidFill>
                  <a:srgbClr val="1B2738"/>
                </a:solidFill>
                <a:latin typeface="Lato"/>
              </a:rPr>
              <a:t>Play Integrity API.</a:t>
            </a:r>
          </a:p>
          <a:p>
            <a:pPr>
              <a:lnSpc>
                <a:spcPct val="102000"/>
              </a:lnSpc>
              <a:spcAft>
                <a:spcPts val="400"/>
              </a:spcAft>
            </a:pPr>
            <a:r>
              <a:rPr sz="2200" b="1">
                <a:solidFill>
                  <a:srgbClr val="1B2738"/>
                </a:solidFill>
                <a:latin typeface="Lato"/>
              </a:rPr>
              <a:t>iOS: </a:t>
            </a:r>
            <a:r>
              <a:rPr sz="2200" b="0">
                <a:solidFill>
                  <a:srgbClr val="1B2738"/>
                </a:solidFill>
                <a:latin typeface="Lato"/>
              </a:rPr>
              <a:t>DeviceCheck / App Attest.</a:t>
            </a:r>
          </a:p>
          <a:p>
            <a:pPr>
              <a:lnSpc>
                <a:spcPct val="102000"/>
              </a:lnSpc>
              <a:spcAft>
                <a:spcPts val="400"/>
              </a:spcAft>
            </a:pPr>
            <a:r>
              <a:rPr sz="2200" b="1">
                <a:solidFill>
                  <a:srgbClr val="1B2738"/>
                </a:solidFill>
                <a:latin typeface="Lato"/>
              </a:rPr>
              <a:t>Verifica el binario no fue modificado </a:t>
            </a:r>
            <a:r>
              <a:rPr sz="2200" b="0">
                <a:solidFill>
                  <a:srgbClr val="1B2738"/>
                </a:solidFill>
                <a:latin typeface="Lato"/>
              </a:rPr>
              <a:t>y emite token de attestation.</a:t>
            </a:r>
          </a:p>
          <a:p>
            <a:pPr>
              <a:lnSpc>
                <a:spcPct val="102000"/>
              </a:lnSpc>
              <a:spcAft>
                <a:spcPts val="400"/>
              </a:spcAft>
            </a:pPr>
            <a:r>
              <a:rPr sz="2200" b="1">
                <a:solidFill>
                  <a:srgbClr val="1B2738"/>
                </a:solidFill>
                <a:latin typeface="Lato"/>
              </a:rPr>
              <a:t>La API lo verifica </a:t>
            </a:r>
            <a:r>
              <a:rPr sz="2200" b="0">
                <a:solidFill>
                  <a:srgbClr val="1B2738"/>
                </a:solidFill>
                <a:latin typeface="Lato"/>
              </a:rPr>
              <a:t>antes de operaciones sensibles.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Google Play Integrity; Apple DeviceCheck.</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19 / 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Mobile: tres capas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App Attestation: </a:t>
            </a:r>
            <a:r>
              <a:rPr sz="2200" b="0">
                <a:solidFill>
                  <a:srgbClr val="1B2738"/>
                </a:solidFill>
                <a:latin typeface="Lato"/>
              </a:rPr>
              <a:t>el binario es legítimo.</a:t>
            </a:r>
          </a:p>
          <a:p>
            <a:pPr>
              <a:lnSpc>
                <a:spcPct val="102000"/>
              </a:lnSpc>
              <a:spcAft>
                <a:spcPts val="400"/>
              </a:spcAft>
            </a:pPr>
            <a:r>
              <a:rPr sz="2200" b="1">
                <a:solidFill>
                  <a:srgbClr val="1B2738"/>
                </a:solidFill>
                <a:latin typeface="Lato"/>
              </a:rPr>
              <a:t>PKCE: </a:t>
            </a:r>
            <a:r>
              <a:rPr sz="2200" b="0">
                <a:solidFill>
                  <a:srgbClr val="1B2738"/>
                </a:solidFill>
                <a:latin typeface="Lato"/>
              </a:rPr>
              <a:t>el código no se puede reutilizar.</a:t>
            </a:r>
          </a:p>
          <a:p>
            <a:pPr>
              <a:lnSpc>
                <a:spcPct val="102000"/>
              </a:lnSpc>
              <a:spcAft>
                <a:spcPts val="400"/>
              </a:spcAft>
            </a:pPr>
            <a:r>
              <a:rPr sz="2200" b="1">
                <a:solidFill>
                  <a:srgbClr val="1B2738"/>
                </a:solidFill>
                <a:latin typeface="Lato"/>
              </a:rPr>
              <a:t>DPoP: </a:t>
            </a:r>
            <a:r>
              <a:rPr sz="2200" b="0">
                <a:solidFill>
                  <a:srgbClr val="1B2738"/>
                </a:solidFill>
                <a:latin typeface="Lato"/>
              </a:rPr>
              <a:t>el token no sirve en otro dispositivo.</a:t>
            </a:r>
          </a:p>
          <a:p>
            <a:pPr>
              <a:lnSpc>
                <a:spcPct val="102000"/>
              </a:lnSpc>
              <a:spcAft>
                <a:spcPts val="400"/>
              </a:spcAft>
            </a:pPr>
            <a:r>
              <a:rPr sz="2200" b="1">
                <a:solidFill>
                  <a:srgbClr val="1B2738"/>
                </a:solidFill>
                <a:latin typeface="Lato"/>
              </a:rPr>
              <a:t>Cliente Frankenstein: </a:t>
            </a:r>
            <a:r>
              <a:rPr sz="2200" b="0">
                <a:solidFill>
                  <a:srgbClr val="1B2738"/>
                </a:solidFill>
                <a:latin typeface="Lato"/>
              </a:rPr>
              <a:t>sin binario legítimo, sin PKCE, sin DPoP.</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Google; Apple; RFC 7636; RFC 9449.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20 / 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vs mTLS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graphicFrame>
        <p:nvGraphicFramePr>
          <p:cNvPr id="5" name="Table 4"/>
          <p:cNvGraphicFramePr>
            <a:graphicFrameLocks noGrp="1"/>
          </p:cNvGraphicFramePr>
          <p:nvPr/>
        </p:nvGraphicFramePr>
        <p:xfrm>
          <a:off x="571550" y="1724000"/>
          <a:ext cx="8250899" cy="3767300"/>
        </p:xfrm>
        <a:graphic>
          <a:graphicData uri="http://schemas.openxmlformats.org/drawingml/2006/table">
            <a:tbl>
              <a:tblPr firstRow="1">
                <a:tableStyleId>{5C22544A-7EE6-4342-B048-85BDC9FD1C3A}</a:tableStyleId>
              </a:tblPr>
              <a:tblGrid>
                <a:gridCol w="2605547"/>
                <a:gridCol w="2822676"/>
                <a:gridCol w="2822676"/>
              </a:tblGrid>
              <a:tr h="753460">
                <a:tc>
                  <a:txBody>
                    <a:bodyPr wrap="square"/>
                    <a:lstStyle/>
                    <a:p>
                      <a:r>
                        <a:rPr sz="1300" b="1">
                          <a:solidFill>
                            <a:srgbClr val="FFFFFF"/>
                          </a:solidFill>
                          <a:latin typeface="Lato"/>
                        </a:rPr>
                        <a:t>Característica</a:t>
                      </a:r>
                    </a:p>
                  </a:txBody>
                  <a:tcPr anchor="ctr" marL="80000" marR="60000" marT="20000" marB="20000">
                    <a:solidFill>
                      <a:srgbClr val="1B2738"/>
                    </a:solidFill>
                  </a:tcPr>
                </a:tc>
                <a:tc>
                  <a:txBody>
                    <a:bodyPr wrap="square"/>
                    <a:lstStyle/>
                    <a:p>
                      <a:r>
                        <a:rPr sz="1300" b="1">
                          <a:solidFill>
                            <a:srgbClr val="FFFFFF"/>
                          </a:solidFill>
                          <a:latin typeface="Lato"/>
                        </a:rPr>
                        <a:t>mTLS</a:t>
                      </a:r>
                    </a:p>
                  </a:txBody>
                  <a:tcPr anchor="ctr" marL="80000" marR="60000" marT="20000" marB="20000">
                    <a:solidFill>
                      <a:srgbClr val="1B2738"/>
                    </a:solidFill>
                  </a:tcPr>
                </a:tc>
                <a:tc>
                  <a:txBody>
                    <a:bodyPr wrap="square"/>
                    <a:lstStyle/>
                    <a:p>
                      <a:r>
                        <a:rPr sz="1300" b="1">
                          <a:solidFill>
                            <a:srgbClr val="FFFFFF"/>
                          </a:solidFill>
                          <a:latin typeface="Lato"/>
                        </a:rPr>
                        <a:t>DPoP</a:t>
                      </a:r>
                    </a:p>
                  </a:txBody>
                  <a:tcPr anchor="ctr" marL="80000" marR="60000" marT="20000" marB="20000">
                    <a:solidFill>
                      <a:srgbClr val="1B2738"/>
                    </a:solidFill>
                  </a:tcPr>
                </a:tc>
              </a:tr>
              <a:tr h="753460">
                <a:tc>
                  <a:txBody>
                    <a:bodyPr wrap="square"/>
                    <a:lstStyle/>
                    <a:p>
                      <a:r>
                        <a:rPr sz="1300" b="1">
                          <a:solidFill>
                            <a:srgbClr val="1B2738"/>
                          </a:solidFill>
                          <a:latin typeface="Lato"/>
                        </a:rPr>
                        <a:t>Capa OSI</a:t>
                      </a:r>
                    </a:p>
                  </a:txBody>
                  <a:tcPr anchor="ctr" marL="80000" marR="60000" marT="20000" marB="20000">
                    <a:solidFill>
                      <a:srgbClr val="FFFFFF"/>
                    </a:solidFill>
                  </a:tcPr>
                </a:tc>
                <a:tc>
                  <a:txBody>
                    <a:bodyPr wrap="square"/>
                    <a:lstStyle/>
                    <a:p>
                      <a:r>
                        <a:rPr sz="1300" b="0">
                          <a:solidFill>
                            <a:srgbClr val="1B2738"/>
                          </a:solidFill>
                          <a:latin typeface="Lato"/>
                        </a:rPr>
                        <a:t>Capa 4 (Transporte)</a:t>
                      </a:r>
                    </a:p>
                  </a:txBody>
                  <a:tcPr anchor="ctr" marL="80000" marR="60000" marT="20000" marB="20000">
                    <a:solidFill>
                      <a:srgbClr val="FFFFFF"/>
                    </a:solidFill>
                  </a:tcPr>
                </a:tc>
                <a:tc>
                  <a:txBody>
                    <a:bodyPr wrap="square"/>
                    <a:lstStyle/>
                    <a:p>
                      <a:r>
                        <a:rPr sz="1300" b="0">
                          <a:solidFill>
                            <a:srgbClr val="1B2738"/>
                          </a:solidFill>
                          <a:latin typeface="Lato"/>
                        </a:rPr>
                        <a:t>Capa 7 (Aplicación)</a:t>
                      </a:r>
                    </a:p>
                  </a:txBody>
                  <a:tcPr anchor="ctr" marL="80000" marR="60000" marT="20000" marB="20000">
                    <a:solidFill>
                      <a:srgbClr val="FFFFFF"/>
                    </a:solidFill>
                  </a:tcPr>
                </a:tc>
              </a:tr>
              <a:tr h="753460">
                <a:tc>
                  <a:txBody>
                    <a:bodyPr wrap="square"/>
                    <a:lstStyle/>
                    <a:p>
                      <a:r>
                        <a:rPr sz="1300" b="1">
                          <a:solidFill>
                            <a:srgbClr val="1B2738"/>
                          </a:solidFill>
                          <a:latin typeface="Lato"/>
                        </a:rPr>
                        <a:t>Mecanismo</a:t>
                      </a:r>
                    </a:p>
                  </a:txBody>
                  <a:tcPr anchor="ctr" marL="80000" marR="60000" marT="20000" marB="20000">
                    <a:solidFill>
                      <a:srgbClr val="EAF2FB"/>
                    </a:solidFill>
                  </a:tcPr>
                </a:tc>
                <a:tc>
                  <a:txBody>
                    <a:bodyPr wrap="square"/>
                    <a:lstStyle/>
                    <a:p>
                      <a:r>
                        <a:rPr sz="1300" b="0">
                          <a:solidFill>
                            <a:srgbClr val="1B2738"/>
                          </a:solidFill>
                          <a:latin typeface="Lato"/>
                        </a:rPr>
                        <a:t>Certificado X.509 en TLS</a:t>
                      </a:r>
                    </a:p>
                  </a:txBody>
                  <a:tcPr anchor="ctr" marL="80000" marR="60000" marT="20000" marB="20000">
                    <a:solidFill>
                      <a:srgbClr val="EAF2FB"/>
                    </a:solidFill>
                  </a:tcPr>
                </a:tc>
                <a:tc>
                  <a:txBody>
                    <a:bodyPr wrap="square"/>
                    <a:lstStyle/>
                    <a:p>
                      <a:r>
                        <a:rPr sz="1300" b="0">
                          <a:solidFill>
                            <a:srgbClr val="1B2738"/>
                          </a:solidFill>
                          <a:latin typeface="Lato"/>
                        </a:rPr>
                        <a:t>JWT firmado en header HTTP</a:t>
                      </a:r>
                    </a:p>
                  </a:txBody>
                  <a:tcPr anchor="ctr" marL="80000" marR="60000" marT="20000" marB="20000">
                    <a:solidFill>
                      <a:srgbClr val="EAF2FB"/>
                    </a:solidFill>
                  </a:tcPr>
                </a:tc>
              </a:tr>
              <a:tr h="753460">
                <a:tc>
                  <a:txBody>
                    <a:bodyPr wrap="square"/>
                    <a:lstStyle/>
                    <a:p>
                      <a:r>
                        <a:rPr sz="1300" b="1">
                          <a:solidFill>
                            <a:srgbClr val="1B2738"/>
                          </a:solidFill>
                          <a:latin typeface="Lato"/>
                        </a:rPr>
                        <a:t>Gestión de claves</a:t>
                      </a:r>
                    </a:p>
                  </a:txBody>
                  <a:tcPr anchor="ctr" marL="80000" marR="60000" marT="20000" marB="20000">
                    <a:solidFill>
                      <a:srgbClr val="FFFFFF"/>
                    </a:solidFill>
                  </a:tcPr>
                </a:tc>
                <a:tc>
                  <a:txBody>
                    <a:bodyPr wrap="square"/>
                    <a:lstStyle/>
                    <a:p>
                      <a:r>
                        <a:rPr sz="1300" b="0">
                          <a:solidFill>
                            <a:srgbClr val="1B2738"/>
                          </a:solidFill>
                          <a:latin typeface="Lato"/>
                        </a:rPr>
                        <a:t>Compleja (PKI)</a:t>
                      </a:r>
                    </a:p>
                  </a:txBody>
                  <a:tcPr anchor="ctr" marL="80000" marR="60000" marT="20000" marB="20000">
                    <a:solidFill>
                      <a:srgbClr val="FFFFFF"/>
                    </a:solidFill>
                  </a:tcPr>
                </a:tc>
                <a:tc>
                  <a:txBody>
                    <a:bodyPr wrap="square"/>
                    <a:lstStyle/>
                    <a:p>
                      <a:r>
                        <a:rPr sz="1300" b="0">
                          <a:solidFill>
                            <a:srgbClr val="1B2738"/>
                          </a:solidFill>
                          <a:latin typeface="Lato"/>
                        </a:rPr>
                        <a:t>Sin PKI, par dinámico</a:t>
                      </a:r>
                    </a:p>
                  </a:txBody>
                  <a:tcPr anchor="ctr" marL="80000" marR="60000" marT="20000" marB="20000">
                    <a:solidFill>
                      <a:srgbClr val="FFFFFF"/>
                    </a:solidFill>
                  </a:tcPr>
                </a:tc>
              </a:tr>
              <a:tr h="753460">
                <a:tc>
                  <a:txBody>
                    <a:bodyPr wrap="square"/>
                    <a:lstStyle/>
                    <a:p>
                      <a:r>
                        <a:rPr sz="1300" b="1">
                          <a:solidFill>
                            <a:srgbClr val="1B2738"/>
                          </a:solidFill>
                          <a:latin typeface="Lato"/>
                        </a:rPr>
                        <a:t>Ideal para</a:t>
                      </a:r>
                    </a:p>
                  </a:txBody>
                  <a:tcPr anchor="ctr" marL="80000" marR="60000" marT="20000" marB="20000">
                    <a:solidFill>
                      <a:srgbClr val="EAF2FB"/>
                    </a:solidFill>
                  </a:tcPr>
                </a:tc>
                <a:tc>
                  <a:txBody>
                    <a:bodyPr wrap="square"/>
                    <a:lstStyle/>
                    <a:p>
                      <a:r>
                        <a:rPr sz="1300" b="0">
                          <a:solidFill>
                            <a:srgbClr val="1B2738"/>
                          </a:solidFill>
                          <a:latin typeface="Lato"/>
                        </a:rPr>
                        <a:t>M2M, microservicios</a:t>
                      </a:r>
                    </a:p>
                  </a:txBody>
                  <a:tcPr anchor="ctr" marL="80000" marR="60000" marT="20000" marB="20000">
                    <a:solidFill>
                      <a:srgbClr val="EAF2FB"/>
                    </a:solidFill>
                  </a:tcPr>
                </a:tc>
                <a:tc>
                  <a:txBody>
                    <a:bodyPr wrap="square"/>
                    <a:lstStyle/>
                    <a:p>
                      <a:r>
                        <a:rPr sz="1300" b="0">
                          <a:solidFill>
                            <a:srgbClr val="1B2738"/>
                          </a:solidFill>
                          <a:latin typeface="Lato"/>
                        </a:rPr>
                        <a:t>SPAs, móviles</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21 / 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prueba en HTTP</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Par de claves dinámico: </a:t>
            </a:r>
            <a:r>
              <a:rPr sz="2200" b="0">
                <a:solidFill>
                  <a:srgbClr val="1B2738"/>
                </a:solidFill>
                <a:latin typeface="Lato"/>
              </a:rPr>
              <a:t>generado en el momento.</a:t>
            </a:r>
          </a:p>
          <a:p>
            <a:pPr>
              <a:lnSpc>
                <a:spcPct val="102000"/>
              </a:lnSpc>
              <a:spcAft>
                <a:spcPts val="400"/>
              </a:spcAft>
            </a:pPr>
            <a:r>
              <a:rPr sz="2200" b="1">
                <a:solidFill>
                  <a:srgbClr val="1B2738"/>
                </a:solidFill>
                <a:latin typeface="Lato"/>
              </a:rPr>
              <a:t>Token atado a la clave pública. </a:t>
            </a:r>
            <a:r>
              <a:rPr sz="2200" b="0">
                <a:solidFill>
                  <a:srgbClr val="1B2738"/>
                </a:solidFill>
                <a:latin typeface="Lato"/>
              </a:rPr>
              <a:t>La privada permanece en el dispositivo.</a:t>
            </a:r>
          </a:p>
          <a:p>
            <a:pPr>
              <a:lnSpc>
                <a:spcPct val="102000"/>
              </a:lnSpc>
              <a:spcAft>
                <a:spcPts val="400"/>
              </a:spcAft>
            </a:pPr>
            <a:r>
              <a:rPr sz="2200" b="1">
                <a:solidFill>
                  <a:srgbClr val="1B2738"/>
                </a:solidFill>
                <a:latin typeface="Lato"/>
              </a:rPr>
              <a:t>Header DPoP en cada request: </a:t>
            </a:r>
            <a:r>
              <a:rPr sz="2200" b="0">
                <a:solidFill>
                  <a:srgbClr val="1B2738"/>
                </a:solidFill>
                <a:latin typeface="Lato"/>
              </a:rPr>
              <a:t>JWT firmado con método y URL.</a:t>
            </a:r>
          </a:p>
          <a:p>
            <a:pPr>
              <a:lnSpc>
                <a:spcPct val="102000"/>
              </a:lnSpc>
              <a:spcAft>
                <a:spcPts val="400"/>
              </a:spcAft>
            </a:pPr>
            <a:r>
              <a:rPr sz="2200" b="1">
                <a:solidFill>
                  <a:srgbClr val="1B2738"/>
                </a:solidFill>
                <a:latin typeface="Lato"/>
              </a:rPr>
              <a:t>Funciona a través de proxies, WAFs </a:t>
            </a:r>
            <a:r>
              <a:rPr sz="2200" b="0">
                <a:solidFill>
                  <a:srgbClr val="1B2738"/>
                </a:solidFill>
                <a:latin typeface="Lato"/>
              </a:rPr>
              <a:t>y terminaciones TLS.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9449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22 / 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TLS, Gateway, Zero Trust</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ARQUITECTURA</a:t>
            </a:r>
          </a:p>
        </p:txBody>
      </p:sp>
      <p:pic>
        <p:nvPicPr>
          <p:cNvPr id="5" name="Picture 4" descr="13_circles.png"/>
          <p:cNvPicPr>
            <a:picLocks noChangeAspect="1"/>
          </p:cNvPicPr>
          <p:nvPr/>
        </p:nvPicPr>
        <p:blipFill>
          <a:blip r:embed="rId2"/>
          <a:stretch>
            <a:fillRect/>
          </a:stretch>
        </p:blipFill>
        <p:spPr>
          <a:xfrm>
            <a:off x="2601133" y="1524000"/>
            <a:ext cx="4191733"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 NIST SP 800-207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23 / 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ID Uruguay</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OIDC con bearer tokens: </a:t>
            </a:r>
            <a:r>
              <a:rPr sz="2400" b="0">
                <a:solidFill>
                  <a:srgbClr val="1B2738"/>
                </a:solidFill>
                <a:latin typeface="Lato"/>
              </a:rPr>
              <a:t>tokens de larga vida sin rotación.</a:t>
            </a:r>
          </a:p>
          <a:p>
            <a:pPr>
              <a:lnSpc>
                <a:spcPct val="102000"/>
              </a:lnSpc>
              <a:spcAft>
                <a:spcPts val="400"/>
              </a:spcAft>
            </a:pPr>
            <a:r>
              <a:rPr sz="2400" b="1">
                <a:solidFill>
                  <a:srgbClr val="1B2738"/>
                </a:solidFill>
                <a:latin typeface="Lato"/>
              </a:rPr>
              <a:t>SPAs con token en localStorage: </a:t>
            </a:r>
            <a:r>
              <a:rPr sz="2400" b="0">
                <a:solidFill>
                  <a:srgbClr val="1B2738"/>
                </a:solidFill>
                <a:latin typeface="Lato"/>
              </a:rPr>
              <a:t>robo por XSS.</a:t>
            </a:r>
          </a:p>
          <a:p>
            <a:pPr>
              <a:lnSpc>
                <a:spcPct val="102000"/>
              </a:lnSpc>
              <a:spcAft>
                <a:spcPts val="400"/>
              </a:spcAft>
            </a:pPr>
            <a:r>
              <a:rPr sz="2400" b="1">
                <a:solidFill>
                  <a:srgbClr val="1B2738"/>
                </a:solidFill>
                <a:latin typeface="Lato"/>
              </a:rPr>
              <a:t>Mitigaciones: </a:t>
            </a:r>
            <a:r>
              <a:rPr sz="2400" b="0">
                <a:solidFill>
                  <a:srgbClr val="1B2738"/>
                </a:solidFill>
                <a:latin typeface="Lato"/>
              </a:rPr>
              <a:t>DPoP, PKCE, Step-Up para operaciones sensibles.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CASO URUGUAY</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AGESIC / ID Uruguay; OWASP.</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24 / 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se acaba. El riesgo no.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 falsa sensación de seguridad: </a:t>
            </a:r>
            <a:r>
              <a:rPr sz="2400" b="0">
                <a:solidFill>
                  <a:srgbClr val="1B2738"/>
                </a:solidFill>
                <a:latin typeface="Lato"/>
              </a:rPr>
              <a:t>pensar que bearer significa seguro.</a:t>
            </a:r>
          </a:p>
          <a:p>
            <a:pPr>
              <a:lnSpc>
                <a:spcPct val="102000"/>
              </a:lnSpc>
              <a:spcAft>
                <a:spcPts val="400"/>
              </a:spcAft>
            </a:pPr>
            <a:r>
              <a:rPr sz="2400" b="1">
                <a:solidFill>
                  <a:srgbClr val="1B2738"/>
                </a:solidFill>
                <a:latin typeface="Lato"/>
              </a:rPr>
              <a:t>Bearer significa: </a:t>
            </a:r>
            <a:r>
              <a:rPr sz="2400" b="0">
                <a:solidFill>
                  <a:srgbClr val="1B2738"/>
                </a:solidFill>
                <a:latin typeface="Lato"/>
              </a:rPr>
              <a:t>portador.</a:t>
            </a:r>
          </a:p>
          <a:p>
            <a:pPr>
              <a:lnSpc>
                <a:spcPct val="102000"/>
              </a:lnSpc>
              <a:spcAft>
                <a:spcPts val="400"/>
              </a:spcAft>
            </a:pPr>
            <a:r>
              <a:rPr sz="2400" b="1">
                <a:solidFill>
                  <a:srgbClr val="1B2738"/>
                </a:solidFill>
                <a:latin typeface="Lato"/>
              </a:rPr>
              <a:t>La seguridad está en el sistema: </a:t>
            </a:r>
            <a:r>
              <a:rPr sz="2400" b="0">
                <a:solidFill>
                  <a:srgbClr val="1B2738"/>
                </a:solidFill>
                <a:latin typeface="Lato"/>
              </a:rPr>
              <a:t>autorización, cifrado, anti-replay, MFA.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RFC 9449; RFC 9700.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25 / 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familia de tokens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2_token_family.png"/>
          <p:cNvPicPr>
            <a:picLocks noChangeAspect="1"/>
          </p:cNvPicPr>
          <p:nvPr/>
        </p:nvPicPr>
        <p:blipFill>
          <a:blip r:embed="rId2"/>
          <a:stretch>
            <a:fillRect/>
          </a:stretch>
        </p:blipFill>
        <p:spPr>
          <a:xfrm>
            <a:off x="1477308" y="1524000"/>
            <a:ext cx="6439384"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26 / 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Anatomía de un JWT</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3_jwt_anatomy.png"/>
          <p:cNvPicPr>
            <a:picLocks noChangeAspect="1"/>
          </p:cNvPicPr>
          <p:nvPr/>
        </p:nvPicPr>
        <p:blipFill>
          <a:blip r:embed="rId2"/>
          <a:stretch>
            <a:fillRect/>
          </a:stretch>
        </p:blipFill>
        <p:spPr>
          <a:xfrm>
            <a:off x="571550" y="1652879"/>
            <a:ext cx="8250900" cy="3909542"/>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27 / 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Dónde viaja el token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4_transport.png"/>
          <p:cNvPicPr>
            <a:picLocks noChangeAspect="1"/>
          </p:cNvPicPr>
          <p:nvPr/>
        </p:nvPicPr>
        <p:blipFill>
          <a:blip r:embed="rId2"/>
          <a:stretch>
            <a:fillRect/>
          </a:stretch>
        </p:blipFill>
        <p:spPr>
          <a:xfrm>
            <a:off x="596617" y="1524000"/>
            <a:ext cx="820076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28 / 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MFA protege un instante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5_mfa_timeline.png"/>
          <p:cNvPicPr>
            <a:picLocks noChangeAspect="1"/>
          </p:cNvPicPr>
          <p:nvPr/>
        </p:nvPicPr>
        <p:blipFill>
          <a:blip r:embed="rId2"/>
          <a:stretch>
            <a:fillRect/>
          </a:stretch>
        </p:blipFill>
        <p:spPr>
          <a:xfrm>
            <a:off x="571550" y="1940755"/>
            <a:ext cx="8250900" cy="333379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29 / 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Persona y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6_person_vs_system.png"/>
          <p:cNvPicPr>
            <a:picLocks noChangeAspect="1"/>
          </p:cNvPicPr>
          <p:nvPr/>
        </p:nvPicPr>
        <p:blipFill>
          <a:blip r:embed="rId2"/>
          <a:stretch>
            <a:fillRect/>
          </a:stretch>
        </p:blipFill>
        <p:spPr>
          <a:xfrm>
            <a:off x="979484" y="1524000"/>
            <a:ext cx="7435032"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(2025); GitGuardian (2026).</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30 / 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Del bearer al sender-constrained</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7_sender_constrained.png"/>
          <p:cNvPicPr>
            <a:picLocks noChangeAspect="1"/>
          </p:cNvPicPr>
          <p:nvPr/>
        </p:nvPicPr>
        <p:blipFill>
          <a:blip r:embed="rId2"/>
          <a:stretch>
            <a:fillRect/>
          </a:stretch>
        </p:blipFill>
        <p:spPr>
          <a:xfrm>
            <a:off x="571550" y="1583231"/>
            <a:ext cx="8250900" cy="4048837"/>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8471-8473 (2018);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31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Los flujos de OAuth</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8_oauth_flows.png"/>
          <p:cNvPicPr>
            <a:picLocks noChangeAspect="1"/>
          </p:cNvPicPr>
          <p:nvPr/>
        </p:nvPicPr>
        <p:blipFill>
          <a:blip r:embed="rId2"/>
          <a:stretch>
            <a:fillRect/>
          </a:stretch>
        </p:blipFill>
        <p:spPr>
          <a:xfrm>
            <a:off x="732711" y="1524000"/>
            <a:ext cx="7928578"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(2012); RFC 7636 (2015).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32 / 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pila de protocolos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9_protocol_stack.png"/>
          <p:cNvPicPr>
            <a:picLocks noChangeAspect="1"/>
          </p:cNvPicPr>
          <p:nvPr/>
        </p:nvPicPr>
        <p:blipFill>
          <a:blip r:embed="rId2"/>
          <a:stretch>
            <a:fillRect/>
          </a:stretch>
        </p:blipFill>
        <p:spPr>
          <a:xfrm>
            <a:off x="732711" y="1524000"/>
            <a:ext cx="7928578"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IETF.</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33 / 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ciclo de vida del token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10_lifecycle.png"/>
          <p:cNvPicPr>
            <a:picLocks noChangeAspect="1"/>
          </p:cNvPicPr>
          <p:nvPr/>
        </p:nvPicPr>
        <p:blipFill>
          <a:blip r:embed="rId2"/>
          <a:stretch>
            <a:fillRect/>
          </a:stretch>
        </p:blipFill>
        <p:spPr>
          <a:xfrm>
            <a:off x="2601280" y="1524000"/>
            <a:ext cx="4191440"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RFC 7009; RFC 9700.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34 / 35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OWASP API Top 10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11_owasp_top10.png"/>
          <p:cNvPicPr>
            <a:picLocks noChangeAspect="1"/>
          </p:cNvPicPr>
          <p:nvPr/>
        </p:nvPicPr>
        <p:blipFill>
          <a:blip r:embed="rId2"/>
          <a:stretch>
            <a:fillRect/>
          </a:stretch>
        </p:blipFill>
        <p:spPr>
          <a:xfrm>
            <a:off x="1259074" y="1524000"/>
            <a:ext cx="6875851"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35 / 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Arquitectura de referencia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12_reference_arch.png"/>
          <p:cNvPicPr>
            <a:picLocks noChangeAspect="1"/>
          </p:cNvPicPr>
          <p:nvPr/>
        </p:nvPicPr>
        <p:blipFill>
          <a:blip r:embed="rId2"/>
          <a:stretch>
            <a:fillRect/>
          </a:stretch>
        </p:blipFill>
        <p:spPr>
          <a:xfrm>
            <a:off x="979484" y="1524000"/>
            <a:ext cx="7435032"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NIST SP 800-207.</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36 / 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ecosistema completo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13_circles.png"/>
          <p:cNvPicPr>
            <a:picLocks noChangeAspect="1"/>
          </p:cNvPicPr>
          <p:nvPr/>
        </p:nvPicPr>
        <p:blipFill>
          <a:blip r:embed="rId2"/>
          <a:stretch>
            <a:fillRect/>
          </a:stretch>
        </p:blipFill>
        <p:spPr>
          <a:xfrm>
            <a:off x="2601133" y="1524000"/>
            <a:ext cx="4191733"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37 / 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ecosistema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circles.png"/>
          <p:cNvPicPr>
            <a:picLocks noChangeAspect="1"/>
          </p:cNvPicPr>
          <p:nvPr/>
        </p:nvPicPr>
        <p:blipFill>
          <a:blip r:embed="rId2"/>
          <a:stretch>
            <a:fillRect/>
          </a:stretch>
        </p:blipFill>
        <p:spPr>
          <a:xfrm>
            <a:off x="1958532" y="1524000"/>
            <a:ext cx="54769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38 / 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familia de tokens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family.png"/>
          <p:cNvPicPr>
            <a:picLocks noChangeAspect="1"/>
          </p:cNvPicPr>
          <p:nvPr/>
        </p:nvPicPr>
        <p:blipFill>
          <a:blip r:embed="rId2"/>
          <a:stretch>
            <a:fillRect/>
          </a:stretch>
        </p:blipFill>
        <p:spPr>
          <a:xfrm>
            <a:off x="571550" y="1533043"/>
            <a:ext cx="8250899" cy="4149214"/>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39 / 35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JWT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jw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40 / 35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MFA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mfa.png"/>
          <p:cNvPicPr>
            <a:picLocks noChangeAspect="1"/>
          </p:cNvPicPr>
          <p:nvPr/>
        </p:nvPicPr>
        <p:blipFill>
          <a:blip r:embed="rId2"/>
          <a:stretch>
            <a:fillRect/>
          </a:stretch>
        </p:blipFill>
        <p:spPr>
          <a:xfrm>
            <a:off x="571550" y="1689113"/>
            <a:ext cx="8250899" cy="3837073"/>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41 / 35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OWASP Top 10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owasp.png"/>
          <p:cNvPicPr>
            <a:picLocks noChangeAspect="1"/>
          </p:cNvPicPr>
          <p:nvPr/>
        </p:nvPicPr>
        <p:blipFill>
          <a:blip r:embed="rId2"/>
          <a:stretch>
            <a:fillRect/>
          </a:stretch>
        </p:blipFill>
        <p:spPr>
          <a:xfrm>
            <a:off x="997720" y="1524000"/>
            <a:ext cx="7398560"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42 / 35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pop.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43 / 35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Refresh token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refresh.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§10.4 (2012); RFC 7009 (2013);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44 / 35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Transporte del token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transpor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45 / 35</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WASP Uruguay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2026-05-21T00:46:05Z</dcterms:created>
  <dc:creator>Sebastián Passaro (duraznito)</dc:creator>
</cp:coreProperties>
</file>