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25 minutos, tres actos. El título juega con «al infinito y más allá»: el token bearer es el billete que nunca muere y el «más allá» es lo que viene después. Sin rodeos: por qué un Authorization: Bearer en el header ya no alcanza y qué hacemos al respecto.</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Planteo del conflicto. El token bearer es un billete al portador: quien lo tiene, lo usa. Si se filtra por XSS, logs o almacenamiento inseguro, el atacante entra sin importar desde dónde llame. El RFC 6749 sección 10.3 lo admite: el servidor de recursos no puede confirmar que el token se emitió a quien lo presenta.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robo del token no es teórico. Facebook 2018: la función «Ver como» generó 50 millones de access tokens robables. Starbucks 2019: claves API expuestas en GitHub. En ambos casos el token se usó sin restricciones porque no estaba atado a nada.</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Qué no cubre el bearer. No cifra el payload (JWT es base64). No autoriza por sí solo: la autorización es otro capítulo. No previene replay. No protege contra XSS. No verifica el dispositivo. No es MFA. El token solo responde una pregunta: ¿es válido? Nada más.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línea de tiempo. Pasado: Basic Auth y cookies con estado en el servidor. Presente: OAuth 2.0, JWT sin estado, bearer como estándar. Más allá: mTLS y DPoP, donde el token queda atado al cliente que lo solicitó.</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 seguridad dinámica. La autenticación no es un interruptor de encendido/apagado. Es un flujo continuo: el usuario entra con contraseña, pero para operaciones sensibles la API debe exigir más. Ahí entra MFA Step-Up.</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MFA Step-Up: el mecanismo. RFC 9470. La API evalúa la transacción: es sensible, el token dice autenticación simple. Responde 401 con WWW-Authenticate y acr_values. El frontend redirige al IdP. El usuario pasa segundo factor. Nuevo token con acr actualizado. Reintento exitoso.</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Qué pide el Step-Up en el token. acr (Authentication Context Class Reference) y amr (Authentication Methods References) son los claims the dicen cómo se autenticó el usuario. Si acr dice contraseña simple y la operación exige MFA, el token no sirve. No es el token: es el contexto de autenticación dentro del token.</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Máquina a máquina: sin humano para factorizar. Cuando la invocador es un microservicio o un job de CI, no hay segundo factor que mostrar. El equivalente es mTLS con certificados X.509 o firmado de peticiones con claves asimétricas (Private Key JWT).</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III: el ecosistema mobile. Las apps móviles están en manos del atacante. Pueden modificar el APK, desactivar SSL pinning, extraer secretars. El cliente «Frankenstein» simula ser la app legítima y llama a la API directly.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PKCE: el candado del código. RFC 7636. El cliente genera un code_verifier, envía su hash como code_challenge, y prueba el verifier al canjear el código. Si un atacante intercepta el código, no lo puede canjear sin el verifier. Hoy es obligatorio en clientes públicos.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 Attestation: la prueba de integridad. Play Integrity API en Android, DeviceCheck en iOS. El servidor de attestation verifica que el binario no fue modificado y emite un token de attestation. La API lo verifica antes de procesar solicitudes sensibles.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III: el clímax mobile. App Attestation verifica la integridad del binario. PKCE protege el código de autorización. DPoP ata el token a una clave privada del dispositivo. Las tres capas juntas: el cliente Frankenstein se queda fuera.</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contra mTLS. mTLS opera en capa 4: certificado X.509 en el handshake TLS, token atado al certificado vía claim cnf. Robo de token inútil sin el certificado. Gestión de PKI compleja.</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la prueba en capa 7. El cliente genera un par de claves dinámicamente. El token se ata a la clave pública. Cada request incluye un JWT firmado con la clave privada en un header DPoP. Sin PKI, sin certificados de red, funciona a través de proxies y WAFs.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contra mtls: la comparación. mTLS: capa 4, certificado X.509, ideal para M2M y microservicios, gestión de PKI compleja. DPoP: capa 7, JWT en header, ideal para SPAs y móviles, sin PKI pero con sobrecarga computacional.</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el token vive en el ecosistema. TLS protege en tránsito pero no contra XSS ni logs. Gateway valida firma, expiración y aud. Zero Trust: cada microservicio autoriza según su lógica de negocio.</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Canal seguro y gateway: sus límites. TLS no protege contra robo en el cliente. El gateway es la primera línea: throttling, WAF, validación de firma. El error común: el gateway valida y los microservicios confían ciegamente. Zero Trust: propagar claims y autorizar en cada capa.</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caso uruguayo. ID Uruguay usa OIDC con bearer tokens. Cualquier integración con tokens de larga vida sin rotación es un riesgo. Cualquier SPA con token en localStorage es un riesgo. Las mitigaciones de esta charla aplican igual: DPoP, PKCE, Step-Up.</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Tres acciones para mañana. Primero: auditar la vida de los tokens de acceso y refresh. Segundo: revisar dónde se almacenan los tokens en clientes públicos. Tercero: identificar operaciones sensibles y planificar Step-Up. El token bearer es el presente. El sender-constrained es el siguiente paso.</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token se acaba. El riesgo no. Autenticar es la puerta. Autorizar es la cerradura. La seguridad no está en el string: está en el sistema. Gracias.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Bearer Token: del riesgo al sender-constrained</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25 minutos, tres actos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billete al portador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Posesión = autorización: </a:t>
            </a:r>
            <a:r>
              <a:rPr sz="2400" b="0">
                <a:solidFill>
                  <a:srgbClr val="1B2738"/>
                </a:solidFill>
                <a:latin typeface="Lato"/>
              </a:rPr>
              <a:t>el token se presenta y se acepta.</a:t>
            </a:r>
          </a:p>
          <a:p>
            <a:pPr>
              <a:lnSpc>
                <a:spcPct val="102000"/>
              </a:lnSpc>
              <a:spcAft>
                <a:spcPts val="400"/>
              </a:spcAft>
            </a:pPr>
            <a:r>
              <a:rPr sz="2400" b="1">
                <a:solidFill>
                  <a:srgbClr val="1B2738"/>
                </a:solidFill>
                <a:latin typeface="Lato"/>
              </a:rPr>
              <a:t>No se verifica el dispositivo </a:t>
            </a:r>
            <a:r>
              <a:rPr sz="2400" b="0">
                <a:solidFill>
                  <a:srgbClr val="1B2738"/>
                </a:solidFill>
                <a:latin typeface="Lato"/>
              </a:rPr>
              <a:t>ni el cliente que lo usa.</a:t>
            </a:r>
          </a:p>
          <a:p>
            <a:pPr>
              <a:lnSpc>
                <a:spcPct val="102000"/>
              </a:lnSpc>
              <a:spcAft>
                <a:spcPts val="400"/>
              </a:spcAft>
            </a:pPr>
            <a:r>
              <a:rPr sz="2400" b="1">
                <a:solidFill>
                  <a:srgbClr val="1B2738"/>
                </a:solidFill>
                <a:latin typeface="Lato"/>
              </a:rPr>
              <a:t>Si se filtra: </a:t>
            </a:r>
            <a:r>
              <a:rPr sz="2400" b="0">
                <a:solidFill>
                  <a:srgbClr val="1B2738"/>
                </a:solidFill>
                <a:latin typeface="Lato"/>
              </a:rPr>
              <a:t>quien lo tiene, lo usa.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Bearer Token Usage (octubre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robo del token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Facebook (2018): </a:t>
            </a:r>
            <a:r>
              <a:rPr sz="2400" b="0">
                <a:solidFill>
                  <a:srgbClr val="1B2738"/>
                </a:solidFill>
                <a:latin typeface="Lato"/>
              </a:rPr>
              <a:t>50 millones de tokens robados vía «Ver como».</a:t>
            </a:r>
          </a:p>
          <a:p>
            <a:pPr>
              <a:lnSpc>
                <a:spcPct val="102000"/>
              </a:lnSpc>
              <a:spcAft>
                <a:spcPts val="400"/>
              </a:spcAft>
            </a:pPr>
            <a:r>
              <a:rPr sz="2400" b="1">
                <a:solidFill>
                  <a:srgbClr val="1B2738"/>
                </a:solidFill>
                <a:latin typeface="Lato"/>
              </a:rPr>
              <a:t>Starbucks (2019): </a:t>
            </a:r>
            <a:r>
              <a:rPr sz="2400" b="0">
                <a:solidFill>
                  <a:srgbClr val="1B2738"/>
                </a:solidFill>
                <a:latin typeface="Lato"/>
              </a:rPr>
              <a:t>claves API expuestas en GitHub.</a:t>
            </a:r>
          </a:p>
          <a:p>
            <a:pPr>
              <a:lnSpc>
                <a:spcPct val="102000"/>
              </a:lnSpc>
              <a:spcAft>
                <a:spcPts val="400"/>
              </a:spcAft>
            </a:pPr>
            <a:r>
              <a:rPr sz="2400" b="1">
                <a:solidFill>
                  <a:srgbClr val="1B2738"/>
                </a:solidFill>
                <a:latin typeface="Lato"/>
              </a:rPr>
              <a:t>En ambos: </a:t>
            </a:r>
            <a:r>
              <a:rPr sz="2400" b="0">
                <a:solidFill>
                  <a:srgbClr val="1B2738"/>
                </a:solidFill>
                <a:latin typeface="Lato"/>
              </a:rPr>
              <a:t>el token se usó sin restricciones.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Meta Security Report (2018); HackerOne (2019).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no cubre el bearer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No cifra: </a:t>
            </a:r>
            <a:r>
              <a:rPr sz="2000" b="0">
                <a:solidFill>
                  <a:srgbClr val="1B2738"/>
                </a:solidFill>
                <a:latin typeface="Lato"/>
              </a:rPr>
              <a:t>JWT es base64, no cifrado.</a:t>
            </a:r>
          </a:p>
          <a:p>
            <a:pPr>
              <a:lnSpc>
                <a:spcPct val="102000"/>
              </a:lnSpc>
              <a:spcAft>
                <a:spcPts val="400"/>
              </a:spcAft>
            </a:pPr>
            <a:r>
              <a:rPr sz="2000" b="1">
                <a:solidFill>
                  <a:srgbClr val="1B2738"/>
                </a:solidFill>
                <a:latin typeface="Lato"/>
              </a:rPr>
              <a:t>No autoriza: </a:t>
            </a:r>
            <a:r>
              <a:rPr sz="2000" b="0">
                <a:solidFill>
                  <a:srgbClr val="1B2738"/>
                </a:solidFill>
                <a:latin typeface="Lato"/>
              </a:rPr>
              <a:t>es otro capítulo.</a:t>
            </a:r>
          </a:p>
          <a:p>
            <a:pPr>
              <a:lnSpc>
                <a:spcPct val="102000"/>
              </a:lnSpc>
              <a:spcAft>
                <a:spcPts val="400"/>
              </a:spcAft>
            </a:pPr>
            <a:r>
              <a:rPr sz="2000" b="1">
                <a:solidFill>
                  <a:srgbClr val="1B2738"/>
                </a:solidFill>
                <a:latin typeface="Lato"/>
              </a:rPr>
              <a:t>No previene replay: </a:t>
            </a:r>
            <a:r>
              <a:rPr sz="2000" b="0">
                <a:solidFill>
                  <a:srgbClr val="1B2738"/>
                </a:solidFill>
                <a:latin typeface="Lato"/>
              </a:rPr>
              <a:t>interceptado = reutilizado.</a:t>
            </a:r>
          </a:p>
          <a:p>
            <a:pPr>
              <a:lnSpc>
                <a:spcPct val="102000"/>
              </a:lnSpc>
              <a:spcAft>
                <a:spcPts val="400"/>
              </a:spcAft>
            </a:pPr>
            <a:r>
              <a:rPr sz="2000" b="1">
                <a:solidFill>
                  <a:srgbClr val="1B2738"/>
                </a:solidFill>
                <a:latin typeface="Lato"/>
              </a:rPr>
              <a:t>No verifica dispositivo </a:t>
            </a:r>
            <a:r>
              <a:rPr sz="2000" b="0">
                <a:solidFill>
                  <a:srgbClr val="1B2738"/>
                </a:solidFill>
                <a:latin typeface="Lato"/>
              </a:rPr>
              <a:t>ni cliente.</a:t>
            </a:r>
          </a:p>
          <a:p>
            <a:pPr>
              <a:lnSpc>
                <a:spcPct val="102000"/>
              </a:lnSpc>
              <a:spcAft>
                <a:spcPts val="400"/>
              </a:spcAft>
            </a:pPr>
            <a:r>
              <a:rPr sz="2000" b="1">
                <a:solidFill>
                  <a:srgbClr val="1B2738"/>
                </a:solidFill>
                <a:latin typeface="Lato"/>
              </a:rPr>
              <a:t>No es MFA: </a:t>
            </a:r>
            <a:r>
              <a:rPr sz="2000" b="0">
                <a:solidFill>
                  <a:srgbClr val="1B2738"/>
                </a:solidFill>
                <a:latin typeface="Lato"/>
              </a:rPr>
              <a:t>la autenticación ya pasó.</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§10.3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 Basic al sender-constrained</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LÍNEA DE TIEMPO</a:t>
            </a:r>
          </a:p>
        </p:txBody>
      </p:sp>
      <p:pic>
        <p:nvPicPr>
          <p:cNvPr id="5" name="Picture 4" descr="d_family.png"/>
          <p:cNvPicPr>
            <a:picLocks noChangeAspect="1"/>
          </p:cNvPicPr>
          <p:nvPr/>
        </p:nvPicPr>
        <p:blipFill>
          <a:blip r:embed="rId2"/>
          <a:stretch>
            <a:fillRect/>
          </a:stretch>
        </p:blipFill>
        <p:spPr>
          <a:xfrm>
            <a:off x="571550" y="1533043"/>
            <a:ext cx="8250899" cy="4149214"/>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(1999); RFC 6749 (2012);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Seguridad dinámica: Step-Up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 autenticación no es binaria: </a:t>
            </a:r>
            <a:r>
              <a:rPr sz="2400" b="0">
                <a:solidFill>
                  <a:srgbClr val="1B2738"/>
                </a:solidFill>
                <a:latin typeface="Lato"/>
              </a:rPr>
              <a:t>es un flujo continuo.</a:t>
            </a:r>
          </a:p>
          <a:p>
            <a:pPr>
              <a:lnSpc>
                <a:spcPct val="102000"/>
              </a:lnSpc>
              <a:spcAft>
                <a:spcPts val="400"/>
              </a:spcAft>
            </a:pPr>
            <a:r>
              <a:rPr sz="2400" b="1">
                <a:solidFill>
                  <a:srgbClr val="1B2738"/>
                </a:solidFill>
                <a:latin typeface="Lato"/>
              </a:rPr>
              <a:t>Operaciones sensibles: </a:t>
            </a:r>
            <a:r>
              <a:rPr sz="2400" b="0">
                <a:solidFill>
                  <a:srgbClr val="1B2738"/>
                </a:solidFill>
                <a:latin typeface="Lato"/>
              </a:rPr>
              <a:t>exigen re-autenticación.</a:t>
            </a:r>
          </a:p>
          <a:p>
            <a:pPr>
              <a:lnSpc>
                <a:spcPct val="102000"/>
              </a:lnSpc>
              <a:spcAft>
                <a:spcPts val="400"/>
              </a:spcAft>
            </a:pPr>
            <a:r>
              <a:rPr sz="2400" b="1">
                <a:solidFill>
                  <a:srgbClr val="1B2738"/>
                </a:solidFill>
                <a:latin typeface="Lato"/>
              </a:rPr>
              <a:t>Mecanismo: </a:t>
            </a:r>
            <a:r>
              <a:rPr sz="2400" b="0">
                <a:solidFill>
                  <a:srgbClr val="1B2738"/>
                </a:solidFill>
                <a:latin typeface="Lato"/>
              </a:rPr>
              <a:t>RFC 9470, Step-Up Authentication Challenge.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 NIST SP 800-63-4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Step-Up: flujo 401 y reintento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1. La API evalúa: </a:t>
            </a:r>
            <a:r>
              <a:rPr sz="2200" b="0">
                <a:solidFill>
                  <a:srgbClr val="1B2738"/>
                </a:solidFill>
                <a:latin typeface="Lato"/>
              </a:rPr>
              <a:t>transacción sensible, acr insuficiente.</a:t>
            </a:r>
          </a:p>
          <a:p>
            <a:pPr>
              <a:lnSpc>
                <a:spcPct val="102000"/>
              </a:lnSpc>
              <a:spcAft>
                <a:spcPts val="400"/>
              </a:spcAft>
            </a:pPr>
            <a:r>
              <a:rPr sz="2200" b="1">
                <a:solidFill>
                  <a:srgbClr val="1B2738"/>
                </a:solidFill>
                <a:latin typeface="Lato"/>
              </a:rPr>
              <a:t>2. Responde 401: </a:t>
            </a:r>
            <a:r>
              <a:rPr sz="2200" b="0">
                <a:solidFill>
                  <a:srgbClr val="1B2738"/>
                </a:solidFill>
                <a:latin typeface="Lato"/>
              </a:rPr>
              <a:t>WWW-Authenticate con acr_values.</a:t>
            </a:r>
          </a:p>
          <a:p>
            <a:pPr>
              <a:lnSpc>
                <a:spcPct val="102000"/>
              </a:lnSpc>
              <a:spcAft>
                <a:spcPts val="400"/>
              </a:spcAft>
            </a:pPr>
            <a:r>
              <a:rPr sz="2200" b="1">
                <a:solidFill>
                  <a:srgbClr val="1B2738"/>
                </a:solidFill>
                <a:latin typeface="Lato"/>
              </a:rPr>
              <a:t>3. El frontend redirige al IdP </a:t>
            </a:r>
            <a:r>
              <a:rPr sz="2200" b="0">
                <a:solidFill>
                  <a:srgbClr val="1B2738"/>
                </a:solidFill>
                <a:latin typeface="Lato"/>
              </a:rPr>
              <a:t>para segundo factor.</a:t>
            </a:r>
          </a:p>
          <a:p>
            <a:pPr>
              <a:lnSpc>
                <a:spcPct val="102000"/>
              </a:lnSpc>
              <a:spcAft>
                <a:spcPts val="400"/>
              </a:spcAft>
            </a:pPr>
            <a:r>
              <a:rPr sz="2200" b="1">
                <a:solidFill>
                  <a:srgbClr val="1B2738"/>
                </a:solidFill>
                <a:latin typeface="Lato"/>
              </a:rPr>
              <a:t>4. Nuevo token con acr actualizado. </a:t>
            </a:r>
            <a:r>
              <a:rPr sz="2200" b="0">
                <a:solidFill>
                  <a:srgbClr val="1B2738"/>
                </a:solidFill>
                <a:latin typeface="Lato"/>
              </a:rPr>
              <a:t>Reintento exitoso.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Claims acr y amr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acr: </a:t>
            </a:r>
            <a:r>
              <a:rPr sz="2400" b="0">
                <a:solidFill>
                  <a:srgbClr val="1B2738"/>
                </a:solidFill>
                <a:latin typeface="Lato"/>
              </a:rPr>
              <a:t>Authentication Context Class Reference.</a:t>
            </a:r>
          </a:p>
          <a:p>
            <a:pPr>
              <a:lnSpc>
                <a:spcPct val="102000"/>
              </a:lnSpc>
              <a:spcAft>
                <a:spcPts val="400"/>
              </a:spcAft>
            </a:pPr>
            <a:r>
              <a:rPr sz="2400" b="1">
                <a:solidFill>
                  <a:srgbClr val="1B2738"/>
                </a:solidFill>
                <a:latin typeface="Lato"/>
              </a:rPr>
              <a:t>amr: </a:t>
            </a:r>
            <a:r>
              <a:rPr sz="2400" b="0">
                <a:solidFill>
                  <a:srgbClr val="1B2738"/>
                </a:solidFill>
                <a:latin typeface="Lato"/>
              </a:rPr>
              <a:t>Authentication Methods References.</a:t>
            </a:r>
          </a:p>
          <a:p>
            <a:pPr>
              <a:lnSpc>
                <a:spcPct val="102000"/>
              </a:lnSpc>
              <a:spcAft>
                <a:spcPts val="400"/>
              </a:spcAft>
            </a:pPr>
            <a:r>
              <a:rPr sz="2400" b="1">
                <a:solidFill>
                  <a:srgbClr val="1B2738"/>
                </a:solidFill>
                <a:latin typeface="Lato"/>
              </a:rPr>
              <a:t>Dicen cómo se autenticó, </a:t>
            </a:r>
            <a:r>
              <a:rPr sz="2400" b="0">
                <a:solidFill>
                  <a:srgbClr val="1B2738"/>
                </a:solidFill>
                <a:latin typeface="Lato"/>
              </a:rPr>
              <a:t>no solo quién.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8176 (2017); OIDC Core (2014).</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M2M: sin factorizar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El invocador es un microservicio </a:t>
            </a:r>
            <a:r>
              <a:rPr sz="2400" b="0">
                <a:solidFill>
                  <a:srgbClr val="1B2738"/>
                </a:solidFill>
                <a:latin typeface="Lato"/>
              </a:rPr>
              <a:t>o job de CI.</a:t>
            </a:r>
          </a:p>
          <a:p>
            <a:pPr>
              <a:lnSpc>
                <a:spcPct val="102000"/>
              </a:lnSpc>
              <a:spcAft>
                <a:spcPts val="400"/>
              </a:spcAft>
            </a:pPr>
            <a:r>
              <a:rPr sz="2400" b="1">
                <a:solidFill>
                  <a:srgbClr val="1B2738"/>
                </a:solidFill>
                <a:latin typeface="Lato"/>
              </a:rPr>
              <a:t>No hay segundo factor: </a:t>
            </a:r>
            <a:r>
              <a:rPr sz="2400" b="0">
                <a:solidFill>
                  <a:srgbClr val="1B2738"/>
                </a:solidFill>
                <a:latin typeface="Lato"/>
              </a:rPr>
              <a:t>el equivalente es mTLS.</a:t>
            </a:r>
          </a:p>
          <a:p>
            <a:pPr>
              <a:lnSpc>
                <a:spcPct val="102000"/>
              </a:lnSpc>
              <a:spcAft>
                <a:spcPts val="400"/>
              </a:spcAft>
            </a:pPr>
            <a:r>
              <a:rPr sz="2400" b="1">
                <a:solidFill>
                  <a:srgbClr val="1B2738"/>
                </a:solidFill>
                <a:latin typeface="Lato"/>
              </a:rPr>
              <a:t>Certificados X.509 </a:t>
            </a:r>
            <a:r>
              <a:rPr sz="2400" b="0">
                <a:solidFill>
                  <a:srgbClr val="1B2738"/>
                </a:solidFill>
                <a:latin typeface="Lato"/>
              </a:rPr>
              <a:t>o Private Key JWT para firmado de peticiones.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7523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Apps modificadas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Las apps están en manos del atacante: </a:t>
            </a:r>
            <a:r>
              <a:rPr sz="2400" b="0">
                <a:solidFill>
                  <a:srgbClr val="1B2738"/>
                </a:solidFill>
                <a:latin typeface="Lato"/>
              </a:rPr>
              <a:t>modificables, descompilables.</a:t>
            </a:r>
          </a:p>
          <a:p>
            <a:pPr>
              <a:lnSpc>
                <a:spcPct val="102000"/>
              </a:lnSpc>
              <a:spcAft>
                <a:spcPts val="400"/>
              </a:spcAft>
            </a:pPr>
            <a:r>
              <a:rPr sz="2400" b="1">
                <a:solidFill>
                  <a:srgbClr val="1B2738"/>
                </a:solidFill>
                <a:latin typeface="Lato"/>
              </a:rPr>
              <a:t>Riesgo: </a:t>
            </a:r>
            <a:r>
              <a:rPr sz="2400" b="0">
                <a:solidFill>
                  <a:srgbClr val="1B2738"/>
                </a:solidFill>
                <a:latin typeface="Lato"/>
              </a:rPr>
              <a:t>cliente Frankenstein que simula ser la app legítima.</a:t>
            </a:r>
          </a:p>
          <a:p>
            <a:pPr>
              <a:lnSpc>
                <a:spcPct val="102000"/>
              </a:lnSpc>
              <a:spcAft>
                <a:spcPts val="400"/>
              </a:spcAft>
            </a:pPr>
            <a:r>
              <a:rPr sz="2400" b="1">
                <a:solidFill>
                  <a:srgbClr val="1B2738"/>
                </a:solidFill>
                <a:latin typeface="Lato"/>
              </a:rPr>
              <a:t>Desactivan SSL pinning, </a:t>
            </a:r>
            <a:r>
              <a:rPr sz="2400" b="0">
                <a:solidFill>
                  <a:srgbClr val="1B2738"/>
                </a:solidFill>
                <a:latin typeface="Lato"/>
              </a:rPr>
              <a:t>extraen secretos, llaman a la API.</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Mobile Top 10 (2024).</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PKCE: candado del código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code_verifier: </a:t>
            </a:r>
            <a:r>
              <a:rPr sz="2200" b="0">
                <a:solidFill>
                  <a:srgbClr val="1B2738"/>
                </a:solidFill>
                <a:latin typeface="Lato"/>
              </a:rPr>
              <a:t>string aleatorio generado por el cliente.</a:t>
            </a:r>
          </a:p>
          <a:p>
            <a:pPr>
              <a:lnSpc>
                <a:spcPct val="102000"/>
              </a:lnSpc>
              <a:spcAft>
                <a:spcPts val="400"/>
              </a:spcAft>
            </a:pPr>
            <a:r>
              <a:rPr sz="2200" b="1">
                <a:solidFill>
                  <a:srgbClr val="1B2738"/>
                </a:solidFill>
                <a:latin typeface="Lato"/>
              </a:rPr>
              <a:t>code_challenge: </a:t>
            </a:r>
            <a:r>
              <a:rPr sz="2200" b="0">
                <a:solidFill>
                  <a:srgbClr val="1B2738"/>
                </a:solidFill>
                <a:latin typeface="Lato"/>
              </a:rPr>
              <a:t>hash del verifier, enviado al pedir el código.</a:t>
            </a:r>
          </a:p>
          <a:p>
            <a:pPr>
              <a:lnSpc>
                <a:spcPct val="102000"/>
              </a:lnSpc>
              <a:spcAft>
                <a:spcPts val="400"/>
              </a:spcAft>
            </a:pPr>
            <a:r>
              <a:rPr sz="2200" b="1">
                <a:solidFill>
                  <a:srgbClr val="1B2738"/>
                </a:solidFill>
                <a:latin typeface="Lato"/>
              </a:rPr>
              <a:t>Al canjear: </a:t>
            </a:r>
            <a:r>
              <a:rPr sz="2200" b="0">
                <a:solidFill>
                  <a:srgbClr val="1B2738"/>
                </a:solidFill>
                <a:latin typeface="Lato"/>
              </a:rPr>
              <a:t>el verifier prueba la posesión.</a:t>
            </a:r>
          </a:p>
          <a:p>
            <a:pPr>
              <a:lnSpc>
                <a:spcPct val="102000"/>
              </a:lnSpc>
              <a:spcAft>
                <a:spcPts val="400"/>
              </a:spcAft>
            </a:pPr>
            <a:r>
              <a:rPr sz="2200" b="1">
                <a:solidFill>
                  <a:srgbClr val="1B2738"/>
                </a:solidFill>
                <a:latin typeface="Lato"/>
              </a:rPr>
              <a:t>Obligatorio hoy </a:t>
            </a:r>
            <a:r>
              <a:rPr sz="2200" b="0">
                <a:solidFill>
                  <a:srgbClr val="1B2738"/>
                </a:solidFill>
                <a:latin typeface="Lato"/>
              </a:rPr>
              <a:t>en clientes públicos (RFC 9700).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7636 (2015); RFC 9700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 Attestation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Android: </a:t>
            </a:r>
            <a:r>
              <a:rPr sz="2200" b="0">
                <a:solidFill>
                  <a:srgbClr val="1B2738"/>
                </a:solidFill>
                <a:latin typeface="Lato"/>
              </a:rPr>
              <a:t>Play Integrity API.</a:t>
            </a:r>
          </a:p>
          <a:p>
            <a:pPr>
              <a:lnSpc>
                <a:spcPct val="102000"/>
              </a:lnSpc>
              <a:spcAft>
                <a:spcPts val="400"/>
              </a:spcAft>
            </a:pPr>
            <a:r>
              <a:rPr sz="2200" b="1">
                <a:solidFill>
                  <a:srgbClr val="1B2738"/>
                </a:solidFill>
                <a:latin typeface="Lato"/>
              </a:rPr>
              <a:t>iOS: </a:t>
            </a:r>
            <a:r>
              <a:rPr sz="2200" b="0">
                <a:solidFill>
                  <a:srgbClr val="1B2738"/>
                </a:solidFill>
                <a:latin typeface="Lato"/>
              </a:rPr>
              <a:t>DeviceCheck / App Attest.</a:t>
            </a:r>
          </a:p>
          <a:p>
            <a:pPr>
              <a:lnSpc>
                <a:spcPct val="102000"/>
              </a:lnSpc>
              <a:spcAft>
                <a:spcPts val="400"/>
              </a:spcAft>
            </a:pPr>
            <a:r>
              <a:rPr sz="2200" b="1">
                <a:solidFill>
                  <a:srgbClr val="1B2738"/>
                </a:solidFill>
                <a:latin typeface="Lato"/>
              </a:rPr>
              <a:t>Verifica el binario no fue modificado </a:t>
            </a:r>
            <a:r>
              <a:rPr sz="2200" b="0">
                <a:solidFill>
                  <a:srgbClr val="1B2738"/>
                </a:solidFill>
                <a:latin typeface="Lato"/>
              </a:rPr>
              <a:t>y emite token de attestation.</a:t>
            </a:r>
          </a:p>
          <a:p>
            <a:pPr>
              <a:lnSpc>
                <a:spcPct val="102000"/>
              </a:lnSpc>
              <a:spcAft>
                <a:spcPts val="400"/>
              </a:spcAft>
            </a:pPr>
            <a:r>
              <a:rPr sz="2200" b="1">
                <a:solidFill>
                  <a:srgbClr val="1B2738"/>
                </a:solidFill>
                <a:latin typeface="Lato"/>
              </a:rPr>
              <a:t>La API lo verifica </a:t>
            </a:r>
            <a:r>
              <a:rPr sz="2200" b="0">
                <a:solidFill>
                  <a:srgbClr val="1B2738"/>
                </a:solidFill>
                <a:latin typeface="Lato"/>
              </a:rPr>
              <a:t>antes de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Play Integrity; Apple DeviceCheck.</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Mobile: tres capas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App Attestation: </a:t>
            </a:r>
            <a:r>
              <a:rPr sz="2200" b="0">
                <a:solidFill>
                  <a:srgbClr val="1B2738"/>
                </a:solidFill>
                <a:latin typeface="Lato"/>
              </a:rPr>
              <a:t>el binario es legítimo.</a:t>
            </a:r>
          </a:p>
          <a:p>
            <a:pPr>
              <a:lnSpc>
                <a:spcPct val="102000"/>
              </a:lnSpc>
              <a:spcAft>
                <a:spcPts val="400"/>
              </a:spcAft>
            </a:pPr>
            <a:r>
              <a:rPr sz="2200" b="1">
                <a:solidFill>
                  <a:srgbClr val="1B2738"/>
                </a:solidFill>
                <a:latin typeface="Lato"/>
              </a:rPr>
              <a:t>PKCE: </a:t>
            </a:r>
            <a:r>
              <a:rPr sz="2200" b="0">
                <a:solidFill>
                  <a:srgbClr val="1B2738"/>
                </a:solidFill>
                <a:latin typeface="Lato"/>
              </a:rPr>
              <a:t>el código no se puede reutilizar.</a:t>
            </a:r>
          </a:p>
          <a:p>
            <a:pPr>
              <a:lnSpc>
                <a:spcPct val="102000"/>
              </a:lnSpc>
              <a:spcAft>
                <a:spcPts val="400"/>
              </a:spcAft>
            </a:pPr>
            <a:r>
              <a:rPr sz="2200" b="1">
                <a:solidFill>
                  <a:srgbClr val="1B2738"/>
                </a:solidFill>
                <a:latin typeface="Lato"/>
              </a:rPr>
              <a:t>DPoP: </a:t>
            </a:r>
            <a:r>
              <a:rPr sz="2200" b="0">
                <a:solidFill>
                  <a:srgbClr val="1B2738"/>
                </a:solidFill>
                <a:latin typeface="Lato"/>
              </a:rPr>
              <a:t>el token no sirve en otro dispositivo.</a:t>
            </a:r>
          </a:p>
          <a:p>
            <a:pPr>
              <a:lnSpc>
                <a:spcPct val="102000"/>
              </a:lnSpc>
              <a:spcAft>
                <a:spcPts val="400"/>
              </a:spcAft>
            </a:pPr>
            <a:r>
              <a:rPr sz="2200" b="1">
                <a:solidFill>
                  <a:srgbClr val="1B2738"/>
                </a:solidFill>
                <a:latin typeface="Lato"/>
              </a:rPr>
              <a:t>Cliente Frankenstein: </a:t>
            </a:r>
            <a:r>
              <a:rPr sz="2200" b="0">
                <a:solidFill>
                  <a:srgbClr val="1B2738"/>
                </a:solidFill>
                <a:latin typeface="Lato"/>
              </a:rPr>
              <a:t>sin binario legítimo, sin PKCE, sin DPoP.</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Apple; RFC 7636; RFC 9449.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vs mTLS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graphicFrame>
        <p:nvGraphicFramePr>
          <p:cNvPr id="5" name="Table 4"/>
          <p:cNvGraphicFramePr>
            <a:graphicFrameLocks noGrp="1"/>
          </p:cNvGraphicFramePr>
          <p:nvPr/>
        </p:nvGraphicFramePr>
        <p:xfrm>
          <a:off x="571550" y="1724000"/>
          <a:ext cx="8250899" cy="3767300"/>
        </p:xfrm>
        <a:graphic>
          <a:graphicData uri="http://schemas.openxmlformats.org/drawingml/2006/table">
            <a:tbl>
              <a:tblPr firstRow="1">
                <a:tableStyleId>{5C22544A-7EE6-4342-B048-85BDC9FD1C3A}</a:tableStyleId>
              </a:tblPr>
              <a:tblGrid>
                <a:gridCol w="2605547"/>
                <a:gridCol w="2822676"/>
                <a:gridCol w="2822676"/>
              </a:tblGrid>
              <a:tr h="753460">
                <a:tc>
                  <a:txBody>
                    <a:bodyPr wrap="square"/>
                    <a:lstStyle/>
                    <a:p>
                      <a:r>
                        <a:rPr sz="1300" b="1">
                          <a:solidFill>
                            <a:srgbClr val="FFFFFF"/>
                          </a:solidFill>
                          <a:latin typeface="Lato"/>
                        </a:rPr>
                        <a:t>Característica</a:t>
                      </a:r>
                    </a:p>
                  </a:txBody>
                  <a:tcPr anchor="ctr" marL="80000" marR="60000" marT="20000" marB="20000">
                    <a:solidFill>
                      <a:srgbClr val="1B2738"/>
                    </a:solidFill>
                  </a:tcPr>
                </a:tc>
                <a:tc>
                  <a:txBody>
                    <a:bodyPr wrap="square"/>
                    <a:lstStyle/>
                    <a:p>
                      <a:r>
                        <a:rPr sz="1300" b="1">
                          <a:solidFill>
                            <a:srgbClr val="FFFFFF"/>
                          </a:solidFill>
                          <a:latin typeface="Lato"/>
                        </a:rPr>
                        <a:t>mTLS</a:t>
                      </a:r>
                    </a:p>
                  </a:txBody>
                  <a:tcPr anchor="ctr" marL="80000" marR="60000" marT="20000" marB="20000">
                    <a:solidFill>
                      <a:srgbClr val="1B2738"/>
                    </a:solidFill>
                  </a:tcPr>
                </a:tc>
                <a:tc>
                  <a:txBody>
                    <a:bodyPr wrap="square"/>
                    <a:lstStyle/>
                    <a:p>
                      <a:r>
                        <a:rPr sz="1300" b="1">
                          <a:solidFill>
                            <a:srgbClr val="FFFFFF"/>
                          </a:solidFill>
                          <a:latin typeface="Lato"/>
                        </a:rPr>
                        <a:t>DPoP</a:t>
                      </a:r>
                    </a:p>
                  </a:txBody>
                  <a:tcPr anchor="ctr" marL="80000" marR="60000" marT="20000" marB="20000">
                    <a:solidFill>
                      <a:srgbClr val="1B2738"/>
                    </a:solidFill>
                  </a:tcPr>
                </a:tc>
              </a:tr>
              <a:tr h="753460">
                <a:tc>
                  <a:txBody>
                    <a:bodyPr wrap="square"/>
                    <a:lstStyle/>
                    <a:p>
                      <a:r>
                        <a:rPr sz="1300" b="1">
                          <a:solidFill>
                            <a:srgbClr val="1B2738"/>
                          </a:solidFill>
                          <a:latin typeface="Lato"/>
                        </a:rPr>
                        <a:t>Capa OSI</a:t>
                      </a:r>
                    </a:p>
                  </a:txBody>
                  <a:tcPr anchor="ctr" marL="80000" marR="60000" marT="20000" marB="20000">
                    <a:solidFill>
                      <a:srgbClr val="FFFFFF"/>
                    </a:solidFill>
                  </a:tcPr>
                </a:tc>
                <a:tc>
                  <a:txBody>
                    <a:bodyPr wrap="square"/>
                    <a:lstStyle/>
                    <a:p>
                      <a:r>
                        <a:rPr sz="1300" b="0">
                          <a:solidFill>
                            <a:srgbClr val="1B2738"/>
                          </a:solidFill>
                          <a:latin typeface="Lato"/>
                        </a:rPr>
                        <a:t>Capa 4 (Transporte)</a:t>
                      </a:r>
                    </a:p>
                  </a:txBody>
                  <a:tcPr anchor="ctr" marL="80000" marR="60000" marT="20000" marB="20000">
                    <a:solidFill>
                      <a:srgbClr val="FFFFFF"/>
                    </a:solidFill>
                  </a:tcPr>
                </a:tc>
                <a:tc>
                  <a:txBody>
                    <a:bodyPr wrap="square"/>
                    <a:lstStyle/>
                    <a:p>
                      <a:r>
                        <a:rPr sz="1300" b="0">
                          <a:solidFill>
                            <a:srgbClr val="1B2738"/>
                          </a:solidFill>
                          <a:latin typeface="Lato"/>
                        </a:rPr>
                        <a:t>Capa 7 (Aplicación)</a:t>
                      </a:r>
                    </a:p>
                  </a:txBody>
                  <a:tcPr anchor="ctr" marL="80000" marR="60000" marT="20000" marB="20000">
                    <a:solidFill>
                      <a:srgbClr val="FFFFFF"/>
                    </a:solidFill>
                  </a:tcPr>
                </a:tc>
              </a:tr>
              <a:tr h="753460">
                <a:tc>
                  <a:txBody>
                    <a:bodyPr wrap="square"/>
                    <a:lstStyle/>
                    <a:p>
                      <a:r>
                        <a:rPr sz="1300" b="1">
                          <a:solidFill>
                            <a:srgbClr val="1B2738"/>
                          </a:solidFill>
                          <a:latin typeface="Lato"/>
                        </a:rPr>
                        <a:t>Mecanismo</a:t>
                      </a:r>
                    </a:p>
                  </a:txBody>
                  <a:tcPr anchor="ctr" marL="80000" marR="60000" marT="20000" marB="20000">
                    <a:solidFill>
                      <a:srgbClr val="EAF2FB"/>
                    </a:solidFill>
                  </a:tcPr>
                </a:tc>
                <a:tc>
                  <a:txBody>
                    <a:bodyPr wrap="square"/>
                    <a:lstStyle/>
                    <a:p>
                      <a:r>
                        <a:rPr sz="1300" b="0">
                          <a:solidFill>
                            <a:srgbClr val="1B2738"/>
                          </a:solidFill>
                          <a:latin typeface="Lato"/>
                        </a:rPr>
                        <a:t>Certificado X.509 en TLS</a:t>
                      </a:r>
                    </a:p>
                  </a:txBody>
                  <a:tcPr anchor="ctr" marL="80000" marR="60000" marT="20000" marB="20000">
                    <a:solidFill>
                      <a:srgbClr val="EAF2FB"/>
                    </a:solidFill>
                  </a:tcPr>
                </a:tc>
                <a:tc>
                  <a:txBody>
                    <a:bodyPr wrap="square"/>
                    <a:lstStyle/>
                    <a:p>
                      <a:r>
                        <a:rPr sz="1300" b="0">
                          <a:solidFill>
                            <a:srgbClr val="1B2738"/>
                          </a:solidFill>
                          <a:latin typeface="Lato"/>
                        </a:rPr>
                        <a:t>JWT firmado en header HTTP</a:t>
                      </a:r>
                    </a:p>
                  </a:txBody>
                  <a:tcPr anchor="ctr" marL="80000" marR="60000" marT="20000" marB="20000">
                    <a:solidFill>
                      <a:srgbClr val="EAF2FB"/>
                    </a:solidFill>
                  </a:tcPr>
                </a:tc>
              </a:tr>
              <a:tr h="753460">
                <a:tc>
                  <a:txBody>
                    <a:bodyPr wrap="square"/>
                    <a:lstStyle/>
                    <a:p>
                      <a:r>
                        <a:rPr sz="1300" b="1">
                          <a:solidFill>
                            <a:srgbClr val="1B2738"/>
                          </a:solidFill>
                          <a:latin typeface="Lato"/>
                        </a:rPr>
                        <a:t>Gestión de claves</a:t>
                      </a:r>
                    </a:p>
                  </a:txBody>
                  <a:tcPr anchor="ctr" marL="80000" marR="60000" marT="20000" marB="20000">
                    <a:solidFill>
                      <a:srgbClr val="FFFFFF"/>
                    </a:solidFill>
                  </a:tcPr>
                </a:tc>
                <a:tc>
                  <a:txBody>
                    <a:bodyPr wrap="square"/>
                    <a:lstStyle/>
                    <a:p>
                      <a:r>
                        <a:rPr sz="1300" b="0">
                          <a:solidFill>
                            <a:srgbClr val="1B2738"/>
                          </a:solidFill>
                          <a:latin typeface="Lato"/>
                        </a:rPr>
                        <a:t>Compleja (PKI)</a:t>
                      </a:r>
                    </a:p>
                  </a:txBody>
                  <a:tcPr anchor="ctr" marL="80000" marR="60000" marT="20000" marB="20000">
                    <a:solidFill>
                      <a:srgbClr val="FFFFFF"/>
                    </a:solidFill>
                  </a:tcPr>
                </a:tc>
                <a:tc>
                  <a:txBody>
                    <a:bodyPr wrap="square"/>
                    <a:lstStyle/>
                    <a:p>
                      <a:r>
                        <a:rPr sz="1300" b="0">
                          <a:solidFill>
                            <a:srgbClr val="1B2738"/>
                          </a:solidFill>
                          <a:latin typeface="Lato"/>
                        </a:rPr>
                        <a:t>Sin PKI, par dinámico</a:t>
                      </a:r>
                    </a:p>
                  </a:txBody>
                  <a:tcPr anchor="ctr" marL="80000" marR="60000" marT="20000" marB="20000">
                    <a:solidFill>
                      <a:srgbClr val="FFFFFF"/>
                    </a:solidFill>
                  </a:tcPr>
                </a:tc>
              </a:tr>
              <a:tr h="753460">
                <a:tc>
                  <a:txBody>
                    <a:bodyPr wrap="square"/>
                    <a:lstStyle/>
                    <a:p>
                      <a:r>
                        <a:rPr sz="1300" b="1">
                          <a:solidFill>
                            <a:srgbClr val="1B2738"/>
                          </a:solidFill>
                          <a:latin typeface="Lato"/>
                        </a:rPr>
                        <a:t>Ideal para</a:t>
                      </a:r>
                    </a:p>
                  </a:txBody>
                  <a:tcPr anchor="ctr" marL="80000" marR="60000" marT="20000" marB="20000">
                    <a:solidFill>
                      <a:srgbClr val="EAF2FB"/>
                    </a:solidFill>
                  </a:tcPr>
                </a:tc>
                <a:tc>
                  <a:txBody>
                    <a:bodyPr wrap="square"/>
                    <a:lstStyle/>
                    <a:p>
                      <a:r>
                        <a:rPr sz="1300" b="0">
                          <a:solidFill>
                            <a:srgbClr val="1B2738"/>
                          </a:solidFill>
                          <a:latin typeface="Lato"/>
                        </a:rPr>
                        <a:t>M2M, microservicios</a:t>
                      </a:r>
                    </a:p>
                  </a:txBody>
                  <a:tcPr anchor="ctr" marL="80000" marR="60000" marT="20000" marB="20000">
                    <a:solidFill>
                      <a:srgbClr val="EAF2FB"/>
                    </a:solidFill>
                  </a:tcPr>
                </a:tc>
                <a:tc>
                  <a:txBody>
                    <a:bodyPr wrap="square"/>
                    <a:lstStyle/>
                    <a:p>
                      <a:r>
                        <a:rPr sz="1300" b="0">
                          <a:solidFill>
                            <a:srgbClr val="1B2738"/>
                          </a:solidFill>
                          <a:latin typeface="Lato"/>
                        </a:rPr>
                        <a:t>SPAs, móviles</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prueba en HTTP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Par de claves dinámico: </a:t>
            </a:r>
            <a:r>
              <a:rPr sz="2200" b="0">
                <a:solidFill>
                  <a:srgbClr val="1B2738"/>
                </a:solidFill>
                <a:latin typeface="Lato"/>
              </a:rPr>
              <a:t>generado en el momento.</a:t>
            </a:r>
          </a:p>
          <a:p>
            <a:pPr>
              <a:lnSpc>
                <a:spcPct val="102000"/>
              </a:lnSpc>
              <a:spcAft>
                <a:spcPts val="400"/>
              </a:spcAft>
            </a:pPr>
            <a:r>
              <a:rPr sz="2200" b="1">
                <a:solidFill>
                  <a:srgbClr val="1B2738"/>
                </a:solidFill>
                <a:latin typeface="Lato"/>
              </a:rPr>
              <a:t>Token atado a la clave pública. </a:t>
            </a:r>
            <a:r>
              <a:rPr sz="2200" b="0">
                <a:solidFill>
                  <a:srgbClr val="1B2738"/>
                </a:solidFill>
                <a:latin typeface="Lato"/>
              </a:rPr>
              <a:t>La privada permanece en el dispositivo.</a:t>
            </a:r>
          </a:p>
          <a:p>
            <a:pPr>
              <a:lnSpc>
                <a:spcPct val="102000"/>
              </a:lnSpc>
              <a:spcAft>
                <a:spcPts val="400"/>
              </a:spcAft>
            </a:pPr>
            <a:r>
              <a:rPr sz="2200" b="1">
                <a:solidFill>
                  <a:srgbClr val="1B2738"/>
                </a:solidFill>
                <a:latin typeface="Lato"/>
              </a:rPr>
              <a:t>Header DPoP en cada request: </a:t>
            </a:r>
            <a:r>
              <a:rPr sz="2200" b="0">
                <a:solidFill>
                  <a:srgbClr val="1B2738"/>
                </a:solidFill>
                <a:latin typeface="Lato"/>
              </a:rPr>
              <a:t>JWT firmado con método y URL.</a:t>
            </a:r>
          </a:p>
          <a:p>
            <a:pPr>
              <a:lnSpc>
                <a:spcPct val="102000"/>
              </a:lnSpc>
              <a:spcAft>
                <a:spcPts val="400"/>
              </a:spcAft>
            </a:pPr>
            <a:r>
              <a:rPr sz="2200" b="1">
                <a:solidFill>
                  <a:srgbClr val="1B2738"/>
                </a:solidFill>
                <a:latin typeface="Lato"/>
              </a:rPr>
              <a:t>Funciona a través de proxies, WAFs </a:t>
            </a:r>
            <a:r>
              <a:rPr sz="2200" b="0">
                <a:solidFill>
                  <a:srgbClr val="1B2738"/>
                </a:solidFill>
                <a:latin typeface="Lato"/>
              </a:rPr>
              <a:t>y terminaciones 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9449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vs mTLS: resumen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mTLS: </a:t>
            </a:r>
            <a:r>
              <a:rPr sz="2200" b="0">
                <a:solidFill>
                  <a:srgbClr val="1B2738"/>
                </a:solidFill>
                <a:latin typeface="Lato"/>
              </a:rPr>
              <a:t>capa 4, certificados, PKI, ideal M2M.</a:t>
            </a:r>
          </a:p>
          <a:p>
            <a:pPr>
              <a:lnSpc>
                <a:spcPct val="102000"/>
              </a:lnSpc>
              <a:spcAft>
                <a:spcPts val="400"/>
              </a:spcAft>
            </a:pPr>
            <a:r>
              <a:rPr sz="2200" b="1">
                <a:solidFill>
                  <a:srgbClr val="1B2738"/>
                </a:solidFill>
                <a:latin typeface="Lato"/>
              </a:rPr>
              <a:t>DPoP: </a:t>
            </a:r>
            <a:r>
              <a:rPr sz="2200" b="0">
                <a:solidFill>
                  <a:srgbClr val="1B2738"/>
                </a:solidFill>
                <a:latin typeface="Lato"/>
              </a:rPr>
              <a:t>capa 7, headers HTTP, ideal clientes públicos.</a:t>
            </a:r>
          </a:p>
          <a:p>
            <a:pPr>
              <a:lnSpc>
                <a:spcPct val="102000"/>
              </a:lnSpc>
              <a:spcAft>
                <a:spcPts val="400"/>
              </a:spcAft>
            </a:pPr>
            <a:r>
              <a:rPr sz="2200" b="1">
                <a:solidFill>
                  <a:srgbClr val="1B2738"/>
                </a:solidFill>
                <a:latin typeface="Lato"/>
              </a:rPr>
              <a:t>Ambos atan el token </a:t>
            </a:r>
            <a:r>
              <a:rPr sz="2200" b="0">
                <a:solidFill>
                  <a:srgbClr val="1B2738"/>
                </a:solidFill>
                <a:latin typeface="Lato"/>
              </a:rPr>
              <a:t>al cliente legítimo.</a:t>
            </a:r>
          </a:p>
          <a:p>
            <a:pPr>
              <a:lnSpc>
                <a:spcPct val="102000"/>
              </a:lnSpc>
              <a:spcAft>
                <a:spcPts val="400"/>
              </a:spcAft>
            </a:pPr>
            <a:r>
              <a:rPr sz="2200" b="1">
                <a:solidFill>
                  <a:srgbClr val="1B2738"/>
                </a:solidFill>
                <a:latin typeface="Lato"/>
              </a:rPr>
              <a:t>Robar el token </a:t>
            </a:r>
            <a:r>
              <a:rPr sz="2200" b="0">
                <a:solidFill>
                  <a:srgbClr val="1B2738"/>
                </a:solidFill>
                <a:latin typeface="Lato"/>
              </a:rPr>
              <a:t>sin la prueba criptográfica: inútil.</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TLS, Gateway, Zero Trust</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ARQUITECTURA</a:t>
            </a:r>
          </a:p>
        </p:txBody>
      </p:sp>
      <p:pic>
        <p:nvPicPr>
          <p:cNvPr id="5" name="Picture 4" descr="d_circles.png"/>
          <p:cNvPicPr>
            <a:picLocks noChangeAspect="1"/>
          </p:cNvPicPr>
          <p:nvPr/>
        </p:nvPicPr>
        <p:blipFill>
          <a:blip r:embed="rId2"/>
          <a:stretch>
            <a:fillRect/>
          </a:stretch>
        </p:blipFill>
        <p:spPr>
          <a:xfrm>
            <a:off x="1958532" y="1524000"/>
            <a:ext cx="54769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 NIST SP 800-207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Canal seguro: límites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TLS: </a:t>
            </a:r>
            <a:r>
              <a:rPr sz="2200" b="0">
                <a:solidFill>
                  <a:srgbClr val="1B2738"/>
                </a:solidFill>
                <a:latin typeface="Lato"/>
              </a:rPr>
              <a:t>protege en tránsito, no en el cliente.</a:t>
            </a:r>
          </a:p>
          <a:p>
            <a:pPr>
              <a:lnSpc>
                <a:spcPct val="102000"/>
              </a:lnSpc>
              <a:spcAft>
                <a:spcPts val="400"/>
              </a:spcAft>
            </a:pPr>
            <a:r>
              <a:rPr sz="2200" b="1">
                <a:solidFill>
                  <a:srgbClr val="1B2738"/>
                </a:solidFill>
                <a:latin typeface="Lato"/>
              </a:rPr>
              <a:t>Gateway: </a:t>
            </a:r>
            <a:r>
              <a:rPr sz="2200" b="0">
                <a:solidFill>
                  <a:srgbClr val="1B2738"/>
                </a:solidFill>
                <a:latin typeface="Lato"/>
              </a:rPr>
              <a:t>throttling, WAF, validación de firma, revocación.</a:t>
            </a:r>
          </a:p>
          <a:p>
            <a:pPr>
              <a:lnSpc>
                <a:spcPct val="102000"/>
              </a:lnSpc>
              <a:spcAft>
                <a:spcPts val="400"/>
              </a:spcAft>
            </a:pPr>
            <a:r>
              <a:rPr sz="2200" b="1">
                <a:solidFill>
                  <a:srgbClr val="1B2738"/>
                </a:solidFill>
                <a:latin typeface="Lato"/>
              </a:rPr>
              <a:t>Error común: </a:t>
            </a:r>
            <a:r>
              <a:rPr sz="2200" b="0">
                <a:solidFill>
                  <a:srgbClr val="1B2738"/>
                </a:solidFill>
                <a:latin typeface="Lato"/>
              </a:rPr>
              <a:t>microservicios confían ciegamente.</a:t>
            </a:r>
          </a:p>
          <a:p>
            <a:pPr>
              <a:lnSpc>
                <a:spcPct val="102000"/>
              </a:lnSpc>
              <a:spcAft>
                <a:spcPts val="400"/>
              </a:spcAft>
            </a:pPr>
            <a:r>
              <a:rPr sz="2200" b="1">
                <a:solidFill>
                  <a:srgbClr val="1B2738"/>
                </a:solidFill>
                <a:latin typeface="Lato"/>
              </a:rPr>
              <a:t>Zero Trust: </a:t>
            </a:r>
            <a:r>
              <a:rPr sz="2200" b="0">
                <a:solidFill>
                  <a:srgbClr val="1B2738"/>
                </a:solidFill>
                <a:latin typeface="Lato"/>
              </a:rPr>
              <a:t>propagar claims, autorizar en cada capa.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ARQUITECTURA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NIST SP 800-207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ID Uruguay</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OIDC con bearer tokens: </a:t>
            </a:r>
            <a:r>
              <a:rPr sz="2400" b="0">
                <a:solidFill>
                  <a:srgbClr val="1B2738"/>
                </a:solidFill>
                <a:latin typeface="Lato"/>
              </a:rPr>
              <a:t>tokens de larga vida sin rotación.</a:t>
            </a:r>
          </a:p>
          <a:p>
            <a:pPr>
              <a:lnSpc>
                <a:spcPct val="102000"/>
              </a:lnSpc>
              <a:spcAft>
                <a:spcPts val="400"/>
              </a:spcAft>
            </a:pPr>
            <a:r>
              <a:rPr sz="2400" b="1">
                <a:solidFill>
                  <a:srgbClr val="1B2738"/>
                </a:solidFill>
                <a:latin typeface="Lato"/>
              </a:rPr>
              <a:t>SPAs con token en localStorage: </a:t>
            </a:r>
            <a:r>
              <a:rPr sz="2400" b="0">
                <a:solidFill>
                  <a:srgbClr val="1B2738"/>
                </a:solidFill>
                <a:latin typeface="Lato"/>
              </a:rPr>
              <a:t>robo por XSS.</a:t>
            </a:r>
          </a:p>
          <a:p>
            <a:pPr>
              <a:lnSpc>
                <a:spcPct val="102000"/>
              </a:lnSpc>
              <a:spcAft>
                <a:spcPts val="400"/>
              </a:spcAft>
            </a:pPr>
            <a:r>
              <a:rPr sz="2400" b="1">
                <a:solidFill>
                  <a:srgbClr val="1B2738"/>
                </a:solidFill>
                <a:latin typeface="Lato"/>
              </a:rPr>
              <a:t>Mitigaciones: </a:t>
            </a:r>
            <a:r>
              <a:rPr sz="2400" b="0">
                <a:solidFill>
                  <a:srgbClr val="1B2738"/>
                </a:solidFill>
                <a:latin typeface="Lato"/>
              </a:rPr>
              <a:t>DPoP, PKCE, Step-Up para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CASO URUGUAY</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AGESIC / ID Uruguay; OWASP.</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Tres acciones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Uno: </a:t>
            </a:r>
            <a:r>
              <a:rPr sz="2400" b="0">
                <a:solidFill>
                  <a:srgbClr val="1B2738"/>
                </a:solidFill>
                <a:latin typeface="Lato"/>
              </a:rPr>
              <a:t>auditar la vida de los tokens.</a:t>
            </a:r>
          </a:p>
          <a:p>
            <a:pPr>
              <a:lnSpc>
                <a:spcPct val="102000"/>
              </a:lnSpc>
              <a:spcAft>
                <a:spcPts val="400"/>
              </a:spcAft>
            </a:pPr>
            <a:r>
              <a:rPr sz="2400" b="1">
                <a:solidFill>
                  <a:srgbClr val="1B2738"/>
                </a:solidFill>
                <a:latin typeface="Lato"/>
              </a:rPr>
              <a:t>Dos: </a:t>
            </a:r>
            <a:r>
              <a:rPr sz="2400" b="0">
                <a:solidFill>
                  <a:srgbClr val="1B2738"/>
                </a:solidFill>
                <a:latin typeface="Lato"/>
              </a:rPr>
              <a:t>revisar almacenamiento en clientes.</a:t>
            </a:r>
          </a:p>
          <a:p>
            <a:pPr>
              <a:lnSpc>
                <a:spcPct val="102000"/>
              </a:lnSpc>
              <a:spcAft>
                <a:spcPts val="400"/>
              </a:spcAft>
            </a:pPr>
            <a:r>
              <a:rPr sz="2400" b="1">
                <a:solidFill>
                  <a:srgbClr val="1B2738"/>
                </a:solidFill>
                <a:latin typeface="Lato"/>
              </a:rPr>
              <a:t>Tres: </a:t>
            </a:r>
            <a:r>
              <a:rPr sz="2400" b="0">
                <a:solidFill>
                  <a:srgbClr val="1B2738"/>
                </a:solidFill>
                <a:latin typeface="Lato"/>
              </a:rPr>
              <a:t>identificar operaciones sensibles para Step-Up.</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Top 10 (2023); RFC 9700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20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se acaba. El riesgo no.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Autenticar es la puerta. </a:t>
            </a:r>
            <a:r>
              <a:rPr sz="2400" b="0">
                <a:solidFill>
                  <a:srgbClr val="1B2738"/>
                </a:solidFill>
                <a:latin typeface="Lato"/>
              </a:rPr>
              <a:t>Autorizar es la cerradura.</a:t>
            </a:r>
          </a:p>
          <a:p>
            <a:pPr>
              <a:lnSpc>
                <a:spcPct val="102000"/>
              </a:lnSpc>
              <a:spcAft>
                <a:spcPts val="400"/>
              </a:spcAft>
            </a:pPr>
            <a:r>
              <a:rPr sz="2400" b="1">
                <a:solidFill>
                  <a:srgbClr val="1B2738"/>
                </a:solidFill>
                <a:latin typeface="Lato"/>
              </a:rPr>
              <a:t>El token bearer es el presente. </a:t>
            </a:r>
            <a:r>
              <a:rPr sz="2400" b="0">
                <a:solidFill>
                  <a:srgbClr val="1B2738"/>
                </a:solidFill>
                <a:latin typeface="Lato"/>
              </a:rPr>
              <a:t>El sender-constrained es el siguiente paso.</a:t>
            </a:r>
          </a:p>
          <a:p>
            <a:pPr>
              <a:lnSpc>
                <a:spcPct val="102000"/>
              </a:lnSpc>
              <a:spcAft>
                <a:spcPts val="400"/>
              </a:spcAft>
            </a:pPr>
            <a:r>
              <a:rPr sz="2400" b="1">
                <a:solidFill>
                  <a:srgbClr val="1B2738"/>
                </a:solidFill>
                <a:latin typeface="Lato"/>
              </a:rPr>
              <a:t>La seguridad no está en el string: </a:t>
            </a:r>
            <a:r>
              <a:rPr sz="2400" b="0">
                <a:solidFill>
                  <a:srgbClr val="1B2738"/>
                </a:solidFill>
                <a:latin typeface="Lato"/>
              </a:rPr>
              <a:t>está en el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RFC 9449; RFC 9700.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20</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