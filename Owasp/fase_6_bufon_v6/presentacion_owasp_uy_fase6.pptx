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Lst>
  <p:sldSz cy="6858000" cx="12192000"/>
  <p:notesSz cx="6858000" cy="12192000"/>
  <p:embeddedFontLst>
    <p:embeddedFont>
      <p:font typeface="La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F+HbnaMg0VhR1Dmmezqh6geL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0" Type="http://schemas.openxmlformats.org/officeDocument/2006/relationships/font" Target="fonts/Lato-bold.fntdata"/><Relationship Id="rId11" Type="http://schemas.openxmlformats.org/officeDocument/2006/relationships/font" Target="fonts/Lato-italic.fntdata"/><Relationship Id="rId12" Type="http://schemas.openxmlformats.org/officeDocument/2006/relationships/font" Target="fonts/Lato-boldItalic.fntdata"/><Relationship Id="rId13" Type="http://customschemas.google.com/relationships/presentationmetadata" Target="metadata"/><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Buenas tardes. El arquetipo del bufón es uno de los más antiguos de la humanidad. No es un invento moderno: es una necesidad social de equilibrio. El rey necesitaba alguien que le dijera la verdad sin filtros. El bufón era el único que podía insultar al rey, siempre y cuando lo hiciera en rima o con una voltereta. Hoy vamos a recorrer esa historia y los paralelos con la seguridad.</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arquetipo del bufón está anclado históricamente en la Edad Media y el Renacimiento europeo, pero su raíz psicológica es el arquetipo del Trickster, el embaucador o payaso sagrado, presente en tribus indígenas desde hace milenios. No es un invento moderno, es una necesidad social de equilibrio.</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Heyoka se clasifica en antropología como payaso sagrado de la cultura Lakota, no como bufón de corte. No opera desde el cinismo ni busca destruir la hipocresía política, sino que actúa por un mandato espiritual. Hace todo al revés para provocar la risa, y esa risa tiene un propósito de sanación. Es la esencia pura del clown, pero cumple un rol social bufonesco al mantener a raya el ego de los líderes.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 las mitologías indígenas de Norteamérica, la figura más cercana al bufón cínico y destructivo no es un humano, sino el arquetipo del Trickster, el dios Coyote o el Cuervo, que miente, roba, engaña y rompe los tabúes para enseñar lecciones a la fuerza.</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diferencia teatral entre clown y bufón es clara. El clown es el niño eterno: trabaja desde la vulnerabilidad, el fracaso y la empatía. El bufón es el deforme, el paria, el cínico: trabaja desde la sátira, la parodia y la crítica social. El clown busca que lo quieras; el bufón busca incomodarte.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Triboulet, bufón de Francisco I de Francia en el siglo XVI, es el bufón más icónico de la historia. Era brillante, afilado y cruzaba todos los límites. Una vez le dio una nalgada al rey en público. Francisco I lo condenó a muerte, pero le concedió el derecho de elegir cómo morir. Triboulet respondió: elijo morir de viejo. Al rey le causó tanta gracia que le perdonó la vida.</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Will Sommers, bufón de Enrique VIII de Inglaterra, era el único hombre en toda Inglaterra que podía decirle la verdad, burlarse de su peso y calmar sus ataques de ira. Usaba una mezcla de clown y bufón para proteger a los cortesanos. Sobrevivió a Enrique VIII, conservó su puesto con sus sucesores y murió por causas naturales.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Stańczyk, bufón del rey Segismundo I de Polonia, era un bufón filósofo. Mientras la corte estaba de fiesta, él solía estar deprimido por las decisiones políticas del rey. Usaba la sátira para advertir sobre alianzas militares desastrosas. Hoy es recordado en Polonia como un símbolo de patriotismo e inteligencia política.</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Archibald Armstrong, bufón de Jacobo I y Carlos I de inglés, es el ejemplo del bufón que cruzó la línea. Se volvió rico, arrogante y empezó a insultar abiertamente a figuras intocables. Perdió el favor del rey, fue desterrado y terminó sus días viviendo en la desgracia fuera de los círculos de poder.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Darwin Desbocatti es la definición exacta de un bufón moderno. Opera desde la marginalidad, sin rostro visual en la radio, opinando desde fuera del establishment. Esto le otorga la inmunidad del bufón para decirle en la cara a políticos y empresarios las verdades más crudas. Su humor ácido y su sarcasmo son la rima del bufón medieval.</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bufones actuales existen y son potentes. Ricky Gervais en sus monólogos de los Globos de Oro se par frente a los actores más poderosos de Hollywood para destrozar su hipocresía. Jon Stewart y John Oliver son bufones periodísticos que exponen la corrupción. Peter Capusotto en Argentina expone los extremos de la cultura rioplatense.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Edad Media abarca desde el año 476 hasta 1492 o 1453. El bufón de corte con su traje de cascabeles y su estatus de inmunidad institucionalizada alcanzó su edad de oro al final de la Edad Media y durante el Renacimiento, siglos XIII al XVII.</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bufón caminaba por la cornisa más fina de la política: su trabajo era insultar al hombre que tenía el poder de ejecutarlo, y su única armadura era la gracia con la que lo hacía. Triboulet eligió morir de viejo y vivió. Armstrong perdió la gracia y terminó en la desgracia.</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pentester moderno opera como el bufón de corte: entra al sistema, encuentra lo que nadie quiere ver, y lo dice en la cara. Su única armadura es la autorización por escrito. Sin esa autorización, el pentester no es un bufón: es un criminal. La gracia es el alcance definido.</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paralelismo con la seguridad es directo. El bufón era el único que podía decirle al rey que sus defensas eran débiles. En seguridad, el pentester es el bufón moderno: dice en la cara lo que los cortesanos no se atreven a mencionar. Su inmunidad es la autorización escrita.</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bufón nos enseña una lección de seguridad: la verdad incómoda dicha a tiempo vale más que la adulación silenciosa. En seguridad, como en la corte, el que dice la verdad sin filtros es incómodo hasta que se agradece. Gracias.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línea de tiempo del bufón. Desde los payasos sagrados de las tribus ancestrales hasta los bufones de corte medievales y los satiristas modernos. El arquetipo no cambia: solo cambia el escenario.</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bufón y el sistema. El bufón opera desde fuera del establishment, igual que un pentester opera desde fuera del sistema. Ambos ven lo que los de dentro no pueden o no quieren ver.</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ecosistema del bufón. En el centro, el rey. Alrededor, los cortesanos que adulan. Y en el borde, el bufón que dice la verdad. En seguridad: en el centro, el sistema. Alrededor, los desarrolladores que confían. Y en el borde, el pentester que encuentra la falla.</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Del bufón al sender-constrained. El bufón medieval tenía inmunidad institucionalizada: su traje de cascabeles era su certificado. DPoP es el traje de cascabeles del token: sin esa prueba criptográfica, el token no sirve.</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Arquitectura de referencia. El gateway es la puerta de la corte: valida y deja pasar. Los microservicios son las habitaciones del rey: cada una con sus propias reglas. El bufón entra donde quiere porque tiene la autorización del rey.</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Top 10 visto por el bufón. BOLA: el rey mira el propio pedido y el del vecino. Broken Authentication: el rey confía en cualquier billete. SSRF: el rey mira hacia adentro cuando debería mirar hacia afuera. Cada vulnerabilidad es un bufón que nadie escuchó.</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out logo on corner">
  <p:cSld name="DEFAULT">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g3fba80d6a72_0_45"/>
          <p:cNvPicPr preferRelativeResize="0"/>
          <p:nvPr/>
        </p:nvPicPr>
        <p:blipFill>
          <a:blip r:embed="rId3">
            <a:alphaModFix/>
          </a:blip>
          <a:stretch>
            <a:fillRect/>
          </a:stretch>
        </p:blipFill>
        <p:spPr>
          <a:xfrm>
            <a:off x="9677400" y="5086350"/>
            <a:ext cx="2514600" cy="1771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logo on corner">
  <p:cSld name="CUSTOM_1">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g3fba80d6a72_0_48"/>
          <p:cNvSpPr txBox="1"/>
          <p:nvPr>
            <p:ph type="title"/>
          </p:nvPr>
        </p:nvSpPr>
        <p:spPr>
          <a:xfrm>
            <a:off x="773900" y="1571625"/>
            <a:ext cx="7143900" cy="18096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3fba80d6a72_0_48"/>
          <p:cNvSpPr txBox="1"/>
          <p:nvPr>
            <p:ph idx="2" type="title"/>
          </p:nvPr>
        </p:nvSpPr>
        <p:spPr>
          <a:xfrm>
            <a:off x="773900" y="3381225"/>
            <a:ext cx="9786900" cy="11931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fba80d6a72_0_48"/>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Font typeface="Lato"/>
              <a:buChar char="●"/>
              <a:defRPr>
                <a:latin typeface="Lato"/>
                <a:ea typeface="Lato"/>
                <a:cs typeface="Lato"/>
                <a:sym typeface="Lato"/>
              </a:defRPr>
            </a:lvl1pPr>
            <a:lvl2pPr indent="-228600" lvl="1" marL="914400" marR="0" rtl="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2">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fba80d6a72_0_52"/>
          <p:cNvSpPr/>
          <p:nvPr/>
        </p:nvSpPr>
        <p:spPr>
          <a:xfrm>
            <a:off x="548640" y="1078992"/>
            <a:ext cx="640200" cy="54900"/>
          </a:xfrm>
          <a:prstGeom prst="rect">
            <a:avLst/>
          </a:prstGeom>
          <a:solidFill>
            <a:srgbClr val="74AA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ba80d6a72_0_52"/>
          <p:cNvSpPr txBox="1"/>
          <p:nvPr>
            <p:ph idx="1" type="subTitle"/>
          </p:nvPr>
        </p:nvSpPr>
        <p:spPr>
          <a:xfrm>
            <a:off x="452438" y="488075"/>
            <a:ext cx="8489100" cy="543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3200"/>
              <a:buFont typeface="Lato"/>
              <a:buNone/>
              <a:defRPr b="1" sz="32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3fba80d6a72_0_52"/>
          <p:cNvSpPr txBox="1"/>
          <p:nvPr>
            <p:ph idx="2" type="body"/>
          </p:nvPr>
        </p:nvSpPr>
        <p:spPr>
          <a:xfrm>
            <a:off x="571550" y="1524000"/>
            <a:ext cx="8250900" cy="4167300"/>
          </a:xfrm>
          <a:prstGeom prst="rect">
            <a:avLst/>
          </a:prstGeom>
          <a:noFill/>
          <a:ln>
            <a:noFill/>
          </a:ln>
        </p:spPr>
        <p:txBody>
          <a:bodyPr anchorCtr="0" anchor="ctr" bIns="91425" lIns="91425" spcFirstLastPara="1" rIns="91425" wrap="square" tIns="91425">
            <a:noAutofit/>
          </a:bodyPr>
          <a:lstStyle>
            <a:lvl1pPr indent="-393700" lvl="0" marL="457200">
              <a:spcBef>
                <a:spcPts val="0"/>
              </a:spcBef>
              <a:spcAft>
                <a:spcPts val="0"/>
              </a:spcAft>
              <a:buSzPts val="2600"/>
              <a:buChar char="●"/>
              <a:defRPr sz="2600"/>
            </a:lvl1pPr>
            <a:lvl2pPr indent="-228600" lvl="1" marL="914400" marR="0" algn="l">
              <a:lnSpc>
                <a:spcPct val="100000"/>
              </a:lnSpc>
              <a:spcBef>
                <a:spcPts val="0"/>
              </a:spcBef>
              <a:spcAft>
                <a:spcPts val="0"/>
              </a:spcAft>
              <a:buNone/>
              <a:defRPr sz="2800">
                <a:solidFill>
                  <a:srgbClr val="1B2738"/>
                </a:solidFill>
                <a:latin typeface="Lato"/>
                <a:ea typeface="Lato"/>
                <a:cs typeface="Lato"/>
                <a:sym typeface="Lato"/>
              </a:defRPr>
            </a:lvl2pPr>
            <a:lvl3pPr indent="-393700" lvl="2" marL="1371600">
              <a:spcBef>
                <a:spcPts val="0"/>
              </a:spcBef>
              <a:spcAft>
                <a:spcPts val="0"/>
              </a:spcAft>
              <a:buSzPts val="2600"/>
              <a:buChar char="■"/>
              <a:defRPr sz="2600"/>
            </a:lvl3pPr>
            <a:lvl4pPr indent="-393700" lvl="3" marL="1828800">
              <a:spcBef>
                <a:spcPts val="0"/>
              </a:spcBef>
              <a:spcAft>
                <a:spcPts val="0"/>
              </a:spcAft>
              <a:buSzPts val="2600"/>
              <a:buChar char="●"/>
              <a:defRPr sz="2600"/>
            </a:lvl4pPr>
            <a:lvl5pPr indent="-393700" lvl="4" marL="2286000">
              <a:spcBef>
                <a:spcPts val="0"/>
              </a:spcBef>
              <a:spcAft>
                <a:spcPts val="0"/>
              </a:spcAft>
              <a:buSzPts val="2600"/>
              <a:buChar char="○"/>
              <a:defRPr sz="2600"/>
            </a:lvl5pPr>
            <a:lvl6pPr indent="-393700" lvl="5" marL="2743200">
              <a:spcBef>
                <a:spcPts val="0"/>
              </a:spcBef>
              <a:spcAft>
                <a:spcPts val="0"/>
              </a:spcAft>
              <a:buSzPts val="2600"/>
              <a:buChar char="■"/>
              <a:defRPr sz="2600"/>
            </a:lvl6pPr>
            <a:lvl7pPr indent="-393700" lvl="6" marL="3200400">
              <a:spcBef>
                <a:spcPts val="0"/>
              </a:spcBef>
              <a:spcAft>
                <a:spcPts val="0"/>
              </a:spcAft>
              <a:buSzPts val="2600"/>
              <a:buChar char="●"/>
              <a:defRPr sz="2600"/>
            </a:lvl7pPr>
            <a:lvl8pPr indent="-393700" lvl="7" marL="3657600">
              <a:spcBef>
                <a:spcPts val="0"/>
              </a:spcBef>
              <a:spcAft>
                <a:spcPts val="0"/>
              </a:spcAft>
              <a:buSzPts val="2600"/>
              <a:buChar char="○"/>
              <a:defRPr sz="2600"/>
            </a:lvl8pPr>
            <a:lvl9pPr indent="-393700" lvl="8" marL="4114800">
              <a:spcBef>
                <a:spcPts val="0"/>
              </a:spcBef>
              <a:spcAft>
                <a:spcPts val="0"/>
              </a:spcAft>
              <a:buSzPts val="2600"/>
              <a:buChar char="■"/>
              <a:defRPr sz="2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fba80d6a72_0_44"/>
          <p:cNvSpPr txBox="1"/>
          <p:nvPr>
            <p:ph type="title"/>
          </p:nvPr>
        </p:nvSpPr>
        <p:spPr>
          <a:xfrm>
            <a:off x="773900" y="1571625"/>
            <a:ext cx="7143900" cy="1809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g3fba80d6a72_0_44"/>
          <p:cNvSpPr txBox="1"/>
          <p:nvPr>
            <p:ph idx="2" type="title"/>
          </p:nvPr>
        </p:nvSpPr>
        <p:spPr>
          <a:xfrm>
            <a:off x="773900" y="3381225"/>
            <a:ext cx="9786900" cy="11931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g3fba80d6a72_0_44"/>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228600" lvl="1" marL="914400" marR="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mc:AlternateContent>
    <mc:Choice Requires="p14">
      <p:transition p14:dur="2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26.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3900" y="1200000"/>
            <a:ext cx="10900000" cy="2400000"/>
          </a:xfrm>
        </p:spPr>
        <p:txBody>
          <a:bodyPr wrap="square"/>
          <a:lstStyle/>
          <a:p>
            <a:r>
              <a:rPr sz="4800" b="1">
                <a:solidFill>
                  <a:srgbClr val="1B2738"/>
                </a:solidFill>
                <a:latin typeface="Lato"/>
              </a:rPr>
              <a:t>El arquetipo del bufón</a:t>
            </a:r>
          </a:p>
        </p:txBody>
      </p:sp>
      <p:sp>
        <p:nvSpPr>
          <p:cNvPr id="3" name="Title 2"/>
          <p:cNvSpPr>
            <a:spLocks noGrp="1"/>
          </p:cNvSpPr>
          <p:nvPr>
            <p:ph type="title" idx="2"/>
          </p:nvPr>
        </p:nvSpPr>
        <p:spPr>
          <a:xfrm>
            <a:off x="773900" y="3720000"/>
            <a:ext cx="10900000" cy="1200000"/>
          </a:xfrm>
        </p:spPr>
        <p:txBody>
          <a:bodyPr wrap="square"/>
          <a:lstStyle/>
          <a:p>
            <a:r>
              <a:rPr sz="3000" b="1" i="0">
                <a:solidFill>
                  <a:srgbClr val="2E6DA4"/>
                </a:solidFill>
                <a:latin typeface="Lato"/>
              </a:rPr>
              <a:t>De las tribus ancestrales a los cortesanos modernos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bufón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Raíz: </a:t>
            </a:r>
            <a:r>
              <a:rPr sz="2400" b="0">
                <a:solidFill>
                  <a:srgbClr val="1B2738"/>
                </a:solidFill>
                <a:latin typeface="Lato"/>
              </a:rPr>
              <a:t>Trickster, el embaucador o payaso sagrado.</a:t>
            </a:r>
          </a:p>
          <a:p>
            <a:pPr>
              <a:lnSpc>
                <a:spcPct val="102000"/>
              </a:lnSpc>
              <a:spcAft>
                <a:spcPts val="400"/>
              </a:spcAft>
            </a:pPr>
            <a:r>
              <a:rPr sz="2400" b="1">
                <a:solidFill>
                  <a:srgbClr val="1B2738"/>
                </a:solidFill>
                <a:latin typeface="Lato"/>
              </a:rPr>
              <a:t>Historia: </a:t>
            </a:r>
            <a:r>
              <a:rPr sz="2400" b="0">
                <a:solidFill>
                  <a:srgbClr val="1B2738"/>
                </a:solidFill>
                <a:latin typeface="Lato"/>
              </a:rPr>
              <a:t>Edad Media y Renacimiento europeo.</a:t>
            </a:r>
          </a:p>
          <a:p>
            <a:pPr>
              <a:lnSpc>
                <a:spcPct val="102000"/>
              </a:lnSpc>
              <a:spcAft>
                <a:spcPts val="400"/>
              </a:spcAft>
            </a:pPr>
            <a:r>
              <a:rPr sz="2400" b="1">
                <a:solidFill>
                  <a:srgbClr val="1B2738"/>
                </a:solidFill>
                <a:latin typeface="Lato"/>
              </a:rPr>
              <a:t>Función: </a:t>
            </a:r>
            <a:r>
              <a:rPr sz="2400" b="0">
                <a:solidFill>
                  <a:srgbClr val="1B2738"/>
                </a:solidFill>
                <a:latin typeface="Lato"/>
              </a:rPr>
              <a:t>decir la verdad al poder sin filtros.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EL ARQUETIPO</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Antropología; historia del teatro.</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Heyoka: payaso sagrado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Mandato: </a:t>
            </a:r>
            <a:r>
              <a:rPr sz="2200" b="0">
                <a:solidFill>
                  <a:srgbClr val="1B2738"/>
                </a:solidFill>
                <a:latin typeface="Lato"/>
              </a:rPr>
              <a:t>espiritual, no cínico.</a:t>
            </a:r>
          </a:p>
          <a:p>
            <a:pPr>
              <a:lnSpc>
                <a:spcPct val="102000"/>
              </a:lnSpc>
              <a:spcAft>
                <a:spcPts val="400"/>
              </a:spcAft>
            </a:pPr>
            <a:r>
              <a:rPr sz="2200" b="1">
                <a:solidFill>
                  <a:srgbClr val="1B2738"/>
                </a:solidFill>
                <a:latin typeface="Lato"/>
              </a:rPr>
              <a:t>Comportamiento: </a:t>
            </a:r>
            <a:r>
              <a:rPr sz="2200" b="0">
                <a:solidFill>
                  <a:srgbClr val="1B2738"/>
                </a:solidFill>
                <a:latin typeface="Lato"/>
              </a:rPr>
              <a:t>todo al revés, monta el caballo mirando atrás.</a:t>
            </a:r>
          </a:p>
          <a:p>
            <a:pPr>
              <a:lnSpc>
                <a:spcPct val="102000"/>
              </a:lnSpc>
              <a:spcAft>
                <a:spcPts val="400"/>
              </a:spcAft>
            </a:pPr>
            <a:r>
              <a:rPr sz="2200" b="1">
                <a:solidFill>
                  <a:srgbClr val="1B2738"/>
                </a:solidFill>
                <a:latin typeface="Lato"/>
              </a:rPr>
              <a:t>Propósito: </a:t>
            </a:r>
            <a:r>
              <a:rPr sz="2200" b="0">
                <a:solidFill>
                  <a:srgbClr val="1B2738"/>
                </a:solidFill>
                <a:latin typeface="Lato"/>
              </a:rPr>
              <a:t>romper la tensión y abrir la mente de la tribu.</a:t>
            </a:r>
          </a:p>
          <a:p>
            <a:pPr>
              <a:lnSpc>
                <a:spcPct val="102000"/>
              </a:lnSpc>
              <a:spcAft>
                <a:spcPts val="400"/>
              </a:spcAft>
            </a:pPr>
            <a:r>
              <a:rPr sz="2200" b="1">
                <a:solidFill>
                  <a:srgbClr val="1B2738"/>
                </a:solidFill>
                <a:latin typeface="Lato"/>
              </a:rPr>
              <a:t>Rol: </a:t>
            </a:r>
            <a:r>
              <a:rPr sz="2200" b="0">
                <a:solidFill>
                  <a:srgbClr val="1B2738"/>
                </a:solidFill>
                <a:latin typeface="Lato"/>
              </a:rPr>
              <a:t>mantener a raya el ego de los líderes.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TRIBUS ANCESTRALES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Cultura Lakota; antropología.</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Trickster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Figura: </a:t>
            </a:r>
            <a:r>
              <a:rPr sz="2400" b="0">
                <a:solidFill>
                  <a:srgbClr val="1B2738"/>
                </a:solidFill>
                <a:latin typeface="Lato"/>
              </a:rPr>
              <a:t>dios Coyote o Cuervo, no un humano.</a:t>
            </a:r>
          </a:p>
          <a:p>
            <a:pPr>
              <a:lnSpc>
                <a:spcPct val="102000"/>
              </a:lnSpc>
              <a:spcAft>
                <a:spcPts val="400"/>
              </a:spcAft>
            </a:pPr>
            <a:r>
              <a:rPr sz="2400" b="1">
                <a:solidFill>
                  <a:srgbClr val="1B2738"/>
                </a:solidFill>
                <a:latin typeface="Lato"/>
              </a:rPr>
              <a:t>Comportamiento: </a:t>
            </a:r>
            <a:r>
              <a:rPr sz="2400" b="0">
                <a:solidFill>
                  <a:srgbClr val="1B2738"/>
                </a:solidFill>
                <a:latin typeface="Lato"/>
              </a:rPr>
              <a:t>miente, roba, engaña, rompe tabúes.</a:t>
            </a:r>
          </a:p>
          <a:p>
            <a:pPr>
              <a:lnSpc>
                <a:spcPct val="102000"/>
              </a:lnSpc>
              <a:spcAft>
                <a:spcPts val="400"/>
              </a:spcAft>
            </a:pPr>
            <a:r>
              <a:rPr sz="2400" b="1">
                <a:solidFill>
                  <a:srgbClr val="1B2738"/>
                </a:solidFill>
                <a:latin typeface="Lato"/>
              </a:rPr>
              <a:t>Propósito: </a:t>
            </a:r>
            <a:r>
              <a:rPr sz="2400" b="0">
                <a:solidFill>
                  <a:srgbClr val="1B2738"/>
                </a:solidFill>
                <a:latin typeface="Lato"/>
              </a:rPr>
              <a:t>enseñar lecciones a la fuerza.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TRIBUS ANCESTRALES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Mitología indígena norteamericana.</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Clown vs bufón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Clown: </a:t>
            </a:r>
            <a:r>
              <a:rPr sz="2400" b="0">
                <a:solidFill>
                  <a:srgbClr val="1B2738"/>
                </a:solidFill>
                <a:latin typeface="Lato"/>
              </a:rPr>
              <a:t>el niño eterno, vulnerabilidad, fracaso, empatía.</a:t>
            </a:r>
          </a:p>
          <a:p>
            <a:pPr>
              <a:lnSpc>
                <a:spcPct val="102000"/>
              </a:lnSpc>
              <a:spcAft>
                <a:spcPts val="400"/>
              </a:spcAft>
            </a:pPr>
            <a:r>
              <a:rPr sz="2400" b="1">
                <a:solidFill>
                  <a:srgbClr val="1B2738"/>
                </a:solidFill>
                <a:latin typeface="Lato"/>
              </a:rPr>
              <a:t>Bufón: </a:t>
            </a:r>
            <a:r>
              <a:rPr sz="2400" b="0">
                <a:solidFill>
                  <a:srgbClr val="1B2738"/>
                </a:solidFill>
                <a:latin typeface="Lato"/>
              </a:rPr>
              <a:t>el cínico, sátira, parodia, crítica social.</a:t>
            </a:r>
          </a:p>
          <a:p>
            <a:pPr>
              <a:lnSpc>
                <a:spcPct val="102000"/>
              </a:lnSpc>
              <a:spcAft>
                <a:spcPts val="400"/>
              </a:spcAft>
            </a:pPr>
            <a:r>
              <a:rPr sz="2400" b="1">
                <a:solidFill>
                  <a:srgbClr val="1B2738"/>
                </a:solidFill>
                <a:latin typeface="Lato"/>
              </a:rPr>
              <a:t>El clown busca que lo quieras. </a:t>
            </a:r>
            <a:r>
              <a:rPr sz="2400" b="0">
                <a:solidFill>
                  <a:srgbClr val="1B2738"/>
                </a:solidFill>
                <a:latin typeface="Lato"/>
              </a:rPr>
              <a:t>El bufón busca incomodarte.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DIFERENCIA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Historia del teatro; arquetipos de Jung.</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5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Triboulet (s. XVI)</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El más icónico: </a:t>
            </a:r>
            <a:r>
              <a:rPr sz="2200" b="0">
                <a:solidFill>
                  <a:srgbClr val="1B2738"/>
                </a:solidFill>
                <a:latin typeface="Lato"/>
              </a:rPr>
              <a:t>inspiró Rigoletto de Verdi.</a:t>
            </a:r>
          </a:p>
          <a:p>
            <a:pPr>
              <a:lnSpc>
                <a:spcPct val="102000"/>
              </a:lnSpc>
              <a:spcAft>
                <a:spcPts val="400"/>
              </a:spcAft>
            </a:pPr>
            <a:r>
              <a:rPr sz="2200" b="1">
                <a:solidFill>
                  <a:srgbClr val="1B2738"/>
                </a:solidFill>
                <a:latin typeface="Lato"/>
              </a:rPr>
              <a:t>La hazaña: </a:t>
            </a:r>
            <a:r>
              <a:rPr sz="2200" b="0">
                <a:solidFill>
                  <a:srgbClr val="1B2738"/>
                </a:solidFill>
                <a:latin typeface="Lato"/>
              </a:rPr>
              <a:t>le dio una nalgada al rey en público.</a:t>
            </a:r>
          </a:p>
          <a:p>
            <a:pPr>
              <a:lnSpc>
                <a:spcPct val="102000"/>
              </a:lnSpc>
              <a:spcAft>
                <a:spcPts val="400"/>
              </a:spcAft>
            </a:pPr>
            <a:r>
              <a:rPr sz="2200" b="1">
                <a:solidFill>
                  <a:srgbClr val="1B2738"/>
                </a:solidFill>
                <a:latin typeface="Lato"/>
              </a:rPr>
              <a:t>La condena: </a:t>
            </a:r>
            <a:r>
              <a:rPr sz="2200" b="0">
                <a:solidFill>
                  <a:srgbClr val="1B2738"/>
                </a:solidFill>
                <a:latin typeface="Lato"/>
              </a:rPr>
              <a:t>muerte, pero eligió cómo morir.</a:t>
            </a:r>
          </a:p>
          <a:p>
            <a:pPr>
              <a:lnSpc>
                <a:spcPct val="102000"/>
              </a:lnSpc>
              <a:spcAft>
                <a:spcPts val="400"/>
              </a:spcAft>
            </a:pPr>
            <a:r>
              <a:rPr sz="2200" b="1">
                <a:solidFill>
                  <a:srgbClr val="1B2738"/>
                </a:solidFill>
                <a:latin typeface="Lato"/>
              </a:rPr>
              <a:t>La respuesta: </a:t>
            </a:r>
            <a:r>
              <a:rPr sz="2200" b="0">
                <a:solidFill>
                  <a:srgbClr val="1B2738"/>
                </a:solidFill>
                <a:latin typeface="Lato"/>
              </a:rPr>
              <a:t>elijo morir de viejo. El rey se rió y lo desterró.</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EDAD MEDIA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Historia de Francia; siglo XVI.</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6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Will Sommers (s. XVI)</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Único: </a:t>
            </a:r>
            <a:r>
              <a:rPr sz="2400" b="0">
                <a:solidFill>
                  <a:srgbClr val="1B2738"/>
                </a:solidFill>
                <a:latin typeface="Lato"/>
              </a:rPr>
              <a:t>podía decirle la verdad a Enrique VIII.</a:t>
            </a:r>
          </a:p>
          <a:p>
            <a:pPr>
              <a:lnSpc>
                <a:spcPct val="102000"/>
              </a:lnSpc>
              <a:spcAft>
                <a:spcPts val="400"/>
              </a:spcAft>
            </a:pPr>
            <a:r>
              <a:rPr sz="2400" b="1">
                <a:solidFill>
                  <a:srgbClr val="1B2738"/>
                </a:solidFill>
                <a:latin typeface="Lato"/>
              </a:rPr>
              <a:t>Protección: </a:t>
            </a:r>
            <a:r>
              <a:rPr sz="2400" b="0">
                <a:solidFill>
                  <a:srgbClr val="1B2738"/>
                </a:solidFill>
                <a:latin typeface="Lato"/>
              </a:rPr>
              <a:t>de cortesanos ante la furia del rey.</a:t>
            </a:r>
          </a:p>
          <a:p>
            <a:pPr>
              <a:lnSpc>
                <a:spcPct val="102000"/>
              </a:lnSpc>
              <a:spcAft>
                <a:spcPts val="400"/>
              </a:spcAft>
            </a:pPr>
            <a:r>
              <a:rPr sz="2400" b="1">
                <a:solidFill>
                  <a:srgbClr val="1B2738"/>
                </a:solidFill>
                <a:latin typeface="Lato"/>
              </a:rPr>
              <a:t>Final: </a:t>
            </a:r>
            <a:r>
              <a:rPr sz="2400" b="0">
                <a:solidFill>
                  <a:srgbClr val="1B2738"/>
                </a:solidFill>
                <a:latin typeface="Lato"/>
              </a:rPr>
              <a:t>sobrevivió al rey, se retiró con pensión, murió de viejo.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EDAD MEDIA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Historia de Inglaterra; siglo XVI.</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7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Stańczyk (s. XVI)</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Filósofo: </a:t>
            </a:r>
            <a:r>
              <a:rPr sz="2400" b="0">
                <a:solidFill>
                  <a:srgbClr val="1B2738"/>
                </a:solidFill>
                <a:latin typeface="Lato"/>
              </a:rPr>
              <a:t>deprimido mientras la corte festejaba.</a:t>
            </a:r>
          </a:p>
          <a:p>
            <a:pPr>
              <a:lnSpc>
                <a:spcPct val="102000"/>
              </a:lnSpc>
              <a:spcAft>
                <a:spcPts val="400"/>
              </a:spcAft>
            </a:pPr>
            <a:r>
              <a:rPr sz="2400" b="1">
                <a:solidFill>
                  <a:srgbClr val="1B2738"/>
                </a:solidFill>
                <a:latin typeface="Lato"/>
              </a:rPr>
              <a:t>Advertencia: </a:t>
            </a:r>
            <a:r>
              <a:rPr sz="2400" b="0">
                <a:solidFill>
                  <a:srgbClr val="1B2738"/>
                </a:solidFill>
                <a:latin typeface="Lato"/>
              </a:rPr>
              <a:t>sobre alianzas militares desastrosas.</a:t>
            </a:r>
          </a:p>
          <a:p>
            <a:pPr>
              <a:lnSpc>
                <a:spcPct val="102000"/>
              </a:lnSpc>
              <a:spcAft>
                <a:spcPts val="400"/>
              </a:spcAft>
            </a:pPr>
            <a:r>
              <a:rPr sz="2400" b="1">
                <a:solidFill>
                  <a:srgbClr val="1B2738"/>
                </a:solidFill>
                <a:latin typeface="Lato"/>
              </a:rPr>
              <a:t>Legado: </a:t>
            </a:r>
            <a:r>
              <a:rPr sz="2400" b="0">
                <a:solidFill>
                  <a:srgbClr val="1B2738"/>
                </a:solidFill>
                <a:latin typeface="Lato"/>
              </a:rPr>
              <a:t>símbolo de patriotismo e inteligencia política en Polonia.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EDAD MEDIA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Historia de Polonia; siglo XVI.</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8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Armstrong</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Cargo: </a:t>
            </a:r>
            <a:r>
              <a:rPr sz="2400" b="0">
                <a:solidFill>
                  <a:srgbClr val="1B2738"/>
                </a:solidFill>
                <a:latin typeface="Lato"/>
              </a:rPr>
              <a:t>bufón de Jacobo I y Carlos I de Inglaterra.</a:t>
            </a:r>
          </a:p>
          <a:p>
            <a:pPr>
              <a:lnSpc>
                <a:spcPct val="102000"/>
              </a:lnSpc>
              <a:spcAft>
                <a:spcPts val="400"/>
              </a:spcAft>
            </a:pPr>
            <a:r>
              <a:rPr sz="2400" b="1">
                <a:solidFill>
                  <a:srgbClr val="1B2738"/>
                </a:solidFill>
                <a:latin typeface="Lato"/>
              </a:rPr>
              <a:t>Error: </a:t>
            </a:r>
            <a:r>
              <a:rPr sz="2400" b="0">
                <a:solidFill>
                  <a:srgbClr val="1B2738"/>
                </a:solidFill>
                <a:latin typeface="Lato"/>
              </a:rPr>
              <a:t>volverse rico, arrogante, insultar al Arzobispo.</a:t>
            </a:r>
          </a:p>
          <a:p>
            <a:pPr>
              <a:lnSpc>
                <a:spcPct val="102000"/>
              </a:lnSpc>
              <a:spcAft>
                <a:spcPts val="400"/>
              </a:spcAft>
            </a:pPr>
            <a:r>
              <a:rPr sz="2400" b="1">
                <a:solidFill>
                  <a:srgbClr val="1B2738"/>
                </a:solidFill>
                <a:latin typeface="Lato"/>
              </a:rPr>
              <a:t>Final: </a:t>
            </a:r>
            <a:r>
              <a:rPr sz="2400" b="0">
                <a:solidFill>
                  <a:srgbClr val="1B2738"/>
                </a:solidFill>
                <a:latin typeface="Lato"/>
              </a:rPr>
              <a:t>desterrado, viviendo en la desgracia.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EDAD MEDIA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Historia de Inglaterra; siglo XVII.</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9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Desbocatti</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Marginalidad: </a:t>
            </a:r>
            <a:r>
              <a:rPr sz="2400" b="0">
                <a:solidFill>
                  <a:srgbClr val="1B2738"/>
                </a:solidFill>
                <a:latin typeface="Lato"/>
              </a:rPr>
              <a:t>sin rostro visual, opina desde fuera del establishment.</a:t>
            </a:r>
          </a:p>
          <a:p>
            <a:pPr>
              <a:lnSpc>
                <a:spcPct val="102000"/>
              </a:lnSpc>
              <a:spcAft>
                <a:spcPts val="400"/>
              </a:spcAft>
            </a:pPr>
            <a:r>
              <a:rPr sz="2400" b="1">
                <a:solidFill>
                  <a:srgbClr val="1B2738"/>
                </a:solidFill>
                <a:latin typeface="Lato"/>
              </a:rPr>
              <a:t>Inmunidad: </a:t>
            </a:r>
            <a:r>
              <a:rPr sz="2400" b="0">
                <a:solidFill>
                  <a:srgbClr val="1B2738"/>
                </a:solidFill>
                <a:latin typeface="Lato"/>
              </a:rPr>
              <a:t>el bufón moderno que dice la verdad.</a:t>
            </a:r>
          </a:p>
          <a:p>
            <a:pPr>
              <a:lnSpc>
                <a:spcPct val="102000"/>
              </a:lnSpc>
              <a:spcAft>
                <a:spcPts val="400"/>
              </a:spcAft>
            </a:pPr>
            <a:r>
              <a:rPr sz="2400" b="1">
                <a:solidFill>
                  <a:srgbClr val="1B2738"/>
                </a:solidFill>
                <a:latin typeface="Lato"/>
              </a:rPr>
              <a:t>Humor: </a:t>
            </a:r>
            <a:r>
              <a:rPr sz="2400" b="0">
                <a:solidFill>
                  <a:srgbClr val="1B2738"/>
                </a:solidFill>
                <a:latin typeface="Lato"/>
              </a:rPr>
              <a:t>ácido, sarcástico, la rima del bufón medieval.</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URUGUAY</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Radio uruguaya; cultura rioplatense.</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10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Bufones actuales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Ricky Gervais: </a:t>
            </a:r>
            <a:r>
              <a:rPr sz="2400" b="0">
                <a:solidFill>
                  <a:srgbClr val="1B2738"/>
                </a:solidFill>
                <a:latin typeface="Lato"/>
              </a:rPr>
              <a:t>monólogos contra la hipocresía de Hollywood.</a:t>
            </a:r>
          </a:p>
          <a:p>
            <a:pPr>
              <a:lnSpc>
                <a:spcPct val="102000"/>
              </a:lnSpc>
              <a:spcAft>
                <a:spcPts val="400"/>
              </a:spcAft>
            </a:pPr>
            <a:r>
              <a:rPr sz="2400" b="1">
                <a:solidFill>
                  <a:srgbClr val="1B2738"/>
                </a:solidFill>
                <a:latin typeface="Lato"/>
              </a:rPr>
              <a:t>Jon Stewart y John Oliver: </a:t>
            </a:r>
            <a:r>
              <a:rPr sz="2400" b="0">
                <a:solidFill>
                  <a:srgbClr val="1B2738"/>
                </a:solidFill>
                <a:latin typeface="Lato"/>
              </a:rPr>
              <a:t>bufones periodísticos contra la corrupción.</a:t>
            </a:r>
          </a:p>
          <a:p>
            <a:pPr>
              <a:lnSpc>
                <a:spcPct val="102000"/>
              </a:lnSpc>
              <a:spcAft>
                <a:spcPts val="400"/>
              </a:spcAft>
            </a:pPr>
            <a:r>
              <a:rPr sz="2400" b="1">
                <a:solidFill>
                  <a:srgbClr val="1B2738"/>
                </a:solidFill>
                <a:latin typeface="Lato"/>
              </a:rPr>
              <a:t>Peter Capusotto: </a:t>
            </a:r>
            <a:r>
              <a:rPr sz="2400" b="0">
                <a:solidFill>
                  <a:srgbClr val="1B2738"/>
                </a:solidFill>
                <a:latin typeface="Lato"/>
              </a:rPr>
              <a:t>parodias grotescas de la cultura rioplatense.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ACTUALIDAD</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Televisión; comedia satírica.</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11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Edad Media</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Inicio: </a:t>
            </a:r>
            <a:r>
              <a:rPr sz="2400" b="0">
                <a:solidFill>
                  <a:srgbClr val="1B2738"/>
                </a:solidFill>
                <a:latin typeface="Lato"/>
              </a:rPr>
              <a:t>caída del Imperio Romano de Occidente (476).</a:t>
            </a:r>
          </a:p>
          <a:p>
            <a:pPr>
              <a:lnSpc>
                <a:spcPct val="102000"/>
              </a:lnSpc>
              <a:spcAft>
                <a:spcPts val="400"/>
              </a:spcAft>
            </a:pPr>
            <a:r>
              <a:rPr sz="2400" b="1">
                <a:solidFill>
                  <a:srgbClr val="1B2738"/>
                </a:solidFill>
                <a:latin typeface="Lato"/>
              </a:rPr>
              <a:t>Fin: </a:t>
            </a:r>
            <a:r>
              <a:rPr sz="2400" b="0">
                <a:solidFill>
                  <a:srgbClr val="1B2738"/>
                </a:solidFill>
                <a:latin typeface="Lato"/>
              </a:rPr>
              <a:t>llegada a América (1492) o caída de Constantinopla (1453).</a:t>
            </a:r>
          </a:p>
          <a:p>
            <a:pPr>
              <a:lnSpc>
                <a:spcPct val="102000"/>
              </a:lnSpc>
              <a:spcAft>
                <a:spcPts val="400"/>
              </a:spcAft>
            </a:pPr>
            <a:r>
              <a:rPr sz="2400" b="1">
                <a:solidFill>
                  <a:srgbClr val="1B2738"/>
                </a:solidFill>
                <a:latin typeface="Lato"/>
              </a:rPr>
              <a:t>Edad de oro del bufón: </a:t>
            </a:r>
            <a:r>
              <a:rPr sz="2400" b="0">
                <a:solidFill>
                  <a:srgbClr val="1B2738"/>
                </a:solidFill>
                <a:latin typeface="Lato"/>
              </a:rPr>
              <a:t>siglos XIII al XVII.</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HISTORIA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Historia universal.</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12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cornisa</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El trabajo: </a:t>
            </a:r>
            <a:r>
              <a:rPr sz="2200" b="0">
                <a:solidFill>
                  <a:srgbClr val="1B2738"/>
                </a:solidFill>
                <a:latin typeface="Lato"/>
              </a:rPr>
              <a:t>insultar al hombre que podía ejecutarte.</a:t>
            </a:r>
          </a:p>
          <a:p>
            <a:pPr>
              <a:lnSpc>
                <a:spcPct val="102000"/>
              </a:lnSpc>
              <a:spcAft>
                <a:spcPts val="400"/>
              </a:spcAft>
            </a:pPr>
            <a:r>
              <a:rPr sz="2200" b="1">
                <a:solidFill>
                  <a:srgbClr val="1B2738"/>
                </a:solidFill>
                <a:latin typeface="Lato"/>
              </a:rPr>
              <a:t>La armadura: </a:t>
            </a:r>
            <a:r>
              <a:rPr sz="2200" b="0">
                <a:solidFill>
                  <a:srgbClr val="1B2738"/>
                </a:solidFill>
                <a:latin typeface="Lato"/>
              </a:rPr>
              <a:t>la gracia con que lo hacías.</a:t>
            </a:r>
          </a:p>
          <a:p>
            <a:pPr>
              <a:lnSpc>
                <a:spcPct val="102000"/>
              </a:lnSpc>
              <a:spcAft>
                <a:spcPts val="400"/>
              </a:spcAft>
            </a:pPr>
            <a:r>
              <a:rPr sz="2200" b="1">
                <a:solidFill>
                  <a:srgbClr val="1B2738"/>
                </a:solidFill>
                <a:latin typeface="Lato"/>
              </a:rPr>
              <a:t>Triboulet: </a:t>
            </a:r>
            <a:r>
              <a:rPr sz="2200" b="0">
                <a:solidFill>
                  <a:srgbClr val="1B2738"/>
                </a:solidFill>
                <a:latin typeface="Lato"/>
              </a:rPr>
              <a:t>mantuvo la gracia, murió de viejo.</a:t>
            </a:r>
          </a:p>
          <a:p>
            <a:pPr>
              <a:lnSpc>
                <a:spcPct val="102000"/>
              </a:lnSpc>
              <a:spcAft>
                <a:spcPts val="400"/>
              </a:spcAft>
            </a:pPr>
            <a:r>
              <a:rPr sz="2200" b="1">
                <a:solidFill>
                  <a:srgbClr val="1B2738"/>
                </a:solidFill>
                <a:latin typeface="Lato"/>
              </a:rPr>
              <a:t>Armstrong: </a:t>
            </a:r>
            <a:r>
              <a:rPr sz="2200" b="0">
                <a:solidFill>
                  <a:srgbClr val="1B2738"/>
                </a:solidFill>
                <a:latin typeface="Lato"/>
              </a:rPr>
              <a:t>perdió la gracia, terminó desterrado.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LA LECCIÓN</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Historia; paralelismo con seguridad.</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13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Pentester: bufón moderno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Entra al sistema, </a:t>
            </a:r>
            <a:r>
              <a:rPr sz="2200" b="0">
                <a:solidFill>
                  <a:srgbClr val="1B2738"/>
                </a:solidFill>
                <a:latin typeface="Lato"/>
              </a:rPr>
              <a:t>encuentra lo que nadie quiere ver.</a:t>
            </a:r>
          </a:p>
          <a:p>
            <a:pPr>
              <a:lnSpc>
                <a:spcPct val="102000"/>
              </a:lnSpc>
              <a:spcAft>
                <a:spcPts val="400"/>
              </a:spcAft>
            </a:pPr>
            <a:r>
              <a:rPr sz="2200" b="1">
                <a:solidFill>
                  <a:srgbClr val="1B2738"/>
                </a:solidFill>
                <a:latin typeface="Lato"/>
              </a:rPr>
              <a:t>Lo dice en la cara, </a:t>
            </a:r>
            <a:r>
              <a:rPr sz="2200" b="0">
                <a:solidFill>
                  <a:srgbClr val="1B2738"/>
                </a:solidFill>
                <a:latin typeface="Lato"/>
              </a:rPr>
              <a:t>sin filtros.</a:t>
            </a:r>
          </a:p>
          <a:p>
            <a:pPr>
              <a:lnSpc>
                <a:spcPct val="102000"/>
              </a:lnSpc>
              <a:spcAft>
                <a:spcPts val="400"/>
              </a:spcAft>
            </a:pPr>
            <a:r>
              <a:rPr sz="2200" b="1">
                <a:solidFill>
                  <a:srgbClr val="1B2738"/>
                </a:solidFill>
                <a:latin typeface="Lato"/>
              </a:rPr>
              <a:t>Su inmunidad: </a:t>
            </a:r>
            <a:r>
              <a:rPr sz="2200" b="0">
                <a:solidFill>
                  <a:srgbClr val="1B2738"/>
                </a:solidFill>
                <a:latin typeface="Lato"/>
              </a:rPr>
              <a:t>la autorización por escrito.</a:t>
            </a:r>
          </a:p>
          <a:p>
            <a:pPr>
              <a:lnSpc>
                <a:spcPct val="102000"/>
              </a:lnSpc>
              <a:spcAft>
                <a:spcPts val="400"/>
              </a:spcAft>
            </a:pPr>
            <a:r>
              <a:rPr sz="2200" b="1">
                <a:solidFill>
                  <a:srgbClr val="1B2738"/>
                </a:solidFill>
                <a:latin typeface="Lato"/>
              </a:rPr>
              <a:t>Sin autorización, </a:t>
            </a:r>
            <a:r>
              <a:rPr sz="2200" b="0">
                <a:solidFill>
                  <a:srgbClr val="1B2738"/>
                </a:solidFill>
                <a:latin typeface="Lato"/>
              </a:rPr>
              <a:t>no es un bufón: es un criminal.</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PARALELO</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pentesting ético.</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14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Paralelo con seguridad</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El bufón: </a:t>
            </a:r>
            <a:r>
              <a:rPr sz="2400" b="0">
                <a:solidFill>
                  <a:srgbClr val="1B2738"/>
                </a:solidFill>
                <a:latin typeface="Lato"/>
              </a:rPr>
              <a:t>decía al rey que sus defensas eran débiles.</a:t>
            </a:r>
          </a:p>
          <a:p>
            <a:pPr>
              <a:lnSpc>
                <a:spcPct val="102000"/>
              </a:lnSpc>
              <a:spcAft>
                <a:spcPts val="400"/>
              </a:spcAft>
            </a:pPr>
            <a:r>
              <a:rPr sz="2400" b="1">
                <a:solidFill>
                  <a:srgbClr val="1B2738"/>
                </a:solidFill>
                <a:latin typeface="Lato"/>
              </a:rPr>
              <a:t>El pentester: </a:t>
            </a:r>
            <a:r>
              <a:rPr sz="2400" b="0">
                <a:solidFill>
                  <a:srgbClr val="1B2738"/>
                </a:solidFill>
                <a:latin typeface="Lato"/>
              </a:rPr>
              <a:t>dice al CISO que sus APIs son inyectables.</a:t>
            </a:r>
          </a:p>
          <a:p>
            <a:pPr>
              <a:lnSpc>
                <a:spcPct val="102000"/>
              </a:lnSpc>
              <a:spcAft>
                <a:spcPts val="400"/>
              </a:spcAft>
            </a:pPr>
            <a:r>
              <a:rPr sz="2400" b="1">
                <a:solidFill>
                  <a:srgbClr val="1B2738"/>
                </a:solidFill>
                <a:latin typeface="Lato"/>
              </a:rPr>
              <a:t>La gracia del bufón: </a:t>
            </a:r>
            <a:r>
              <a:rPr sz="2400" b="0">
                <a:solidFill>
                  <a:srgbClr val="1B2738"/>
                </a:solidFill>
                <a:latin typeface="Lato"/>
              </a:rPr>
              <a:t>la autorización escrita.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PARALELO</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historia del teatro.</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15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lección del bufón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 verdad incómoda dicha a tiempo </a:t>
            </a:r>
            <a:r>
              <a:rPr sz="2400" b="0">
                <a:solidFill>
                  <a:srgbClr val="1B2738"/>
                </a:solidFill>
                <a:latin typeface="Lato"/>
              </a:rPr>
              <a:t>vale más que la adulación silenciosa.</a:t>
            </a:r>
          </a:p>
          <a:p>
            <a:pPr>
              <a:lnSpc>
                <a:spcPct val="102000"/>
              </a:lnSpc>
              <a:spcAft>
                <a:spcPts val="400"/>
              </a:spcAft>
            </a:pPr>
            <a:r>
              <a:rPr sz="2400" b="1">
                <a:solidFill>
                  <a:srgbClr val="1B2738"/>
                </a:solidFill>
                <a:latin typeface="Lato"/>
              </a:rPr>
              <a:t>El bufón es incómodo </a:t>
            </a:r>
            <a:r>
              <a:rPr sz="2400" b="0">
                <a:solidFill>
                  <a:srgbClr val="1B2738"/>
                </a:solidFill>
                <a:latin typeface="Lato"/>
              </a:rPr>
              <a:t>hasta que se agradece.</a:t>
            </a:r>
          </a:p>
          <a:p>
            <a:pPr>
              <a:lnSpc>
                <a:spcPct val="102000"/>
              </a:lnSpc>
              <a:spcAft>
                <a:spcPts val="400"/>
              </a:spcAft>
            </a:pPr>
            <a:r>
              <a:rPr sz="2400" b="1">
                <a:solidFill>
                  <a:srgbClr val="1B2738"/>
                </a:solidFill>
                <a:latin typeface="Lato"/>
              </a:rPr>
              <a:t>En seguridad, como en la corte, </a:t>
            </a:r>
            <a:r>
              <a:rPr sz="2400" b="0">
                <a:solidFill>
                  <a:srgbClr val="1B2738"/>
                </a:solidFill>
                <a:latin typeface="Lato"/>
              </a:rPr>
              <a:t>el que dice la verdad es el que salva al rey.</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Paralelismo histórico.</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16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Línea de tiempo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01_timeline.png"/>
          <p:cNvPicPr>
            <a:picLocks noChangeAspect="1"/>
          </p:cNvPicPr>
          <p:nvPr/>
        </p:nvPicPr>
        <p:blipFill>
          <a:blip r:embed="rId2"/>
          <a:stretch>
            <a:fillRect/>
          </a:stretch>
        </p:blipFill>
        <p:spPr>
          <a:xfrm>
            <a:off x="2911732" y="1524000"/>
            <a:ext cx="35705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Antropología; historia del teatro.</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17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Bufón y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06_person_vs_system.png"/>
          <p:cNvPicPr>
            <a:picLocks noChangeAspect="1"/>
          </p:cNvPicPr>
          <p:nvPr/>
        </p:nvPicPr>
        <p:blipFill>
          <a:blip r:embed="rId2"/>
          <a:stretch>
            <a:fillRect/>
          </a:stretch>
        </p:blipFill>
        <p:spPr>
          <a:xfrm>
            <a:off x="979484" y="1524000"/>
            <a:ext cx="7435032"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historia.</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18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Ecosistema del bufón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13_circles.png"/>
          <p:cNvPicPr>
            <a:picLocks noChangeAspect="1"/>
          </p:cNvPicPr>
          <p:nvPr/>
        </p:nvPicPr>
        <p:blipFill>
          <a:blip r:embed="rId2"/>
          <a:stretch>
            <a:fillRect/>
          </a:stretch>
        </p:blipFill>
        <p:spPr>
          <a:xfrm>
            <a:off x="2601133" y="1524000"/>
            <a:ext cx="4191733"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historia del teatro.</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19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Bufón al sender-constrained</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07_sender_constrained.png"/>
          <p:cNvPicPr>
            <a:picLocks noChangeAspect="1"/>
          </p:cNvPicPr>
          <p:nvPr/>
        </p:nvPicPr>
        <p:blipFill>
          <a:blip r:embed="rId2"/>
          <a:stretch>
            <a:fillRect/>
          </a:stretch>
        </p:blipFill>
        <p:spPr>
          <a:xfrm>
            <a:off x="571550" y="1583231"/>
            <a:ext cx="8250900" cy="4048837"/>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RFC 9449.</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20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Arquitectura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12_reference_arch.png"/>
          <p:cNvPicPr>
            <a:picLocks noChangeAspect="1"/>
          </p:cNvPicPr>
          <p:nvPr/>
        </p:nvPicPr>
        <p:blipFill>
          <a:blip r:embed="rId2"/>
          <a:stretch>
            <a:fillRect/>
          </a:stretch>
        </p:blipFill>
        <p:spPr>
          <a:xfrm>
            <a:off x="979484" y="1524000"/>
            <a:ext cx="7435032"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NIST SP 800-207.</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OWASP visto por el bufón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owasp.png"/>
          <p:cNvPicPr>
            <a:picLocks noChangeAspect="1"/>
          </p:cNvPicPr>
          <p:nvPr/>
        </p:nvPicPr>
        <p:blipFill>
          <a:blip r:embed="rId2"/>
          <a:stretch>
            <a:fillRect/>
          </a:stretch>
        </p:blipFill>
        <p:spPr>
          <a:xfrm>
            <a:off x="997720" y="1524000"/>
            <a:ext cx="7398560"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22 / 25</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WASP Uruguay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2026-05-21T00:46:05Z</dcterms:created>
  <dc:creator>Sebastián Passaro (duraznito)</dc:creator>
</cp:coreProperties>
</file>